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Portada. Completa lugar y fecha. Déjala en pantalla mientras la gente se sienta.</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Abre con un registro real de autoresearch de Karpathy, corrido la noche anterior. Pregunta: ¿quién corrió más experimentos anoche, ustedes o este script? Aquí se fija el código de color: ámbar es lo que el juez conservó, gris lo que descartó; vuelve en la Parte 4. El video actual usa datos ilustrativos y textos en inglés: re-renderízalo con tu results.tsv y las etiquetas en español antes de la charla (ver FIGURE_PROMPTS.md, S01).</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Diapositiva de la tesis. Todas las partes de la charla son el mismo ciclo: algo propone, algo juzga, algo actualiza. Lee la columna del juez de arriba abajo: pasa de los datos a los humanos, a los verificadores, a las herramientas, a tus reglas y, al final, a tu métrica. Por eso el trabajo del investigador pasa de producir a juzgar. Cada diapositiva de ciclo lleva una etiqueta "Juez" arriba a la derecha.</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encuadre de Karpathy: un modelo es dos archivos, los pesos y un programa corto que los ejecuta. Su único trabajo es predecir el siguiente token. Los tokens son fragmentos, no palabras: un término raro de tu campo se parte en varios pedazos. Muestra las probabilidades reales de un modelo pequeño para una frase de biomecánica. Idea clave: no es una base de datos; si no le das la fuente, genera lo que un paper "probablemente diría".</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 K y V tienen tres colores fijos que no se usan en ninguna otra parte. Idea clave: la ventana de contexto es la memoria de trabajo del modelo; lo que pones en el prompt (papers, datos, código) importa tanto como el modelo. Es el único momento técnico profundo de la charla: tómate el tiempo.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Aprendizaje por refuerzo con recompensas verificables (matemáticas, tests que pasan) produjo los modelos de razonamiento con cadenas de pensamiento largas. Pensar más en inferencia también compra precisión: muestrear varias respuestas y votar ayuda si el modelo ya es bueno, y empeora si es malo. ¿Y si la respuesta no se puede verificar, como un reporte de literatura? DR Tulu (Shao, Asai et al., ICML 2026) usa rúbricas que evolucionan durante el entrenamiento como recompensa, y entrena mejor que con rúbricas fijas: el juez ya no solo evalúa, también entrena (vía Asai, CMU 11-768). Idea clave: los modelos son más fuertes donde la respuesta se puede verificar; haz que tus problemas sean verificables.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Parches como en ViT; audio y video se codifican en fragmentos y se proyectan al mismo espacio de tokens. Mini-demo en vivo (opcional, con respaldo grabado): pega una figura de uno de tus papers y pide al modelo que critique la gráfica. Idea clave: tus imágenes, videos y datos de sensores ya son entradas que un modelo general puede analizar, pero siguen necesitando una verdad de referencia.</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patrón ReAct: un modelo de lenguaje en un ciclo con herramientas. Lo que cambia frente al chat es que el resultado de cada herramienta vuelve al modelo como retroalimentación: el error de un script, el contenido de un archivo, una búsqueda. Ese es el juez de esta parte.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mismo modelo da resultados muy distintos según lo que lo rodea. "Harness" es todo eso: instrucciones permanentes, el contexto que le das, las herramientas, los skills, los permisos y los checks. Ejemplo extremo: el equipo de OpenAI que escribió cerca de un millón de líneas en cinco meses sin escribir ninguna a mano; su trabajo fue diseñar el entorno y los ciclos de retroalimentación, con un AGENTS.md de unas 100 líneas como mapa. Böckeler lo resume como "guías y sensores". El término es de 2026 y todavía no tiene definición formal.</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 la versión en miniatura de todo lo que sigue, y la única que pueden correr esta noche. El agente edita un solo archivo, train.py, entrena 5 minutos y conserva el cambio solo si mejora la validación. El humano escribe program.md en lugar de Python. El tiempo fijo hace comparables las corridas. Ojo: es un repositorio, no un paper; los trabajos que siguen son la evidencia publicada.</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Sistema multiagente sobre Gemini 2.0: agentes de generación, reflexión, ranking por torneo Elo (todas empiezan en 1,200), proximidad, evolución y meta-revisión. Validado en tres áreas. En leucemia mieloide aguda, KIRA6 tuvo una IC50 de 10 nM en células KG-1a frente a 180 nM en células control: una ventana de 18 veces. En fibrosis hepática, dos de los tres fármacos propuestos mostraron actividad antifibrótica en organoides humanos. En resistencia antimicrobiana, propuso en unos dos días una hipótesis que coincidía con un estudio aún no publicado. Límites que los autores reconocen: validación preliminar en líneas celulares, no in vivo; el Elo es un proxy, no la verdad.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dos sistemas de Google comparten la misma idea: un LLM propone cambios de código y un puntaje automático decide qué se queda. ERA (Nature, 2026) usa búsqueda en árbol tipo AlphaZero sobre "tareas puntuables". En integración de datos single-cell, 40 de los 87 métodos que generó superan todo el leaderboard publicado; en pronóstico de hospitalizaciones por COVID logró un WIS de 26 frente a 29 del ensamble de CDC. Sus autores aclaran que optimiza software empírico y no reemplaza el razonamiento teórico. AlphaEvolve (preprint, 2025) evoluciona programas contra evaluadores: multiplicó matrices complejas 4×4 con 48 multiplicaciones escalares, y en teoría de la complejidad aceleró 10,000 veces un paso de verificación. Ambos solo funcionan donde hay un evaluador automático.</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Junta en una diapositiva lo que antes eran tres. La mayor parte del conocimiento viene del preentrenamiento; el ajuste fino y el RLHF cambian el comportamiento. Leyes de escala, en una frase: la pérdida baja de forma predecible al crecer modelo, datos y cómputo, y por eso los laboratorios apuestan por escala. DPO hace lo mismo que RLHF sin un modelo de recompensa aparte. Idea clave: el conocimiento tiene fecha de corte y huecos en temas de nicho; dale tus propios documentos.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Gancho de la Parte 2: "La mayoría de ustedes está en el ciclo del chat. La frontera está en este otro ciclo." Por disciplina: 39% de los economistas y 25% de los politólogos usan agentes, frente a cifras de un dígito en salud pública, educación y comunicación. Por etapa: algo más de un cuarto de doctorandos y posdocs. Sé honesto con la muestra: se reclutó ofreciendo cuentas de Claude Max, así que sobrerrepresenta a interesados en IA, y Anthropic es parte interesada.</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funciona por dentro el deep research de Claude. Patrón orquestador-trabajadores: un agente líder analiza la pregunta, guarda su plan en memoria y lanza subagentes que buscan en paralelo, cada uno con su propia ventana de contexto. El líder sintetiza y decide si hace falta más búsqueda: ese "¿basta?" es el juez en tiempo de ejecución. Al final, un agente de citas asocia cada afirmación con su fuente. Números (evaluación interna de Anthropic, junio 2025): un líder Opus 4 con subagentes Sonnet 4 superó a un solo Opus 4 en 90.2%; en BrowseComp, el uso de tokens explica el 80% de la varianza del desempeño; un agente gasta ~4 veces los tokens de un chat y un sistema multiagente ~15 veces; la paralelización reduce hasta 90% el tiempo en preguntas complejas. Ojo: es una evaluación interna del propio fabricante, y los autores dicen que este patrón sirve poco para tareas con mucha dependencia entre agentes, como la mayoría del código. El survey de Shi et al. (2025) da el mapa general: planificación, adquisición de información, memoria y generación. Si te sobra tiempo, muestra un reporte real tuyo y su tiempo; idea clave: abre y revisa cada cita.</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skill es una carpeta con un SKILL.md. Su encabezado tiene dos campos obligatorios: name y description. La descripción es lo más importante: decide cuándo el agente lo activa. Gracias a la carga progresiva puedes tener decenas de skills instalados sin llenar la ventana de contexto. Desde diciembre de 2025 es un estándar abierto, así que no depende de una sola herramienta. Ejemplo propuesto: revisar-figura, un skill para revisar figuras científicas antes de enviarlas.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en vivo (con respaldo grabado): pídele al agente que cree el skill revisar-figura a partir de estos cinco pasos, luego dale una figura real y muestra que el skill se activa solo, por su descripción. Puntos clave de Anthropic: empieza por ver dónde falla el agente; cuida la descripción, porque decide cuándo se activa; divide un SKILL.md largo en archivos; e itera con el propio agente, pidiéndole que guarde lo que funcionó y los errores comunes. Un skill es texto plano: lo puedes leer, editar y versionar en git como cualquier código.</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tres ejemplos son reales y públicos. El de Bäckman es el mejor punto de partida para cualquier investigador: corre varios revisores en paralelo sobre tu borrador y guarda el reporte en una carpeta reviews/. Sus propias instrucciones advierten que el reporte "no es todo correcto": el agente produce, tú juzgas. La advertencia de seguridad viene de Anthropic: un skill de una fuente poco confiable puede inducir acciones no deseadas o exfiltrar datos, así que se audita antes de instalarlo, igual que una dependencia de código.</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diapositiva conecta la Parte 3 con la tesis. Las cuatro prácticas vienen de los textos de OpenAI y Google: un archivo de instrucciones corto que funciona como mapa; restricciones que se verifican mecánicamente; evaluaciones de comportamiento, que Google describe como tests de integración del harness; y una revisión independiente. Todas son formas de escribir tu criterio de "mejor" para que el agente lo respete sin ti. Ejemplo concreto, el sistema multiagente de la diapositiva 10: Anthropic lo evaluó con un LLM como juez y una rúbrica de cinco criterios (exactitud factual, exactitud de citas, completitud, calidad de fuentes y eficiencia en el uso de herramientas); empezó con unas 20 preguntas, sin esperar una batería grande; y aun así los evaluadores humanos encontraron lo que la rúbrica no veía: los primeros agentes preferían granjas de contenido optimizadas para SEO sobre fuentes autorizadas. El juez automático escala; el juez humano detecta lo que nadie pensó medir. Puente a la Parte 4: en autoresearch, Karpathy no escribe Python; escribe program.md, y la métrica decide.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Tres sistemas que van de la idea al paper, y un número de cada uno. The AI Scientist (Sakana, Nature 2026): un paper sin edición obtuvo 6, 7 y 6 en un workshop de ICLR 2025, por encima del 55% de los papers humanos; los autores lo retiraron antes de publicarse, y reconocen citas inexactas e ideas ingenuas. Kosmos (Edison): corridas de hasta 12 horas que leen ~1,500 papers y ejecutan ~42,000 líneas de código; científicos independientes juzgaron correctas el 79.4% de sus afirmaciones. Project APE (Zurich): ~1,000 papers de evaluación de políticas en cuatro meses; un juez automático prefiere el paper humano el 88.1% de las veces y su verificador estima que todos tienen errores. Si preguntan por síntesis de literatura en general: OpenScholar (Asai et al., Nature 2026) responde preguntas científicas buscando en la literatura y citando sus fuentes; en una evaluación con 108 pares, los expertos prefirieron sus respuestas sobre las escritas por expertos el 70% de las veces. Mensaje: producir ya no es el cuello de botella; juzgar sí.</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diapositiva cierra la tesis: no basta con tener un juez, hay que saber qué tan bueno es. Los tres números responden la misma pregunta en dos estudios distintos, así que compáralos como orden de magnitud, no como una tabla exacta. 58%: Xu et al. (ACL 2023, tabla 4), 109 pares con respuesta de referencia; BERTScore da 57% y BLEURT 62%, apenas por encima del azar. 74% y 84%: ResearchQA (Li, Chang, Malaviya y Yatskar, TACL 2026), un juez LLM con rúbricas frente al acuerdo entre dos expertos. 11%: el mismo paper, sobre las rúbricas generadas por el modelo sin apoyarse en surveys; las que se basan en fuentes fallan menos. El encuadre viene de la clase 10 de Akari Asai, Deep Research Agents, CMU 11-768 (otoño 2026), que recomienda auditar la rúbrica antes de usarla. Llévalo a la práctica: antes de confiar en tu juez automático, califica tú tres reportes y compara con sus puntajes.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Vuelve a la diapositiva 2: cada falla es una falla del juez. Las citas inventadas son un ciclo sin juez: en el estudio de OpenScholar (Asai et al., Nature 2026), GPT-4o sin búsqueda inventó citas en el 78–90% de los casos al pedirle literatura reciente; el reward hacking es un juez que el agente aprendió a engañar; la fuga de datos es un juez que ya vio la respuesta; el prompt injection envenena lo que el agente observa. Los checks van de más barato a más caro: minutos para los tres primeros, horas para reimplementar; guarda eso para tus tablas principales. Un segundo modelo de la misma familia comparte los mismos puntos ciegos: usa uno de otro laboratorio. La frontera irregular (Dell'Acqua et al., 758 consultores de BCG): dentro de la frontera de la IA, 12.2% más tareas y 25.1% más rápido; fuera de ella, 19% menos probabilidad de acertar. Sin un juez propio no sabes de qué lado estás. Menciona la política de EAFIT sobre uso de IA y autoría, y la regla práctica de divulgación: decláralo donde aparezca tu nombre.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Diapositiva de cierre. Haz una pausa en el titular antes de mostrar los tres niveles. Cada nivel le pasa más trabajo al agente y te exige un juez más explícito: en el nivel 1 juzgas tú cada respuesta; en el 2 tu criterio queda escrito en el skill; en el 3 queda escrito en la métrica. Luego abre a preguntas. El enlace puede ir a una página con las diapositivas, la revisión de literatura y una plantilla de CLAUDE.md.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sz="3600"/>
            </a:lvl1pPr>
            <a:lvl2pPr indent="-406400" lvl="1" marL="914400">
              <a:spcBef>
                <a:spcPts val="0"/>
              </a:spcBef>
              <a:spcAft>
                <a:spcPts val="0"/>
              </a:spcAft>
              <a:buSzPts val="2800"/>
              <a:buChar char="○"/>
              <a:defRPr sz="2800"/>
            </a:lvl2pPr>
            <a:lvl3pPr indent="-406400" lvl="2" marL="1371600">
              <a:spcBef>
                <a:spcPts val="0"/>
              </a:spcBef>
              <a:spcAft>
                <a:spcPts val="0"/>
              </a:spcAft>
              <a:buSzPts val="2800"/>
              <a:buChar char="■"/>
              <a:defRPr sz="2800"/>
            </a:lvl3pPr>
            <a:lvl4pPr indent="-406400" lvl="3" marL="1828800">
              <a:spcBef>
                <a:spcPts val="0"/>
              </a:spcBef>
              <a:spcAft>
                <a:spcPts val="0"/>
              </a:spcAft>
              <a:buSzPts val="2800"/>
              <a:buChar char="●"/>
              <a:defRPr sz="2800"/>
            </a:lvl4pPr>
            <a:lvl5pPr indent="-406400" lvl="4" marL="2286000">
              <a:spcBef>
                <a:spcPts val="0"/>
              </a:spcBef>
              <a:spcAft>
                <a:spcPts val="0"/>
              </a:spcAft>
              <a:buSzPts val="2800"/>
              <a:buChar char="○"/>
              <a:defRPr sz="2800"/>
            </a:lvl5pPr>
            <a:lvl6pPr indent="-406400" lvl="5" marL="2743200">
              <a:spcBef>
                <a:spcPts val="0"/>
              </a:spcBef>
              <a:spcAft>
                <a:spcPts val="0"/>
              </a:spcAft>
              <a:buSzPts val="2800"/>
              <a:buChar char="■"/>
              <a:defRPr sz="2800"/>
            </a:lvl6pPr>
            <a:lvl7pPr indent="-406400" lvl="6" marL="3200400">
              <a:spcBef>
                <a:spcPts val="0"/>
              </a:spcBef>
              <a:spcAft>
                <a:spcPts val="0"/>
              </a:spcAft>
              <a:buSzPts val="2800"/>
              <a:buChar char="●"/>
              <a:defRPr sz="2800"/>
            </a:lvl7pPr>
            <a:lvl8pPr indent="-406400" lvl="7" marL="3657600">
              <a:spcBef>
                <a:spcPts val="0"/>
              </a:spcBef>
              <a:spcAft>
                <a:spcPts val="0"/>
              </a:spcAft>
              <a:buSzPts val="2800"/>
              <a:buChar char="○"/>
              <a:defRPr sz="2800"/>
            </a:lvl8pPr>
            <a:lvl9pPr indent="-406400" lvl="8" marL="4114800">
              <a:spcBef>
                <a:spcPts val="0"/>
              </a:spcBef>
              <a:spcAft>
                <a:spcPts val="0"/>
              </a:spcAft>
              <a:buSzPts val="2800"/>
              <a:buChar char="■"/>
              <a:defRPr sz="2800"/>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sz="3600"/>
            </a:lvl1pPr>
            <a:lvl2pPr indent="-406400" lvl="1" marL="914400">
              <a:spcBef>
                <a:spcPts val="0"/>
              </a:spcBef>
              <a:spcAft>
                <a:spcPts val="0"/>
              </a:spcAft>
              <a:buSzPts val="2800"/>
              <a:buChar char="○"/>
              <a:defRPr sz="2800"/>
            </a:lvl2pPr>
            <a:lvl3pPr indent="-406400" lvl="2" marL="1371600">
              <a:spcBef>
                <a:spcPts val="0"/>
              </a:spcBef>
              <a:spcAft>
                <a:spcPts val="0"/>
              </a:spcAft>
              <a:buSzPts val="2800"/>
              <a:buChar char="■"/>
              <a:defRPr sz="2800"/>
            </a:lvl3pPr>
            <a:lvl4pPr indent="-406400" lvl="3" marL="1828800">
              <a:spcBef>
                <a:spcPts val="0"/>
              </a:spcBef>
              <a:spcAft>
                <a:spcPts val="0"/>
              </a:spcAft>
              <a:buSzPts val="2800"/>
              <a:buChar char="●"/>
              <a:defRPr sz="2800"/>
            </a:lvl4pPr>
            <a:lvl5pPr indent="-406400" lvl="4" marL="2286000">
              <a:spcBef>
                <a:spcPts val="0"/>
              </a:spcBef>
              <a:spcAft>
                <a:spcPts val="0"/>
              </a:spcAft>
              <a:buSzPts val="2800"/>
              <a:buChar char="○"/>
              <a:defRPr sz="2800"/>
            </a:lvl5pPr>
            <a:lvl6pPr indent="-406400" lvl="5" marL="2743200">
              <a:spcBef>
                <a:spcPts val="0"/>
              </a:spcBef>
              <a:spcAft>
                <a:spcPts val="0"/>
              </a:spcAft>
              <a:buSzPts val="2800"/>
              <a:buChar char="■"/>
              <a:defRPr sz="2800"/>
            </a:lvl6pPr>
            <a:lvl7pPr indent="-406400" lvl="6" marL="3200400">
              <a:spcBef>
                <a:spcPts val="0"/>
              </a:spcBef>
              <a:spcAft>
                <a:spcPts val="0"/>
              </a:spcAft>
              <a:buSzPts val="2800"/>
              <a:buChar char="●"/>
              <a:defRPr sz="2800"/>
            </a:lvl7pPr>
            <a:lvl8pPr indent="-406400" lvl="7" marL="3657600">
              <a:spcBef>
                <a:spcPts val="0"/>
              </a:spcBef>
              <a:spcAft>
                <a:spcPts val="0"/>
              </a:spcAft>
              <a:buSzPts val="2800"/>
              <a:buChar char="○"/>
              <a:defRPr sz="2800"/>
            </a:lvl8pPr>
            <a:lvl9pPr indent="-406400" lvl="8" marL="4114800">
              <a:spcBef>
                <a:spcPts val="0"/>
              </a:spcBef>
              <a:spcAft>
                <a:spcPts val="0"/>
              </a:spcAft>
              <a:buSzPts val="2800"/>
              <a:buChar char="■"/>
              <a:defRPr sz="2800"/>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sz="3600"/>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sz="3600"/>
            </a:lvl1pPr>
            <a:lvl2pPr indent="-406400" lvl="1" marL="914400" algn="ctr">
              <a:spcBef>
                <a:spcPts val="0"/>
              </a:spcBef>
              <a:spcAft>
                <a:spcPts val="0"/>
              </a:spcAft>
              <a:buSzPts val="2800"/>
              <a:buChar char="○"/>
              <a:defRPr sz="2800"/>
            </a:lvl2pPr>
            <a:lvl3pPr indent="-406400" lvl="2" marL="1371600" algn="ctr">
              <a:spcBef>
                <a:spcPts val="0"/>
              </a:spcBef>
              <a:spcAft>
                <a:spcPts val="0"/>
              </a:spcAft>
              <a:buSzPts val="2800"/>
              <a:buChar char="■"/>
              <a:defRPr sz="2800"/>
            </a:lvl3pPr>
            <a:lvl4pPr indent="-406400" lvl="3" marL="1828800" algn="ctr">
              <a:spcBef>
                <a:spcPts val="0"/>
              </a:spcBef>
              <a:spcAft>
                <a:spcPts val="0"/>
              </a:spcAft>
              <a:buSzPts val="2800"/>
              <a:buChar char="●"/>
              <a:defRPr sz="2800"/>
            </a:lvl4pPr>
            <a:lvl5pPr indent="-406400" lvl="4" marL="2286000" algn="ctr">
              <a:spcBef>
                <a:spcPts val="0"/>
              </a:spcBef>
              <a:spcAft>
                <a:spcPts val="0"/>
              </a:spcAft>
              <a:buSzPts val="2800"/>
              <a:buChar char="○"/>
              <a:defRPr sz="2800"/>
            </a:lvl5pPr>
            <a:lvl6pPr indent="-406400" lvl="5" marL="2743200" algn="ctr">
              <a:spcBef>
                <a:spcPts val="0"/>
              </a:spcBef>
              <a:spcAft>
                <a:spcPts val="0"/>
              </a:spcAft>
              <a:buSzPts val="2800"/>
              <a:buChar char="■"/>
              <a:defRPr sz="2800"/>
            </a:lvl6pPr>
            <a:lvl7pPr indent="-406400" lvl="6" marL="3200400" algn="ctr">
              <a:spcBef>
                <a:spcPts val="0"/>
              </a:spcBef>
              <a:spcAft>
                <a:spcPts val="0"/>
              </a:spcAft>
              <a:buSzPts val="2800"/>
              <a:buChar char="●"/>
              <a:defRPr sz="2800"/>
            </a:lvl7pPr>
            <a:lvl8pPr indent="-406400" lvl="7" marL="3657600" algn="ctr">
              <a:spcBef>
                <a:spcPts val="0"/>
              </a:spcBef>
              <a:spcAft>
                <a:spcPts val="0"/>
              </a:spcAft>
              <a:buSzPts val="2800"/>
              <a:buChar char="○"/>
              <a:defRPr sz="2800"/>
            </a:lvl8pPr>
            <a:lvl9pPr indent="-406400" lvl="8" marL="4114800" algn="ctr">
              <a:spcBef>
                <a:spcPts val="0"/>
              </a:spcBef>
              <a:spcAft>
                <a:spcPts val="0"/>
              </a:spcAft>
              <a:buSzPts val="2800"/>
              <a:buChar char="■"/>
              <a:defRPr sz="2800"/>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1.mp4"/><Relationship Id="rId3" Type="http://schemas.openxmlformats.org/officeDocument/2006/relationships/image" Target="../media/image5.jpg"/><Relationship Id="rId4" Type="http://schemas.openxmlformats.org/officeDocument/2006/relationships/video" Target="../media/media1.mp4"/><Relationship Id="rId5" Type="http://schemas.openxmlformats.org/officeDocument/2006/relationships/image" Target="../media/image6.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Title"/>
          <p:cNvSpPr txBox="1"/>
          <p:nvPr/>
        </p:nvSpPr>
        <p:spPr>
          <a:xfrm>
            <a:off x="1563624" y="3657600"/>
            <a:ext cx="10972800" cy="2194560"/>
          </a:xfrm>
          <a:prstGeom prst="rect">
            <a:avLst/>
          </a:prstGeom>
          <a:noFill/>
        </p:spPr>
        <p:txBody>
          <a:bodyPr wrap="square" lIns="0" rIns="0" tIns="0" bIns="0" anchor="t">
            <a:spAutoFit/>
          </a:bodyPr>
          <a:lstStyle/>
          <a:p>
            <a:pPr algn="l">
              <a:lnSpc>
                <a:spcPct val="95000"/>
              </a:lnSpc>
            </a:pPr>
            <a:r>
              <a:rPr sz="6400" b="1" i="0">
                <a:solidFill>
                  <a:srgbClr val="FFFFFF"/>
                </a:solidFill>
                <a:latin typeface="Arial"/>
              </a:rPr>
              <a:t>¿Quién decide qué cuenta como </a:t>
            </a:r>
            <a:r>
              <a:rPr sz="6400" b="1" i="0">
                <a:solidFill>
                  <a:srgbClr val="F2A541"/>
                </a:solidFill>
                <a:latin typeface="Arial"/>
              </a:rPr>
              <a:t>mejor</a:t>
            </a:r>
            <a:r>
              <a:rPr sz="6400" b="1" i="0">
                <a:solidFill>
                  <a:srgbClr val="FFFFFF"/>
                </a:solidFill>
                <a:latin typeface="Arial"/>
              </a:rPr>
              <a:t>?</a:t>
            </a:r>
          </a:p>
        </p:txBody>
      </p:sp>
      <p:sp>
        <p:nvSpPr>
          <p:cNvPr id="55" name="Subtitle"/>
          <p:cNvSpPr txBox="1"/>
          <p:nvPr/>
        </p:nvSpPr>
        <p:spPr>
          <a:xfrm>
            <a:off x="1563624" y="5897880"/>
            <a:ext cx="10972800" cy="822960"/>
          </a:xfrm>
          <a:prstGeom prst="rect">
            <a:avLst/>
          </a:prstGeom>
          <a:noFill/>
        </p:spPr>
        <p:txBody>
          <a:bodyPr wrap="square" lIns="0" rIns="0" tIns="0" bIns="0" anchor="t">
            <a:spAutoFit/>
          </a:bodyPr>
          <a:lstStyle/>
          <a:p>
            <a:pPr algn="l"/>
            <a:r>
              <a:rPr sz="2600" b="0" i="0">
                <a:solidFill>
                  <a:srgbClr val="FFFFFF"/>
                </a:solidFill>
                <a:latin typeface="Arial"/>
              </a:rPr>
              <a:t>IA para la investigación: de la atención al descubrimiento autónomo</a:t>
            </a:r>
          </a:p>
        </p:txBody>
      </p:sp>
      <p:sp>
        <p:nvSpPr>
          <p:cNvPr id="56" name="Author"/>
          <p:cNvSpPr txBox="1"/>
          <p:nvPr/>
        </p:nvSpPr>
        <p:spPr>
          <a:xfrm>
            <a:off x="1563624" y="6812280"/>
            <a:ext cx="10972800" cy="457200"/>
          </a:xfrm>
          <a:prstGeom prst="rect">
            <a:avLst/>
          </a:prstGeom>
          <a:noFill/>
        </p:spPr>
        <p:txBody>
          <a:bodyPr wrap="square" lIns="0" rIns="0" tIns="0" bIns="0" anchor="t">
            <a:spAutoFit/>
          </a:bodyPr>
          <a:lstStyle/>
          <a:p>
            <a:pPr algn="l"/>
            <a:r>
              <a:rPr sz="2000" b="0" i="0">
                <a:solidFill>
                  <a:srgbClr val="CADCFC"/>
                </a:solidFill>
                <a:latin typeface="Arial"/>
              </a:rPr>
              <a:t>Juan David Martínez Vargas, Ph.D. · Universidad EAFIT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GANCHO</a:t>
            </a:r>
          </a:p>
        </p:txBody>
      </p:sp>
      <p:sp>
        <p:nvSpPr>
          <p:cNvPr id="61"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Un agente ya puede correr un ciclo de investigación toda la noche, sin nosotros</a:t>
            </a:r>
          </a:p>
        </p:txBody>
      </p:sp>
      <p:pic>
        <p:nvPicPr>
          <p:cNvPr id="62" name="scene01_autoresearch_log.mp4">
            <a:hlinkClick r:id="" action="ppaction://media"/>
          </p:cNvPr>
          <p:cNvPicPr>
            <a:picLocks noChangeAspect="1"/>
          </p:cNvPicPr>
          <p:nvPr>
            <a:videoFile r:link="rId4"/>
            <p:extLst>
              <p:ext uri="{DAA4B4D4-6D71-4841-9C94-3DE7FCFB9230}">
                <p14:media r:embed="rId2"/>
              </p:ext>
            </p:extLst>
          </p:nvPr>
        </p:nvPicPr>
        <p:blipFill>
          <a:blip r:embed="rId5"/>
          <a:stretch>
            <a:fillRect/>
          </a:stretch>
        </p:blipFill>
        <p:spPr>
          <a:xfrm>
            <a:off x="1600200" y="3886200"/>
            <a:ext cx="10332720" cy="3874770"/>
          </a:xfrm>
          <a:prstGeom prst="rect">
            <a:avLst/>
          </a:prstGeom>
        </p:spPr>
      </p:pic>
      <p:sp>
        <p:nvSpPr>
          <p:cNvPr id="63" name="TextBox 62"/>
          <p:cNvSpPr txBox="1"/>
          <p:nvPr/>
        </p:nvSpPr>
        <p:spPr>
          <a:xfrm>
            <a:off x="12390120" y="3886200"/>
            <a:ext cx="4297679" cy="2926080"/>
          </a:xfrm>
          <a:prstGeom prst="rect">
            <a:avLst/>
          </a:prstGeom>
          <a:noFill/>
        </p:spPr>
        <p:txBody>
          <a:bodyPr wrap="square" lIns="0" rIns="0" tIns="0" bIns="0" anchor="t">
            <a:spAutoFit/>
          </a:bodyPr>
          <a:lstStyle/>
          <a:p>
            <a:pPr algn="l">
              <a:spcAft>
                <a:spcPts val="1400"/>
              </a:spcAft>
            </a:pPr>
            <a:r>
              <a:rPr sz="2200" b="0" i="0">
                <a:solidFill>
                  <a:srgbClr val="4A4F57"/>
                </a:solidFill>
                <a:latin typeface="Arial"/>
              </a:rPr>
              <a:t>El agente edita </a:t>
            </a:r>
            <a:r>
              <a:rPr sz="2200" b="1" i="0">
                <a:solidFill>
                  <a:srgbClr val="4A4F57"/>
                </a:solidFill>
                <a:latin typeface="Courier New"/>
              </a:rPr>
              <a:t>train.py</a:t>
            </a:r>
            <a:r>
              <a:rPr sz="2200" b="0" i="0">
                <a:solidFill>
                  <a:srgbClr val="4A4F57"/>
                </a:solidFill>
                <a:latin typeface="Arial"/>
              </a:rPr>
              <a:t>, entrena 5 minutos y conserva el cambio solo si la validación mejora.</a:t>
            </a:r>
          </a:p>
          <a:p>
            <a:pPr algn="l">
              <a:spcAft>
                <a:spcPts val="1400"/>
              </a:spcAft>
            </a:pPr>
            <a:r>
              <a:rPr sz="2200" b="1" i="0">
                <a:solidFill>
                  <a:srgbClr val="A8600A"/>
                </a:solidFill>
                <a:latin typeface="Arial"/>
              </a:rPr>
              <a:t>Ámbar</a:t>
            </a:r>
            <a:r>
              <a:rPr sz="2200" b="0" i="0">
                <a:solidFill>
                  <a:srgbClr val="4A4F57"/>
                </a:solidFill>
                <a:latin typeface="Arial"/>
              </a:rPr>
              <a:t>: lo que el juez conservó.</a:t>
            </a:r>
          </a:p>
          <a:p>
            <a:pPr algn="l">
              <a:spcAft>
                <a:spcPts val="1400"/>
              </a:spcAft>
            </a:pPr>
            <a:r>
              <a:rPr sz="2200" b="1" i="0">
                <a:solidFill>
                  <a:srgbClr val="757070"/>
                </a:solidFill>
                <a:latin typeface="Arial"/>
              </a:rPr>
              <a:t>Gris</a:t>
            </a:r>
            <a:r>
              <a:rPr sz="2200" b="0" i="0">
                <a:solidFill>
                  <a:srgbClr val="4A4F57"/>
                </a:solidFill>
                <a:latin typeface="Arial"/>
              </a:rPr>
              <a:t>: lo que descartó.</a:t>
            </a:r>
          </a:p>
        </p:txBody>
      </p:sp>
      <p:sp>
        <p:nvSpPr>
          <p:cNvPr id="64"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1 · IA para la investigación · github.com/karpathy/autoresearch</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2"/>
                </p:tgtEl>
              </p:cMediaNode>
            </p:video>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MAPA</a:t>
            </a:r>
          </a:p>
        </p:txBody>
      </p:sp>
      <p:sp>
        <p:nvSpPr>
          <p:cNvPr id="61"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Seis ciclos, una forma: lo que cambia es quién juzga qué es «mejor»</a:t>
            </a:r>
          </a:p>
        </p:txBody>
      </p:sp>
      <p:graphicFrame>
        <p:nvGraphicFramePr>
          <p:cNvPr id="62" name="Table 61"/>
          <p:cNvGraphicFramePr>
            <a:graphicFrameLocks noGrp="1"/>
          </p:cNvGraphicFramePr>
          <p:nvPr/>
        </p:nvGraphicFramePr>
        <p:xfrm>
          <a:off x="1600200" y="3749039"/>
          <a:ext cx="14264639" cy="3584448"/>
        </p:xfrm>
        <a:graphic>
          <a:graphicData uri="http://schemas.openxmlformats.org/drawingml/2006/table">
            <a:tbl>
              <a:tblPr firstRow="1" bandRow="1">
                <a:tableStyleId>{5C22544A-7EE6-4342-B048-85BDC9FD1C3A}</a:tableStyleId>
              </a:tblPr>
              <a:tblGrid>
                <a:gridCol w="4422038"/>
                <a:gridCol w="5563209"/>
                <a:gridCol w="4279392"/>
              </a:tblGrid>
              <a:tr h="512064">
                <a:tc>
                  <a:txBody>
                    <a:bodyPr/>
                    <a:lstStyle/>
                    <a:p>
                      <a:r>
                        <a:rPr sz="2100" b="1">
                          <a:solidFill>
                            <a:srgbClr val="FFFFFF"/>
                          </a:solidFill>
                          <a:latin typeface="Arial"/>
                        </a:rPr>
                        <a:t>Parte</a:t>
                      </a:r>
                    </a:p>
                  </a:txBody>
                  <a:tcPr marL="137160" marR="137160" marT="36576" marB="36576" anchor="ctr">
                    <a:solidFill>
                      <a:srgbClr val="073763"/>
                    </a:solidFill>
                  </a:tcPr>
                </a:tc>
                <a:tc>
                  <a:txBody>
                    <a:bodyPr/>
                    <a:lstStyle/>
                    <a:p>
                      <a:r>
                        <a:rPr sz="2100" b="1">
                          <a:solidFill>
                            <a:srgbClr val="FFFFFF"/>
                          </a:solidFill>
                          <a:latin typeface="Arial"/>
                        </a:rPr>
                        <a:t>Ciclo</a:t>
                      </a:r>
                    </a:p>
                  </a:txBody>
                  <a:tcPr marL="137160" marR="137160" marT="36576" marB="36576" anchor="ctr">
                    <a:solidFill>
                      <a:srgbClr val="073763"/>
                    </a:solidFill>
                  </a:tcPr>
                </a:tc>
                <a:tc>
                  <a:txBody>
                    <a:bodyPr/>
                    <a:lstStyle/>
                    <a:p>
                      <a:r>
                        <a:rPr sz="2100" b="1">
                          <a:solidFill>
                            <a:srgbClr val="FFFFFF"/>
                          </a:solidFill>
                          <a:latin typeface="Arial"/>
                        </a:rPr>
                        <a:t>Juez</a:t>
                      </a:r>
                    </a:p>
                  </a:txBody>
                  <a:tcPr marL="137160" marR="137160" marT="36576" marB="36576" anchor="ctr">
                    <a:solidFill>
                      <a:srgbClr val="073763"/>
                    </a:solidFill>
                  </a:tcPr>
                </a:tc>
              </a:tr>
              <a:tr h="512064">
                <a:tc>
                  <a:txBody>
                    <a:bodyPr/>
                    <a:lstStyle/>
                    <a:p>
                      <a:r>
                        <a:rPr sz="2100" b="0">
                          <a:solidFill>
                            <a:srgbClr val="4A4F57"/>
                          </a:solidFill>
                          <a:latin typeface="Arial"/>
                        </a:rPr>
                        <a:t>1 · Preentrenamiento</a:t>
                      </a:r>
                    </a:p>
                  </a:txBody>
                  <a:tcPr marL="137160" marR="137160" marT="36576" marB="36576" anchor="ctr">
                    <a:solidFill>
                      <a:srgbClr val="EEF3FA"/>
                    </a:solidFill>
                  </a:tcPr>
                </a:tc>
                <a:tc>
                  <a:txBody>
                    <a:bodyPr/>
                    <a:lstStyle/>
                    <a:p>
                      <a:r>
                        <a:rPr sz="2100" b="0">
                          <a:solidFill>
                            <a:srgbClr val="4A4F57"/>
                          </a:solidFill>
                          <a:latin typeface="Arial"/>
                        </a:rPr>
                        <a:t>predecir → comparar → actualizar</a:t>
                      </a:r>
                    </a:p>
                  </a:txBody>
                  <a:tcPr marL="137160" marR="137160" marT="36576" marB="36576" anchor="ctr">
                    <a:solidFill>
                      <a:srgbClr val="EEF3FA"/>
                    </a:solidFill>
                  </a:tcPr>
                </a:tc>
                <a:tc>
                  <a:txBody>
                    <a:bodyPr/>
                    <a:lstStyle/>
                    <a:p>
                      <a:r>
                        <a:rPr sz="2100" b="0">
                          <a:solidFill>
                            <a:srgbClr val="A8600A"/>
                          </a:solidFill>
                          <a:latin typeface="Arial"/>
                        </a:rPr>
                        <a:t>el siguiente token</a:t>
                      </a:r>
                    </a:p>
                  </a:txBody>
                  <a:tcPr marL="137160" marR="137160" marT="36576" marB="36576" anchor="ctr">
                    <a:solidFill>
                      <a:srgbClr val="EEF3FA"/>
                    </a:solidFill>
                  </a:tcPr>
                </a:tc>
              </a:tr>
              <a:tr h="512064">
                <a:tc>
                  <a:txBody>
                    <a:bodyPr/>
                    <a:lstStyle/>
                    <a:p>
                      <a:r>
                        <a:rPr sz="2100" b="0">
                          <a:solidFill>
                            <a:srgbClr val="4A4F57"/>
                          </a:solidFill>
                          <a:latin typeface="Arial"/>
                        </a:rPr>
                        <a:t>1 · Alineación</a:t>
                      </a:r>
                    </a:p>
                  </a:txBody>
                  <a:tcPr marL="137160" marR="137160" marT="36576" marB="36576" anchor="ctr">
                    <a:solidFill>
                      <a:srgbClr val="FFFFFF"/>
                    </a:solidFill>
                  </a:tcPr>
                </a:tc>
                <a:tc>
                  <a:txBody>
                    <a:bodyPr/>
                    <a:lstStyle/>
                    <a:p>
                      <a:r>
                        <a:rPr sz="2100" b="0">
                          <a:solidFill>
                            <a:srgbClr val="4A4F57"/>
                          </a:solidFill>
                          <a:latin typeface="Arial"/>
                        </a:rPr>
                        <a:t>responder → juzgar → actualizar</a:t>
                      </a:r>
                    </a:p>
                  </a:txBody>
                  <a:tcPr marL="137160" marR="137160" marT="36576" marB="36576" anchor="ctr">
                    <a:solidFill>
                      <a:srgbClr val="FFFFFF"/>
                    </a:solidFill>
                  </a:tcPr>
                </a:tc>
                <a:tc>
                  <a:txBody>
                    <a:bodyPr/>
                    <a:lstStyle/>
                    <a:p>
                      <a:r>
                        <a:rPr sz="2100" b="0">
                          <a:solidFill>
                            <a:srgbClr val="A8600A"/>
                          </a:solidFill>
                          <a:latin typeface="Arial"/>
                        </a:rPr>
                        <a:t>las preferencias humanas</a:t>
                      </a:r>
                    </a:p>
                  </a:txBody>
                  <a:tcPr marL="137160" marR="137160" marT="36576" marB="36576" anchor="ctr">
                    <a:solidFill>
                      <a:srgbClr val="FFFFFF"/>
                    </a:solidFill>
                  </a:tcPr>
                </a:tc>
              </a:tr>
              <a:tr h="512064">
                <a:tc>
                  <a:txBody>
                    <a:bodyPr/>
                    <a:lstStyle/>
                    <a:p>
                      <a:r>
                        <a:rPr sz="2100" b="0">
                          <a:solidFill>
                            <a:srgbClr val="4A4F57"/>
                          </a:solidFill>
                          <a:latin typeface="Arial"/>
                        </a:rPr>
                        <a:t>1 · Razonamiento</a:t>
                      </a:r>
                    </a:p>
                  </a:txBody>
                  <a:tcPr marL="137160" marR="137160" marT="36576" marB="36576" anchor="ctr">
                    <a:solidFill>
                      <a:srgbClr val="EEF3FA"/>
                    </a:solidFill>
                  </a:tcPr>
                </a:tc>
                <a:tc>
                  <a:txBody>
                    <a:bodyPr/>
                    <a:lstStyle/>
                    <a:p>
                      <a:r>
                        <a:rPr sz="2100" b="0">
                          <a:solidFill>
                            <a:srgbClr val="4A4F57"/>
                          </a:solidFill>
                          <a:latin typeface="Arial"/>
                        </a:rPr>
                        <a:t>intentar → verificar → reforzar</a:t>
                      </a:r>
                    </a:p>
                  </a:txBody>
                  <a:tcPr marL="137160" marR="137160" marT="36576" marB="36576" anchor="ctr">
                    <a:solidFill>
                      <a:srgbClr val="EEF3FA"/>
                    </a:solidFill>
                  </a:tcPr>
                </a:tc>
                <a:tc>
                  <a:txBody>
                    <a:bodyPr/>
                    <a:lstStyle/>
                    <a:p>
                      <a:r>
                        <a:rPr sz="2100" b="0">
                          <a:solidFill>
                            <a:srgbClr val="A8600A"/>
                          </a:solidFill>
                          <a:latin typeface="Arial"/>
                        </a:rPr>
                        <a:t>un verificador</a:t>
                      </a:r>
                    </a:p>
                  </a:txBody>
                  <a:tcPr marL="137160" marR="137160" marT="36576" marB="36576" anchor="ctr">
                    <a:solidFill>
                      <a:srgbClr val="EEF3FA"/>
                    </a:solidFill>
                  </a:tcPr>
                </a:tc>
              </a:tr>
              <a:tr h="512064">
                <a:tc>
                  <a:txBody>
                    <a:bodyPr/>
                    <a:lstStyle/>
                    <a:p>
                      <a:r>
                        <a:rPr sz="2100" b="0">
                          <a:solidFill>
                            <a:srgbClr val="4A4F57"/>
                          </a:solidFill>
                          <a:latin typeface="Arial"/>
                        </a:rPr>
                        <a:t>2 · Agentes</a:t>
                      </a:r>
                    </a:p>
                  </a:txBody>
                  <a:tcPr marL="137160" marR="137160" marT="36576" marB="36576" anchor="ctr">
                    <a:solidFill>
                      <a:srgbClr val="FFFFFF"/>
                    </a:solidFill>
                  </a:tcPr>
                </a:tc>
                <a:tc>
                  <a:txBody>
                    <a:bodyPr/>
                    <a:lstStyle/>
                    <a:p>
                      <a:r>
                        <a:rPr sz="2100" b="0">
                          <a:solidFill>
                            <a:srgbClr val="4A4F57"/>
                          </a:solidFill>
                          <a:latin typeface="Arial"/>
                        </a:rPr>
                        <a:t>actuar → observar → ajustar</a:t>
                      </a:r>
                    </a:p>
                  </a:txBody>
                  <a:tcPr marL="137160" marR="137160" marT="36576" marB="36576" anchor="ctr">
                    <a:solidFill>
                      <a:srgbClr val="FFFFFF"/>
                    </a:solidFill>
                  </a:tcPr>
                </a:tc>
                <a:tc>
                  <a:txBody>
                    <a:bodyPr/>
                    <a:lstStyle/>
                    <a:p>
                      <a:r>
                        <a:rPr sz="2100" b="0">
                          <a:solidFill>
                            <a:srgbClr val="A8600A"/>
                          </a:solidFill>
                          <a:latin typeface="Arial"/>
                        </a:rPr>
                        <a:t>las herramientas</a:t>
                      </a:r>
                    </a:p>
                  </a:txBody>
                  <a:tcPr marL="137160" marR="137160" marT="36576" marB="36576" anchor="ctr">
                    <a:solidFill>
                      <a:srgbClr val="FFFFFF"/>
                    </a:solidFill>
                  </a:tcPr>
                </a:tc>
              </a:tr>
              <a:tr h="512064">
                <a:tc>
                  <a:txBody>
                    <a:bodyPr/>
                    <a:lstStyle/>
                    <a:p>
                      <a:r>
                        <a:rPr sz="2100" b="0">
                          <a:solidFill>
                            <a:srgbClr val="4A4F57"/>
                          </a:solidFill>
                          <a:latin typeface="Arial"/>
                        </a:rPr>
                        <a:t>3 · Harness y skills</a:t>
                      </a:r>
                    </a:p>
                  </a:txBody>
                  <a:tcPr marL="137160" marR="137160" marT="36576" marB="36576" anchor="ctr">
                    <a:solidFill>
                      <a:srgbClr val="EEF3FA"/>
                    </a:solidFill>
                  </a:tcPr>
                </a:tc>
                <a:tc>
                  <a:txBody>
                    <a:bodyPr/>
                    <a:lstStyle/>
                    <a:p>
                      <a:r>
                        <a:rPr sz="2100" b="0">
                          <a:solidFill>
                            <a:srgbClr val="4A4F57"/>
                          </a:solidFill>
                          <a:latin typeface="Arial"/>
                        </a:rPr>
                        <a:t>instruir → ejecutar → revisar</a:t>
                      </a:r>
                    </a:p>
                  </a:txBody>
                  <a:tcPr marL="137160" marR="137160" marT="36576" marB="36576" anchor="ctr">
                    <a:solidFill>
                      <a:srgbClr val="EEF3FA"/>
                    </a:solidFill>
                  </a:tcPr>
                </a:tc>
                <a:tc>
                  <a:txBody>
                    <a:bodyPr/>
                    <a:lstStyle/>
                    <a:p>
                      <a:r>
                        <a:rPr sz="2100" b="0">
                          <a:solidFill>
                            <a:srgbClr val="A8600A"/>
                          </a:solidFill>
                          <a:latin typeface="Arial"/>
                        </a:rPr>
                        <a:t>tú, en reglas y checks</a:t>
                      </a:r>
                    </a:p>
                  </a:txBody>
                  <a:tcPr marL="137160" marR="137160" marT="36576" marB="36576" anchor="ctr">
                    <a:solidFill>
                      <a:srgbClr val="EEF3FA"/>
                    </a:solidFill>
                  </a:tcPr>
                </a:tc>
              </a:tr>
              <a:tr h="512064">
                <a:tc>
                  <a:txBody>
                    <a:bodyPr/>
                    <a:lstStyle/>
                    <a:p>
                      <a:r>
                        <a:rPr sz="2100" b="0">
                          <a:solidFill>
                            <a:srgbClr val="4A4F57"/>
                          </a:solidFill>
                          <a:latin typeface="Arial"/>
                        </a:rPr>
                        <a:t>4 · IA que investiga</a:t>
                      </a:r>
                    </a:p>
                  </a:txBody>
                  <a:tcPr marL="137160" marR="137160" marT="36576" marB="36576" anchor="ctr">
                    <a:solidFill>
                      <a:srgbClr val="FFFFFF"/>
                    </a:solidFill>
                  </a:tcPr>
                </a:tc>
                <a:tc>
                  <a:txBody>
                    <a:bodyPr/>
                    <a:lstStyle/>
                    <a:p>
                      <a:r>
                        <a:rPr sz="2100" b="0">
                          <a:solidFill>
                            <a:srgbClr val="4A4F57"/>
                          </a:solidFill>
                          <a:latin typeface="Arial"/>
                        </a:rPr>
                        <a:t>proponer → correr → ¿conservar?</a:t>
                      </a:r>
                    </a:p>
                  </a:txBody>
                  <a:tcPr marL="137160" marR="137160" marT="36576" marB="36576" anchor="ctr">
                    <a:solidFill>
                      <a:srgbClr val="FFFFFF"/>
                    </a:solidFill>
                  </a:tcPr>
                </a:tc>
                <a:tc>
                  <a:txBody>
                    <a:bodyPr/>
                    <a:lstStyle/>
                    <a:p>
                      <a:r>
                        <a:rPr sz="2100" b="1">
                          <a:solidFill>
                            <a:srgbClr val="A8600A"/>
                          </a:solidFill>
                          <a:latin typeface="Arial"/>
                        </a:rPr>
                        <a:t>tu métrica</a:t>
                      </a:r>
                    </a:p>
                  </a:txBody>
                  <a:tcPr marL="137160" marR="137160" marT="36576" marB="36576" anchor="ctr">
                    <a:solidFill>
                      <a:srgbClr val="FFFFFF"/>
                    </a:solidFill>
                  </a:tcPr>
                </a:tc>
              </a:tr>
            </a:tbl>
          </a:graphicData>
        </a:graphic>
      </p:graphicFrame>
      <p:sp>
        <p:nvSpPr>
          <p:cNvPr id="63" name="Thesis"/>
          <p:cNvSpPr txBox="1"/>
          <p:nvPr/>
        </p:nvSpPr>
        <p:spPr>
          <a:xfrm>
            <a:off x="1600200" y="7498079"/>
            <a:ext cx="11521440" cy="822960"/>
          </a:xfrm>
          <a:prstGeom prst="rect">
            <a:avLst/>
          </a:prstGeom>
          <a:noFill/>
        </p:spPr>
        <p:txBody>
          <a:bodyPr wrap="square" lIns="0" rIns="0" tIns="0" bIns="0" anchor="t">
            <a:spAutoFit/>
          </a:bodyPr>
          <a:lstStyle/>
          <a:p>
            <a:pPr algn="l"/>
            <a:r>
              <a:rPr sz="2300" b="1" i="0">
                <a:solidFill>
                  <a:srgbClr val="073763"/>
                </a:solidFill>
                <a:latin typeface="Arial"/>
              </a:rPr>
              <a:t>Cuando el juez pasa de los datos a ti, tu trabajo pasa de producir resultados a juzgarlos.</a:t>
            </a:r>
          </a:p>
        </p:txBody>
      </p:sp>
      <p:sp>
        <p:nvSpPr>
          <p:cNvPr id="64"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2 · IA para la investigación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1 · CÓMO FUNCIONAN</a:t>
            </a:r>
          </a:p>
        </p:txBody>
      </p:sp>
      <p:sp>
        <p:nvSpPr>
          <p:cNvPr id="61"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Un modelo de lenguaje es un archivo de números que predice el siguiente token</a:t>
            </a:r>
          </a:p>
        </p:txBody>
      </p:sp>
      <p:sp>
        <p:nvSpPr>
          <p:cNvPr id="62"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Figure tag"/>
          <p:cNvSpPr/>
          <p:nvPr/>
        </p:nvSpPr>
        <p:spPr>
          <a:xfrm>
            <a:off x="7936992" y="4686300"/>
            <a:ext cx="2414016" cy="45720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936992" y="4686300"/>
            <a:ext cx="2414016" cy="457200"/>
          </a:xfrm>
          <a:prstGeom prst="rect">
            <a:avLst/>
          </a:prstGeom>
          <a:noFill/>
        </p:spPr>
        <p:txBody>
          <a:bodyPr wrap="square" lIns="0" rIns="0" tIns="0" bIns="0" anchor="ctr">
            <a:spAutoFit/>
          </a:bodyPr>
          <a:lstStyle/>
          <a:p>
            <a:pPr algn="ctr"/>
            <a:r>
              <a:rPr sz="1700" b="1" i="0">
                <a:solidFill>
                  <a:srgbClr val="FFFFFF"/>
                </a:solidFill>
                <a:latin typeface="Arial"/>
              </a:rPr>
              <a:t>FIGURA · F03</a:t>
            </a:r>
          </a:p>
        </p:txBody>
      </p:sp>
      <p:sp>
        <p:nvSpPr>
          <p:cNvPr id="65"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Top-8 de probabilidades del siguiente token, de un modelo abierto real, para una frase de tu campo</a:t>
            </a:r>
          </a:p>
        </p:txBody>
      </p:sp>
      <p:sp>
        <p:nvSpPr>
          <p:cNvPr id="66"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3 · IA para la investigación</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1 · CÓMO FUNCIONAN</a:t>
            </a:r>
          </a:p>
        </p:txBody>
      </p:sp>
      <p:sp>
        <p:nvSpPr>
          <p:cNvPr id="61"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La atención deja que cada token decida qué otros tokens importan</a:t>
            </a:r>
          </a:p>
        </p:txBody>
      </p:sp>
      <p:sp>
        <p:nvSpPr>
          <p:cNvPr id="62"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Figure tag"/>
          <p:cNvSpPr/>
          <p:nvPr/>
        </p:nvSpPr>
        <p:spPr>
          <a:xfrm>
            <a:off x="7936992" y="4686300"/>
            <a:ext cx="2414016" cy="45720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936992" y="4686300"/>
            <a:ext cx="2414016" cy="457200"/>
          </a:xfrm>
          <a:prstGeom prst="rect">
            <a:avLst/>
          </a:prstGeom>
          <a:noFill/>
        </p:spPr>
        <p:txBody>
          <a:bodyPr wrap="square" lIns="0" rIns="0" tIns="0" bIns="0" anchor="ctr">
            <a:spAutoFit/>
          </a:bodyPr>
          <a:lstStyle/>
          <a:p>
            <a:pPr algn="ctr"/>
            <a:r>
              <a:rPr sz="1700" b="1" i="0">
                <a:solidFill>
                  <a:srgbClr val="073763"/>
                </a:solidFill>
                <a:latin typeface="Arial"/>
              </a:rPr>
              <a:t>ESCENA · S04</a:t>
            </a:r>
          </a:p>
        </p:txBody>
      </p:sp>
      <p:sp>
        <p:nvSpPr>
          <p:cNvPr id="65"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Una consulta (Q) se compara con cada clave (K) · el softmax convierte los puntajes en pesos · los valores (V) se mezclan · termina en softmax(QKᵀ/√d)V</a:t>
            </a:r>
          </a:p>
        </p:txBody>
      </p:sp>
      <p:sp>
        <p:nvSpPr>
          <p:cNvPr id="66"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4 · IA para la investigación · Vaswani et al. (2017)</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1 · CÓMO FUNCIONAN</a:t>
            </a:r>
          </a:p>
        </p:txBody>
      </p:sp>
      <p:sp>
        <p:nvSpPr>
          <p:cNvPr id="61" name="Judge tag"/>
          <p:cNvSpPr txBox="1"/>
          <p:nvPr/>
        </p:nvSpPr>
        <p:spPr>
          <a:xfrm>
            <a:off x="6949440" y="1691640"/>
            <a:ext cx="5852160" cy="365760"/>
          </a:xfrm>
          <a:prstGeom prst="rect">
            <a:avLst/>
          </a:prstGeom>
          <a:noFill/>
        </p:spPr>
        <p:txBody>
          <a:bodyPr wrap="square" lIns="0" rIns="0" tIns="0" bIns="0" anchor="t">
            <a:spAutoFit/>
          </a:bodyPr>
          <a:lstStyle/>
          <a:p>
            <a:pPr algn="r"/>
            <a:r>
              <a:rPr sz="1700" b="1" i="0">
                <a:solidFill>
                  <a:srgbClr val="757070"/>
                </a:solidFill>
                <a:latin typeface="Arial"/>
              </a:rPr>
              <a:t>JUEZ · </a:t>
            </a:r>
            <a:r>
              <a:rPr sz="1700" b="1" i="0">
                <a:solidFill>
                  <a:srgbClr val="A8600A"/>
                </a:solidFill>
                <a:latin typeface="Arial"/>
              </a:rPr>
              <a:t>EL TOKEN, LUEGO LOS HUMANOS</a:t>
            </a:r>
          </a:p>
        </p:txBody>
      </p:sp>
      <p:sp>
        <p:nvSpPr>
          <p:cNvPr id="62"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De simulador a asistente: en cada etapa cambia el juez</a:t>
            </a:r>
          </a:p>
        </p:txBody>
      </p:sp>
      <p:sp>
        <p:nvSpPr>
          <p:cNvPr id="63" name="Rounded Rectangle 62"/>
          <p:cNvSpPr/>
          <p:nvPr/>
        </p:nvSpPr>
        <p:spPr>
          <a:xfrm>
            <a:off x="1600200" y="3886200"/>
            <a:ext cx="4785360" cy="31089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920240" y="4160520"/>
            <a:ext cx="4145280" cy="2651760"/>
          </a:xfrm>
          <a:prstGeom prst="rect">
            <a:avLst/>
          </a:prstGeom>
          <a:noFill/>
        </p:spPr>
        <p:txBody>
          <a:bodyPr wrap="square" lIns="0" rIns="0" tIns="0" bIns="0" anchor="t">
            <a:spAutoFit/>
          </a:bodyPr>
          <a:lstStyle/>
          <a:p>
            <a:pPr algn="l">
              <a:spcAft>
                <a:spcPts val="800"/>
              </a:spcAft>
            </a:pPr>
            <a:r>
              <a:rPr sz="2600" b="1" i="0">
                <a:solidFill>
                  <a:srgbClr val="073763"/>
                </a:solidFill>
                <a:latin typeface="Arial"/>
              </a:rPr>
              <a:t>1 · Preentrenamiento</a:t>
            </a:r>
          </a:p>
          <a:p>
            <a:pPr algn="l">
              <a:spcAft>
                <a:spcPts val="800"/>
              </a:spcAft>
            </a:pPr>
            <a:r>
              <a:rPr sz="2200" b="1" i="0">
                <a:solidFill>
                  <a:srgbClr val="A8600A"/>
                </a:solidFill>
                <a:latin typeface="Arial"/>
              </a:rPr>
              <a:t>Juez: el siguiente token</a:t>
            </a:r>
          </a:p>
          <a:p>
            <a:pPr algn="l">
              <a:spcAft>
                <a:spcPts val="800"/>
              </a:spcAft>
            </a:pPr>
            <a:r>
              <a:rPr sz="2200" b="0" i="0">
                <a:solidFill>
                  <a:srgbClr val="4A4F57"/>
                </a:solidFill>
                <a:latin typeface="Arial"/>
              </a:rPr>
              <a:t>Billones de tokens de texto. El resultado completa documentos, pero no sigue instrucciones.</a:t>
            </a:r>
          </a:p>
        </p:txBody>
      </p:sp>
      <p:sp>
        <p:nvSpPr>
          <p:cNvPr id="65" name="Rounded Rectangle 64"/>
          <p:cNvSpPr/>
          <p:nvPr/>
        </p:nvSpPr>
        <p:spPr>
          <a:xfrm>
            <a:off x="6751320" y="3886200"/>
            <a:ext cx="4785360" cy="31089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7071360" y="4160520"/>
            <a:ext cx="4145280" cy="2651760"/>
          </a:xfrm>
          <a:prstGeom prst="rect">
            <a:avLst/>
          </a:prstGeom>
          <a:noFill/>
        </p:spPr>
        <p:txBody>
          <a:bodyPr wrap="square" lIns="0" rIns="0" tIns="0" bIns="0" anchor="t">
            <a:spAutoFit/>
          </a:bodyPr>
          <a:lstStyle/>
          <a:p>
            <a:pPr algn="l">
              <a:spcAft>
                <a:spcPts val="800"/>
              </a:spcAft>
            </a:pPr>
            <a:r>
              <a:rPr sz="2600" b="1" i="0">
                <a:solidFill>
                  <a:srgbClr val="073763"/>
                </a:solidFill>
                <a:latin typeface="Arial"/>
              </a:rPr>
              <a:t>2 · Ajuste fino (SFT)</a:t>
            </a:r>
          </a:p>
          <a:p>
            <a:pPr algn="l">
              <a:spcAft>
                <a:spcPts val="800"/>
              </a:spcAft>
            </a:pPr>
            <a:r>
              <a:rPr sz="2200" b="1" i="0">
                <a:solidFill>
                  <a:srgbClr val="A8600A"/>
                </a:solidFill>
                <a:latin typeface="Arial"/>
              </a:rPr>
              <a:t>Juez: ejemplos escritos por humanos</a:t>
            </a:r>
          </a:p>
          <a:p>
            <a:pPr algn="l">
              <a:spcAft>
                <a:spcPts val="800"/>
              </a:spcAft>
            </a:pPr>
            <a:r>
              <a:rPr sz="2200" b="0" i="0">
                <a:solidFill>
                  <a:srgbClr val="4A4F57"/>
                </a:solidFill>
                <a:latin typeface="Arial"/>
              </a:rPr>
              <a:t>Conversaciones modelo. Aprende el formato y el rol de asistente.</a:t>
            </a:r>
          </a:p>
        </p:txBody>
      </p:sp>
      <p:sp>
        <p:nvSpPr>
          <p:cNvPr id="67" name="Rounded Rectangle 66"/>
          <p:cNvSpPr/>
          <p:nvPr/>
        </p:nvSpPr>
        <p:spPr>
          <a:xfrm>
            <a:off x="11902440" y="3886200"/>
            <a:ext cx="4785360" cy="31089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12222480" y="4160520"/>
            <a:ext cx="4145280" cy="2651760"/>
          </a:xfrm>
          <a:prstGeom prst="rect">
            <a:avLst/>
          </a:prstGeom>
          <a:noFill/>
        </p:spPr>
        <p:txBody>
          <a:bodyPr wrap="square" lIns="0" rIns="0" tIns="0" bIns="0" anchor="t">
            <a:spAutoFit/>
          </a:bodyPr>
          <a:lstStyle/>
          <a:p>
            <a:pPr algn="l">
              <a:spcAft>
                <a:spcPts val="800"/>
              </a:spcAft>
            </a:pPr>
            <a:r>
              <a:rPr sz="2600" b="1" i="0">
                <a:solidFill>
                  <a:srgbClr val="073763"/>
                </a:solidFill>
                <a:latin typeface="Arial"/>
              </a:rPr>
              <a:t>3 · RLHF</a:t>
            </a:r>
          </a:p>
          <a:p>
            <a:pPr algn="l">
              <a:spcAft>
                <a:spcPts val="800"/>
              </a:spcAft>
            </a:pPr>
            <a:r>
              <a:rPr sz="2200" b="1" i="0">
                <a:solidFill>
                  <a:srgbClr val="A8600A"/>
                </a:solidFill>
                <a:latin typeface="Arial"/>
              </a:rPr>
              <a:t>Juez: las preferencias humanas</a:t>
            </a:r>
          </a:p>
          <a:p>
            <a:pPr algn="l">
              <a:spcAft>
                <a:spcPts val="800"/>
              </a:spcAft>
            </a:pPr>
            <a:r>
              <a:rPr sz="2200" b="0" i="0">
                <a:solidFill>
                  <a:srgbClr val="4A4F57"/>
                </a:solidFill>
                <a:latin typeface="Arial"/>
              </a:rPr>
              <a:t>¿Respuesta A o B? Moldea utilidad, honestidad y rechazos. No garantiza la verdad.</a:t>
            </a:r>
          </a:p>
        </p:txBody>
      </p:sp>
      <p:sp>
        <p:nvSpPr>
          <p:cNvPr id="69"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5 · IA para la investigación</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1 · CÓMO FUNCIONAN</a:t>
            </a:r>
          </a:p>
        </p:txBody>
      </p:sp>
      <p:sp>
        <p:nvSpPr>
          <p:cNvPr id="61" name="Judge tag"/>
          <p:cNvSpPr txBox="1"/>
          <p:nvPr/>
        </p:nvSpPr>
        <p:spPr>
          <a:xfrm>
            <a:off x="6949440" y="1691640"/>
            <a:ext cx="5852160" cy="365760"/>
          </a:xfrm>
          <a:prstGeom prst="rect">
            <a:avLst/>
          </a:prstGeom>
          <a:noFill/>
        </p:spPr>
        <p:txBody>
          <a:bodyPr wrap="square" lIns="0" rIns="0" tIns="0" bIns="0" anchor="t">
            <a:spAutoFit/>
          </a:bodyPr>
          <a:lstStyle/>
          <a:p>
            <a:pPr algn="r"/>
            <a:r>
              <a:rPr sz="1700" b="1" i="0">
                <a:solidFill>
                  <a:srgbClr val="757070"/>
                </a:solidFill>
                <a:latin typeface="Arial"/>
              </a:rPr>
              <a:t>JUEZ · </a:t>
            </a:r>
            <a:r>
              <a:rPr sz="1700" b="1" i="0">
                <a:solidFill>
                  <a:srgbClr val="A8600A"/>
                </a:solidFill>
                <a:latin typeface="Arial"/>
              </a:rPr>
              <a:t>UN VERIFICADOR</a:t>
            </a:r>
          </a:p>
        </p:txBody>
      </p:sp>
      <p:sp>
        <p:nvSpPr>
          <p:cNvPr id="62"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Con un verificador como juez, los modelos aprendieron a razonar paso a paso</a:t>
            </a:r>
          </a:p>
        </p:txBody>
      </p:sp>
      <p:sp>
        <p:nvSpPr>
          <p:cNvPr id="63"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Figure tag"/>
          <p:cNvSpPr/>
          <p:nvPr/>
        </p:nvSpPr>
        <p:spPr>
          <a:xfrm>
            <a:off x="7936992" y="4686300"/>
            <a:ext cx="2414016" cy="45720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936992" y="4686300"/>
            <a:ext cx="2414016" cy="457200"/>
          </a:xfrm>
          <a:prstGeom prst="rect">
            <a:avLst/>
          </a:prstGeom>
          <a:noFill/>
        </p:spPr>
        <p:txBody>
          <a:bodyPr wrap="square" lIns="0" rIns="0" tIns="0" bIns="0" anchor="ctr">
            <a:spAutoFit/>
          </a:bodyPr>
          <a:lstStyle/>
          <a:p>
            <a:pPr algn="ctr"/>
            <a:r>
              <a:rPr sz="1700" b="1" i="0">
                <a:solidFill>
                  <a:srgbClr val="073763"/>
                </a:solidFill>
                <a:latin typeface="Arial"/>
              </a:rPr>
              <a:t>ESCENA · S06</a:t>
            </a:r>
          </a:p>
        </p:txBody>
      </p:sp>
      <p:sp>
        <p:nvSpPr>
          <p:cNvPr id="66"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El modelo genera 8 respuestas · un verificador marca cada una como correcta o incorrecta · con el entrenamiento, la probabilidad se mueve hacia las correctas</a:t>
            </a:r>
          </a:p>
        </p:txBody>
      </p:sp>
      <p:sp>
        <p:nvSpPr>
          <p:cNvPr id="67"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6 · IA para la investigación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1 · CÓMO FUNCIONAN</a:t>
            </a:r>
          </a:p>
        </p:txBody>
      </p:sp>
      <p:sp>
        <p:nvSpPr>
          <p:cNvPr id="61"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Imágenes, audio y video se vuelven tokens que lee el mismo transformer</a:t>
            </a:r>
          </a:p>
        </p:txBody>
      </p:sp>
      <p:sp>
        <p:nvSpPr>
          <p:cNvPr id="62"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Figure tag"/>
          <p:cNvSpPr/>
          <p:nvPr/>
        </p:nvSpPr>
        <p:spPr>
          <a:xfrm>
            <a:off x="7936992" y="4686300"/>
            <a:ext cx="2414016" cy="45720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936992" y="4686300"/>
            <a:ext cx="2414016" cy="457200"/>
          </a:xfrm>
          <a:prstGeom prst="rect">
            <a:avLst/>
          </a:prstGeom>
          <a:noFill/>
        </p:spPr>
        <p:txBody>
          <a:bodyPr wrap="square" lIns="0" rIns="0" tIns="0" bIns="0" anchor="ctr">
            <a:spAutoFit/>
          </a:bodyPr>
          <a:lstStyle/>
          <a:p>
            <a:pPr algn="ctr"/>
            <a:r>
              <a:rPr sz="1700" b="1" i="0">
                <a:solidFill>
                  <a:srgbClr val="073763"/>
                </a:solidFill>
                <a:latin typeface="Arial"/>
              </a:rPr>
              <a:t>ESCENA · S07</a:t>
            </a:r>
          </a:p>
        </p:txBody>
      </p:sp>
      <p:sp>
        <p:nvSpPr>
          <p:cNvPr id="65"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Una imagen se corta en parches · los parches se aplanan en una fila de tokens · la fila entra junto a los tokens de texto al mismo transformer</a:t>
            </a:r>
          </a:p>
        </p:txBody>
      </p:sp>
      <p:sp>
        <p:nvSpPr>
          <p:cNvPr id="66"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7 · IA para la investigación</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2 · AGENTES</a:t>
            </a:r>
          </a:p>
        </p:txBody>
      </p:sp>
      <p:sp>
        <p:nvSpPr>
          <p:cNvPr id="67"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Casi todos probamos chatbots; muy pocos usamos agentes</a:t>
            </a:r>
          </a:p>
        </p:txBody>
      </p:sp>
      <p:sp>
        <p:nvSpPr>
          <p:cNvPr id="68" name="TextBox 67"/>
          <p:cNvSpPr txBox="1"/>
          <p:nvPr/>
        </p:nvSpPr>
        <p:spPr>
          <a:xfrm>
            <a:off x="1600200" y="3977639"/>
            <a:ext cx="6217920" cy="1733550"/>
          </a:xfrm>
          <a:prstGeom prst="rect">
            <a:avLst/>
          </a:prstGeom>
          <a:noFill/>
        </p:spPr>
        <p:txBody>
          <a:bodyPr wrap="square" lIns="0" rIns="0" tIns="0" bIns="0" anchor="t">
            <a:spAutoFit/>
          </a:bodyPr>
          <a:lstStyle/>
          <a:p>
            <a:pPr algn="l">
              <a:lnSpc>
                <a:spcPct val="90000"/>
              </a:lnSpc>
            </a:pPr>
            <a:r>
              <a:rPr sz="13000" b="1" i="0">
                <a:solidFill>
                  <a:srgbClr val="073763"/>
                </a:solidFill>
                <a:latin typeface="Arial"/>
              </a:rPr>
              <a:t>81%</a:t>
            </a:r>
          </a:p>
        </p:txBody>
      </p:sp>
      <p:sp>
        <p:nvSpPr>
          <p:cNvPr id="69" name="TextBox 68"/>
          <p:cNvSpPr txBox="1"/>
          <p:nvPr/>
        </p:nvSpPr>
        <p:spPr>
          <a:xfrm>
            <a:off x="1600200" y="5848350"/>
            <a:ext cx="6217920" cy="1280160"/>
          </a:xfrm>
          <a:prstGeom prst="rect">
            <a:avLst/>
          </a:prstGeom>
          <a:noFill/>
        </p:spPr>
        <p:txBody>
          <a:bodyPr wrap="square" lIns="0" rIns="0" tIns="0" bIns="0" anchor="t">
            <a:spAutoFit/>
          </a:bodyPr>
          <a:lstStyle/>
          <a:p>
            <a:pPr algn="l"/>
            <a:r>
              <a:rPr sz="2600" b="0" i="0">
                <a:solidFill>
                  <a:srgbClr val="4A4F57"/>
                </a:solidFill>
                <a:latin typeface="Arial"/>
              </a:rPr>
              <a:t>probó chatbots de IA para investigar</a:t>
            </a:r>
          </a:p>
        </p:txBody>
      </p:sp>
      <p:sp>
        <p:nvSpPr>
          <p:cNvPr id="70" name="TextBox 69"/>
          <p:cNvSpPr txBox="1"/>
          <p:nvPr/>
        </p:nvSpPr>
        <p:spPr>
          <a:xfrm>
            <a:off x="8549640" y="3977639"/>
            <a:ext cx="6217920" cy="1733550"/>
          </a:xfrm>
          <a:prstGeom prst="rect">
            <a:avLst/>
          </a:prstGeom>
          <a:noFill/>
        </p:spPr>
        <p:txBody>
          <a:bodyPr wrap="square" lIns="0" rIns="0" tIns="0" bIns="0" anchor="t">
            <a:spAutoFit/>
          </a:bodyPr>
          <a:lstStyle/>
          <a:p>
            <a:pPr algn="l">
              <a:lnSpc>
                <a:spcPct val="90000"/>
              </a:lnSpc>
            </a:pPr>
            <a:r>
              <a:rPr sz="13000" b="1" i="0">
                <a:solidFill>
                  <a:srgbClr val="A8600A"/>
                </a:solidFill>
                <a:latin typeface="Arial"/>
              </a:rPr>
              <a:t>20%</a:t>
            </a:r>
          </a:p>
        </p:txBody>
      </p:sp>
      <p:sp>
        <p:nvSpPr>
          <p:cNvPr id="71" name="TextBox 70"/>
          <p:cNvSpPr txBox="1"/>
          <p:nvPr/>
        </p:nvSpPr>
        <p:spPr>
          <a:xfrm>
            <a:off x="8549640" y="5848350"/>
            <a:ext cx="6217920" cy="1280160"/>
          </a:xfrm>
          <a:prstGeom prst="rect">
            <a:avLst/>
          </a:prstGeom>
          <a:noFill/>
        </p:spPr>
        <p:txBody>
          <a:bodyPr wrap="square" lIns="0" rIns="0" tIns="0" bIns="0" anchor="t">
            <a:spAutoFit/>
          </a:bodyPr>
          <a:lstStyle/>
          <a:p>
            <a:pPr algn="l"/>
            <a:r>
              <a:rPr sz="2600" b="0" i="0">
                <a:solidFill>
                  <a:srgbClr val="4A4F57"/>
                </a:solidFill>
                <a:latin typeface="Arial"/>
              </a:rPr>
              <a:t>usa agentes de código más de una vez por semana</a:t>
            </a:r>
          </a:p>
        </p:txBody>
      </p:sp>
      <p:sp>
        <p:nvSpPr>
          <p:cNvPr id="72" name="Footer"/>
          <p:cNvSpPr txBox="1"/>
          <p:nvPr/>
        </p:nvSpPr>
        <p:spPr>
          <a:xfrm>
            <a:off x="1600200" y="8732520"/>
            <a:ext cx="13258800" cy="411480"/>
          </a:xfrm>
          <a:prstGeom prst="rect">
            <a:avLst/>
          </a:prstGeom>
          <a:noFill/>
        </p:spPr>
        <p:txBody>
          <a:bodyPr wrap="square" lIns="0" rIns="0" tIns="0" bIns="0" anchor="t">
            <a:spAutoFit/>
          </a:bodyPr>
          <a:lstStyle/>
          <a:p>
            <a:pPr algn="l"/>
            <a:r>
              <a:rPr sz="1600" b="0" i="0">
                <a:solidFill>
                  <a:srgbClr val="757070"/>
                </a:solidFill>
                <a:latin typeface="Arial"/>
              </a:rPr>
              <a:t>8 · Lyttelton, Massenkoff y Wilmers (2026), encuesta a 1,260 científicos sociales · muestra no representativa</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2 · AGENTES</a:t>
            </a:r>
          </a:p>
        </p:txBody>
      </p:sp>
      <p:sp>
        <p:nvSpPr>
          <p:cNvPr id="67" name="Judge tag"/>
          <p:cNvSpPr txBox="1"/>
          <p:nvPr/>
        </p:nvSpPr>
        <p:spPr>
          <a:xfrm>
            <a:off x="6949440" y="1691640"/>
            <a:ext cx="5852160" cy="365760"/>
          </a:xfrm>
          <a:prstGeom prst="rect">
            <a:avLst/>
          </a:prstGeom>
          <a:noFill/>
        </p:spPr>
        <p:txBody>
          <a:bodyPr wrap="square" lIns="0" rIns="0" tIns="0" bIns="0" anchor="t">
            <a:spAutoFit/>
          </a:bodyPr>
          <a:lstStyle/>
          <a:p>
            <a:pPr algn="r"/>
            <a:r>
              <a:rPr sz="1700" b="1" i="0">
                <a:solidFill>
                  <a:srgbClr val="757070"/>
                </a:solidFill>
                <a:latin typeface="Arial"/>
              </a:rPr>
              <a:t>JUEZ · </a:t>
            </a:r>
            <a:r>
              <a:rPr sz="1700" b="1" i="0">
                <a:solidFill>
                  <a:srgbClr val="A8600A"/>
                </a:solidFill>
                <a:latin typeface="Arial"/>
              </a:rPr>
              <a:t>LAS HERRAMIENTAS</a:t>
            </a:r>
          </a:p>
        </p:txBody>
      </p:sp>
      <p:sp>
        <p:nvSpPr>
          <p:cNvPr id="68"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Un agente cierra el ciclo con el mundo: las herramientas le responden</a:t>
            </a:r>
          </a:p>
        </p:txBody>
      </p:sp>
      <p:sp>
        <p:nvSpPr>
          <p:cNvPr id="69"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Figure tag"/>
          <p:cNvSpPr/>
          <p:nvPr/>
        </p:nvSpPr>
        <p:spPr>
          <a:xfrm>
            <a:off x="6926580" y="4686300"/>
            <a:ext cx="4434840" cy="45720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6926580" y="4686300"/>
            <a:ext cx="4434840" cy="457200"/>
          </a:xfrm>
          <a:prstGeom prst="rect">
            <a:avLst/>
          </a:prstGeom>
          <a:noFill/>
        </p:spPr>
        <p:txBody>
          <a:bodyPr wrap="square" lIns="0" rIns="0" tIns="0" bIns="0" anchor="ctr">
            <a:spAutoFit/>
          </a:bodyPr>
          <a:lstStyle/>
          <a:p>
            <a:pPr algn="ctr"/>
            <a:r>
              <a:rPr sz="1700" b="1" i="0">
                <a:solidFill>
                  <a:srgbClr val="073763"/>
                </a:solidFill>
                <a:latin typeface="Arial"/>
              </a:rPr>
              <a:t>ESCENA · S09 · CICLO BASE</a:t>
            </a:r>
          </a:p>
        </p:txBody>
      </p:sp>
      <p:sp>
        <p:nvSpPr>
          <p:cNvPr id="72"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Observar → pensar → actuar → resultado · cada herramienta (búsqueda, código, archivos, APIs) se enciende al usarse · este ciclo se reutiliza en las diapositivas 16 a 18</a:t>
            </a:r>
          </a:p>
        </p:txBody>
      </p:sp>
      <p:sp>
        <p:nvSpPr>
          <p:cNvPr id="73"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9 · IA para la investigación</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2 · AGENTES</a:t>
            </a:r>
          </a:p>
        </p:txBody>
      </p:sp>
      <p:sp>
        <p:nvSpPr>
          <p:cNvPr id="67"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Deep research por dentro: un agente líder reparte la búsqueda entre subagentes</a:t>
            </a:r>
          </a:p>
        </p:txBody>
      </p:sp>
      <p:sp>
        <p:nvSpPr>
          <p:cNvPr id="68" name="Figure placeholder"/>
          <p:cNvSpPr/>
          <p:nvPr/>
        </p:nvSpPr>
        <p:spPr>
          <a:xfrm>
            <a:off x="1600200" y="3886200"/>
            <a:ext cx="15087600" cy="214884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Figure tag"/>
          <p:cNvSpPr/>
          <p:nvPr/>
        </p:nvSpPr>
        <p:spPr>
          <a:xfrm>
            <a:off x="7936992" y="4183380"/>
            <a:ext cx="2414016" cy="45720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7936992" y="4183380"/>
            <a:ext cx="2414016" cy="457200"/>
          </a:xfrm>
          <a:prstGeom prst="rect">
            <a:avLst/>
          </a:prstGeom>
          <a:noFill/>
        </p:spPr>
        <p:txBody>
          <a:bodyPr wrap="square" lIns="0" rIns="0" tIns="0" bIns="0" anchor="ctr">
            <a:spAutoFit/>
          </a:bodyPr>
          <a:lstStyle/>
          <a:p>
            <a:pPr algn="ctr"/>
            <a:r>
              <a:rPr sz="1700" b="1" i="0">
                <a:solidFill>
                  <a:srgbClr val="FFFFFF"/>
                </a:solidFill>
                <a:latin typeface="Arial"/>
              </a:rPr>
              <a:t>FIGURA · F10</a:t>
            </a:r>
          </a:p>
        </p:txBody>
      </p:sp>
      <p:sp>
        <p:nvSpPr>
          <p:cNvPr id="71" name="Figure description"/>
          <p:cNvSpPr txBox="1"/>
          <p:nvPr/>
        </p:nvSpPr>
        <p:spPr>
          <a:xfrm>
            <a:off x="2331720" y="4823459"/>
            <a:ext cx="13624560" cy="1097280"/>
          </a:xfrm>
          <a:prstGeom prst="rect">
            <a:avLst/>
          </a:prstGeom>
          <a:noFill/>
        </p:spPr>
        <p:txBody>
          <a:bodyPr wrap="square" lIns="0" rIns="0" tIns="0" bIns="0" anchor="t">
            <a:spAutoFit/>
          </a:bodyPr>
          <a:lstStyle/>
          <a:p>
            <a:pPr algn="ctr"/>
            <a:r>
              <a:rPr sz="2300" b="0" i="0">
                <a:solidFill>
                  <a:srgbClr val="4A4F57"/>
                </a:solidFill>
                <a:latin typeface="Arial"/>
              </a:rPr>
              <a:t>Pregunta → agente líder (plan en memoria) → 3 a 5 subagentes en paralelo → «¿basta?» → agente de citas → reporte</a:t>
            </a:r>
          </a:p>
        </p:txBody>
      </p:sp>
      <p:sp>
        <p:nvSpPr>
          <p:cNvPr id="72" name="TextBox 71"/>
          <p:cNvSpPr txBox="1"/>
          <p:nvPr/>
        </p:nvSpPr>
        <p:spPr>
          <a:xfrm>
            <a:off x="1600200" y="6217920"/>
            <a:ext cx="3840480" cy="822960"/>
          </a:xfrm>
          <a:prstGeom prst="rect">
            <a:avLst/>
          </a:prstGeom>
          <a:noFill/>
        </p:spPr>
        <p:txBody>
          <a:bodyPr wrap="square" lIns="0" rIns="0" tIns="0" bIns="0" anchor="t">
            <a:spAutoFit/>
          </a:bodyPr>
          <a:lstStyle/>
          <a:p>
            <a:pPr algn="l"/>
            <a:r>
              <a:rPr sz="5600" b="1" i="0">
                <a:solidFill>
                  <a:srgbClr val="A8600A"/>
                </a:solidFill>
                <a:latin typeface="Arial"/>
              </a:rPr>
              <a:t>+90.2%</a:t>
            </a:r>
          </a:p>
        </p:txBody>
      </p:sp>
      <p:sp>
        <p:nvSpPr>
          <p:cNvPr id="73" name="TextBox 72"/>
          <p:cNvSpPr txBox="1"/>
          <p:nvPr/>
        </p:nvSpPr>
        <p:spPr>
          <a:xfrm>
            <a:off x="1600200" y="7040880"/>
            <a:ext cx="3840480" cy="822960"/>
          </a:xfrm>
          <a:prstGeom prst="rect">
            <a:avLst/>
          </a:prstGeom>
          <a:noFill/>
        </p:spPr>
        <p:txBody>
          <a:bodyPr wrap="square" lIns="0" rIns="0" tIns="0" bIns="0" anchor="t">
            <a:spAutoFit/>
          </a:bodyPr>
          <a:lstStyle/>
          <a:p>
            <a:pPr algn="l"/>
            <a:r>
              <a:rPr sz="1900" b="0" i="0">
                <a:solidFill>
                  <a:srgbClr val="4A4F57"/>
                </a:solidFill>
                <a:latin typeface="Arial"/>
              </a:rPr>
              <a:t>mejor que un solo agente en su evaluación interna</a:t>
            </a:r>
          </a:p>
        </p:txBody>
      </p:sp>
      <p:sp>
        <p:nvSpPr>
          <p:cNvPr id="74" name="TextBox 73"/>
          <p:cNvSpPr txBox="1"/>
          <p:nvPr/>
        </p:nvSpPr>
        <p:spPr>
          <a:xfrm>
            <a:off x="5669280" y="6217920"/>
            <a:ext cx="3840480" cy="822960"/>
          </a:xfrm>
          <a:prstGeom prst="rect">
            <a:avLst/>
          </a:prstGeom>
          <a:noFill/>
        </p:spPr>
        <p:txBody>
          <a:bodyPr wrap="square" lIns="0" rIns="0" tIns="0" bIns="0" anchor="t">
            <a:spAutoFit/>
          </a:bodyPr>
          <a:lstStyle/>
          <a:p>
            <a:pPr algn="l"/>
            <a:r>
              <a:rPr sz="5600" b="1" i="0">
                <a:solidFill>
                  <a:srgbClr val="073763"/>
                </a:solidFill>
                <a:latin typeface="Arial"/>
              </a:rPr>
              <a:t>~15×</a:t>
            </a:r>
          </a:p>
        </p:txBody>
      </p:sp>
      <p:sp>
        <p:nvSpPr>
          <p:cNvPr id="75" name="TextBox 74"/>
          <p:cNvSpPr txBox="1"/>
          <p:nvPr/>
        </p:nvSpPr>
        <p:spPr>
          <a:xfrm>
            <a:off x="5669280" y="7040880"/>
            <a:ext cx="3840480" cy="822960"/>
          </a:xfrm>
          <a:prstGeom prst="rect">
            <a:avLst/>
          </a:prstGeom>
          <a:noFill/>
        </p:spPr>
        <p:txBody>
          <a:bodyPr wrap="square" lIns="0" rIns="0" tIns="0" bIns="0" anchor="t">
            <a:spAutoFit/>
          </a:bodyPr>
          <a:lstStyle/>
          <a:p>
            <a:pPr algn="l"/>
            <a:r>
              <a:rPr sz="1900" b="0" i="0">
                <a:solidFill>
                  <a:srgbClr val="4A4F57"/>
                </a:solidFill>
                <a:latin typeface="Arial"/>
              </a:rPr>
              <a:t>más tokens que una conversación de chat</a:t>
            </a:r>
          </a:p>
        </p:txBody>
      </p:sp>
      <p:sp>
        <p:nvSpPr>
          <p:cNvPr id="76" name="TextBox 75"/>
          <p:cNvSpPr txBox="1"/>
          <p:nvPr/>
        </p:nvSpPr>
        <p:spPr>
          <a:xfrm>
            <a:off x="9738360" y="6217920"/>
            <a:ext cx="3840480" cy="822960"/>
          </a:xfrm>
          <a:prstGeom prst="rect">
            <a:avLst/>
          </a:prstGeom>
          <a:noFill/>
        </p:spPr>
        <p:txBody>
          <a:bodyPr wrap="square" lIns="0" rIns="0" tIns="0" bIns="0" anchor="t">
            <a:spAutoFit/>
          </a:bodyPr>
          <a:lstStyle/>
          <a:p>
            <a:pPr algn="l"/>
            <a:r>
              <a:rPr sz="5600" b="1" i="0">
                <a:solidFill>
                  <a:srgbClr val="073763"/>
                </a:solidFill>
                <a:latin typeface="Arial"/>
              </a:rPr>
              <a:t>80%</a:t>
            </a:r>
          </a:p>
        </p:txBody>
      </p:sp>
      <p:sp>
        <p:nvSpPr>
          <p:cNvPr id="77" name="TextBox 76"/>
          <p:cNvSpPr txBox="1"/>
          <p:nvPr/>
        </p:nvSpPr>
        <p:spPr>
          <a:xfrm>
            <a:off x="9738360" y="7040880"/>
            <a:ext cx="3840480" cy="822960"/>
          </a:xfrm>
          <a:prstGeom prst="rect">
            <a:avLst/>
          </a:prstGeom>
          <a:noFill/>
        </p:spPr>
        <p:txBody>
          <a:bodyPr wrap="square" lIns="0" rIns="0" tIns="0" bIns="0" anchor="t">
            <a:spAutoFit/>
          </a:bodyPr>
          <a:lstStyle/>
          <a:p>
            <a:pPr algn="l"/>
            <a:r>
              <a:rPr sz="1900" b="0" i="0">
                <a:solidFill>
                  <a:srgbClr val="4A4F57"/>
                </a:solidFill>
                <a:latin typeface="Arial"/>
              </a:rPr>
              <a:t>del desempeño lo explica solo el uso de tokens</a:t>
            </a:r>
          </a:p>
        </p:txBody>
      </p:sp>
      <p:sp>
        <p:nvSpPr>
          <p:cNvPr id="78" name="Footer"/>
          <p:cNvSpPr txBox="1"/>
          <p:nvPr/>
        </p:nvSpPr>
        <p:spPr>
          <a:xfrm>
            <a:off x="1600200" y="8732520"/>
            <a:ext cx="10515600" cy="411480"/>
          </a:xfrm>
          <a:prstGeom prst="rect">
            <a:avLst/>
          </a:prstGeom>
          <a:noFill/>
        </p:spPr>
        <p:txBody>
          <a:bodyPr wrap="square" lIns="0" rIns="0" tIns="0" bIns="0" anchor="t">
            <a:spAutoFit/>
          </a:bodyPr>
          <a:lstStyle/>
          <a:p>
            <a:pPr algn="l"/>
            <a:r>
              <a:rPr sz="1600" b="0" i="0">
                <a:solidFill>
                  <a:srgbClr val="757070"/>
                </a:solidFill>
                <a:latin typeface="Arial"/>
              </a:rPr>
              <a:t>10 · Hadfield et al. (2025), How we built our multi-agent research system, Anthropic</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3 · HARNESS Y SKILLS</a:t>
            </a:r>
          </a:p>
        </p:txBody>
      </p:sp>
      <p:sp>
        <p:nvSpPr>
          <p:cNvPr id="73"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El modelo es el motor; el harness es el carro</a:t>
            </a:r>
          </a:p>
        </p:txBody>
      </p:sp>
      <p:sp>
        <p:nvSpPr>
          <p:cNvPr id="74"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Figure tag"/>
          <p:cNvSpPr/>
          <p:nvPr/>
        </p:nvSpPr>
        <p:spPr>
          <a:xfrm>
            <a:off x="7936992" y="4686300"/>
            <a:ext cx="2414016" cy="45720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7936992" y="4686300"/>
            <a:ext cx="2414016" cy="457200"/>
          </a:xfrm>
          <a:prstGeom prst="rect">
            <a:avLst/>
          </a:prstGeom>
          <a:noFill/>
        </p:spPr>
        <p:txBody>
          <a:bodyPr wrap="square" lIns="0" rIns="0" tIns="0" bIns="0" anchor="ctr">
            <a:spAutoFit/>
          </a:bodyPr>
          <a:lstStyle/>
          <a:p>
            <a:pPr algn="ctr"/>
            <a:r>
              <a:rPr sz="1700" b="1" i="0">
                <a:solidFill>
                  <a:srgbClr val="FFFFFF"/>
                </a:solidFill>
                <a:latin typeface="Arial"/>
              </a:rPr>
              <a:t>FIGURA · F11</a:t>
            </a:r>
          </a:p>
        </p:txBody>
      </p:sp>
      <p:sp>
        <p:nvSpPr>
          <p:cNvPr id="77"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El modelo al centro; a su alrededor: instrucciones (CLAUDE.md / AGENTS.md), contexto, herramientas, skills, permisos y verificación, esta última en ámbar</a:t>
            </a:r>
          </a:p>
        </p:txBody>
      </p:sp>
      <p:sp>
        <p:nvSpPr>
          <p:cNvPr id="78"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11 · IA para la investigación · Lopopolo (2026), OpenAI · Böckeler (2026), Thoughtworks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3 · HARNESS Y SKILLS</a:t>
            </a:r>
          </a:p>
        </p:txBody>
      </p:sp>
      <p:sp>
        <p:nvSpPr>
          <p:cNvPr id="73"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Un skill es una carpeta que el agente abre solo cuando la necesita</a:t>
            </a:r>
          </a:p>
        </p:txBody>
      </p:sp>
      <p:sp>
        <p:nvSpPr>
          <p:cNvPr id="74" name="Rounded Rectangle 73"/>
          <p:cNvSpPr/>
          <p:nvPr/>
        </p:nvSpPr>
        <p:spPr>
          <a:xfrm>
            <a:off x="1600200" y="3886200"/>
            <a:ext cx="7315200" cy="3886200"/>
          </a:xfrm>
          <a:prstGeom prst="roundRect">
            <a:avLst>
              <a:gd name="adj" fmla="val 4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965960" y="4160520"/>
            <a:ext cx="6675120" cy="3291840"/>
          </a:xfrm>
          <a:prstGeom prst="rect">
            <a:avLst/>
          </a:prstGeom>
          <a:noFill/>
        </p:spPr>
        <p:txBody>
          <a:bodyPr wrap="square" lIns="0" rIns="0" tIns="0" bIns="0" anchor="t">
            <a:spAutoFit/>
          </a:bodyPr>
          <a:lstStyle/>
          <a:p>
            <a:pPr algn="l">
              <a:lnSpc>
                <a:spcPct val="102000"/>
              </a:lnSpc>
            </a:pPr>
            <a:r>
              <a:rPr sz="1900" b="0" i="0">
                <a:solidFill>
                  <a:srgbClr val="DFE6EE"/>
                </a:solidFill>
                <a:latin typeface="Courier New"/>
              </a:rPr>
              <a:t>revisar-figura/</a:t>
            </a:r>
          </a:p>
          <a:p>
            <a:pPr algn="l">
              <a:lnSpc>
                <a:spcPct val="102000"/>
              </a:lnSpc>
            </a:pPr>
            <a:r>
              <a:rPr sz="1900" b="0" i="0">
                <a:solidFill>
                  <a:srgbClr val="DFE6EE"/>
                </a:solidFill>
                <a:latin typeface="Courier New"/>
              </a:rPr>
              <a:t>├── </a:t>
            </a:r>
            <a:r>
              <a:rPr sz="1900" b="1" i="0">
                <a:solidFill>
                  <a:srgbClr val="F2A541"/>
                </a:solidFill>
                <a:latin typeface="Courier New"/>
              </a:rPr>
              <a:t>SKILL.md</a:t>
            </a:r>
          </a:p>
          <a:p>
            <a:pPr algn="l">
              <a:lnSpc>
                <a:spcPct val="102000"/>
              </a:lnSpc>
            </a:pPr>
            <a:r>
              <a:rPr sz="1900" b="0" i="0">
                <a:solidFill>
                  <a:srgbClr val="DFE6EE"/>
                </a:solidFill>
                <a:latin typeface="Courier New"/>
              </a:rPr>
              <a:t>├── checklist.md</a:t>
            </a:r>
          </a:p>
          <a:p>
            <a:pPr algn="l">
              <a:lnSpc>
                <a:spcPct val="102000"/>
              </a:lnSpc>
            </a:pPr>
            <a:r>
              <a:rPr sz="1900" b="0" i="0">
                <a:solidFill>
                  <a:srgbClr val="DFE6EE"/>
                </a:solidFill>
                <a:latin typeface="Courier New"/>
              </a:rPr>
              <a:t>└── scripts/</a:t>
            </a:r>
          </a:p>
          <a:p>
            <a:pPr algn="l">
              <a:lnSpc>
                <a:spcPct val="102000"/>
              </a:lnSpc>
            </a:pPr>
            <a:r>
              <a:rPr sz="1900" b="0" i="0">
                <a:solidFill>
                  <a:srgbClr val="DFE6EE"/>
                </a:solidFill>
                <a:latin typeface="Courier New"/>
              </a:rPr>
              <a:t>    └── contraste.py</a:t>
            </a:r>
          </a:p>
          <a:p>
            <a:pPr algn="l">
              <a:lnSpc>
                <a:spcPct val="102000"/>
              </a:lnSpc>
            </a:pPr>
            <a:r>
              <a:rPr sz="1900" b="0" i="0">
                <a:solidFill>
                  <a:srgbClr val="DFE6EE"/>
                </a:solidFill>
                <a:latin typeface="Courier New"/>
              </a:rPr>
              <a:t>---</a:t>
            </a:r>
          </a:p>
          <a:p>
            <a:pPr algn="l">
              <a:lnSpc>
                <a:spcPct val="102000"/>
              </a:lnSpc>
            </a:pPr>
            <a:r>
              <a:rPr sz="1900" b="0" i="0">
                <a:solidFill>
                  <a:srgbClr val="F2A541"/>
                </a:solidFill>
                <a:latin typeface="Courier New"/>
              </a:rPr>
              <a:t>name: </a:t>
            </a:r>
            <a:r>
              <a:rPr sz="1900" b="0" i="0">
                <a:solidFill>
                  <a:srgbClr val="DFE6EE"/>
                </a:solidFill>
                <a:latin typeface="Courier New"/>
              </a:rPr>
              <a:t>revisar-figura</a:t>
            </a:r>
          </a:p>
          <a:p>
            <a:pPr algn="l">
              <a:lnSpc>
                <a:spcPct val="102000"/>
              </a:lnSpc>
            </a:pPr>
            <a:r>
              <a:rPr sz="1900" b="0" i="0">
                <a:solidFill>
                  <a:srgbClr val="F2A541"/>
                </a:solidFill>
                <a:latin typeface="Courier New"/>
              </a:rPr>
              <a:t>description: </a:t>
            </a:r>
            <a:r>
              <a:rPr sz="1900" b="0" i="0">
                <a:solidFill>
                  <a:srgbClr val="DFE6EE"/>
                </a:solidFill>
                <a:latin typeface="Courier New"/>
              </a:rPr>
              <a:t>Revisa una figura</a:t>
            </a:r>
          </a:p>
          <a:p>
            <a:pPr algn="l">
              <a:lnSpc>
                <a:spcPct val="102000"/>
              </a:lnSpc>
            </a:pPr>
            <a:r>
              <a:rPr sz="1900" b="0" i="0">
                <a:solidFill>
                  <a:srgbClr val="DFE6EE"/>
                </a:solidFill>
                <a:latin typeface="Courier New"/>
              </a:rPr>
              <a:t>  científica (ejes, unidades, color,</a:t>
            </a:r>
          </a:p>
          <a:p>
            <a:pPr algn="l">
              <a:lnSpc>
                <a:spcPct val="102000"/>
              </a:lnSpc>
            </a:pPr>
            <a:r>
              <a:rPr sz="1900" b="0" i="0">
                <a:solidFill>
                  <a:srgbClr val="DFE6EE"/>
                </a:solidFill>
                <a:latin typeface="Courier New"/>
              </a:rPr>
              <a:t>  leyenda) antes de enviarla.</a:t>
            </a:r>
          </a:p>
          <a:p>
            <a:pPr algn="l">
              <a:lnSpc>
                <a:spcPct val="102000"/>
              </a:lnSpc>
            </a:pPr>
            <a:r>
              <a:rPr sz="1900" b="0" i="0">
                <a:solidFill>
                  <a:srgbClr val="DFE6EE"/>
                </a:solidFill>
                <a:latin typeface="Courier New"/>
              </a:rPr>
              <a:t>---</a:t>
            </a:r>
          </a:p>
        </p:txBody>
      </p:sp>
      <p:sp>
        <p:nvSpPr>
          <p:cNvPr id="76" name="Rounded Rectangle 75"/>
          <p:cNvSpPr/>
          <p:nvPr/>
        </p:nvSpPr>
        <p:spPr>
          <a:xfrm>
            <a:off x="9326880" y="3886200"/>
            <a:ext cx="7360920" cy="30632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9646919" y="4160520"/>
            <a:ext cx="6720840" cy="2651760"/>
          </a:xfrm>
          <a:prstGeom prst="rect">
            <a:avLst/>
          </a:prstGeom>
          <a:noFill/>
        </p:spPr>
        <p:txBody>
          <a:bodyPr wrap="square" lIns="0" rIns="0" tIns="0" bIns="0" anchor="t">
            <a:spAutoFit/>
          </a:bodyPr>
          <a:lstStyle/>
          <a:p>
            <a:pPr algn="l">
              <a:spcAft>
                <a:spcPts val="1000"/>
              </a:spcAft>
            </a:pPr>
            <a:r>
              <a:rPr sz="2300" b="1" i="0">
                <a:solidFill>
                  <a:srgbClr val="073763"/>
                </a:solidFill>
                <a:latin typeface="Arial"/>
              </a:rPr>
              <a:t>Carga progresiva</a:t>
            </a:r>
          </a:p>
          <a:p>
            <a:pPr algn="l">
              <a:spcAft>
                <a:spcPts val="1000"/>
              </a:spcAft>
            </a:pPr>
            <a:r>
              <a:rPr sz="2100" b="1" i="0">
                <a:solidFill>
                  <a:srgbClr val="A8600A"/>
                </a:solidFill>
                <a:latin typeface="Arial"/>
              </a:rPr>
              <a:t>1 · Al iniciar: </a:t>
            </a:r>
            <a:r>
              <a:rPr sz="2100" b="0" i="0">
                <a:solidFill>
                  <a:srgbClr val="4A4F57"/>
                </a:solidFill>
                <a:latin typeface="Arial"/>
              </a:rPr>
              <a:t>solo el nombre y la descripción de cada skill</a:t>
            </a:r>
          </a:p>
          <a:p>
            <a:pPr algn="l">
              <a:spcAft>
                <a:spcPts val="1000"/>
              </a:spcAft>
            </a:pPr>
            <a:r>
              <a:rPr sz="2100" b="1" i="0">
                <a:solidFill>
                  <a:srgbClr val="A8600A"/>
                </a:solidFill>
                <a:latin typeface="Arial"/>
              </a:rPr>
              <a:t>2 · Si la tarea lo pide: </a:t>
            </a:r>
            <a:r>
              <a:rPr sz="2100" b="0" i="0">
                <a:solidFill>
                  <a:srgbClr val="4A4F57"/>
                </a:solidFill>
                <a:latin typeface="Arial"/>
              </a:rPr>
              <a:t>el SKILL.md completo, con las instrucciones</a:t>
            </a:r>
          </a:p>
          <a:p>
            <a:pPr algn="l">
              <a:spcAft>
                <a:spcPts val="1000"/>
              </a:spcAft>
            </a:pPr>
            <a:r>
              <a:rPr sz="2100" b="1" i="0">
                <a:solidFill>
                  <a:srgbClr val="A8600A"/>
                </a:solidFill>
                <a:latin typeface="Arial"/>
              </a:rPr>
              <a:t>3 · Cuando hace falta: </a:t>
            </a:r>
            <a:r>
              <a:rPr sz="2100" b="0" i="0">
                <a:solidFill>
                  <a:srgbClr val="4A4F57"/>
                </a:solidFill>
                <a:latin typeface="Arial"/>
              </a:rPr>
              <a:t>archivos de referencia y scripts, que corren sin llenar el contexto</a:t>
            </a:r>
          </a:p>
        </p:txBody>
      </p:sp>
      <p:sp>
        <p:nvSpPr>
          <p:cNvPr id="78" name="Footer"/>
          <p:cNvSpPr txBox="1"/>
          <p:nvPr/>
        </p:nvSpPr>
        <p:spPr>
          <a:xfrm>
            <a:off x="1600200" y="8732520"/>
            <a:ext cx="10515600" cy="411480"/>
          </a:xfrm>
          <a:prstGeom prst="rect">
            <a:avLst/>
          </a:prstGeom>
          <a:noFill/>
        </p:spPr>
        <p:txBody>
          <a:bodyPr wrap="square" lIns="0" rIns="0" tIns="0" bIns="0" anchor="t">
            <a:spAutoFit/>
          </a:bodyPr>
          <a:lstStyle/>
          <a:p>
            <a:pPr algn="l"/>
            <a:r>
              <a:rPr sz="1600" b="0" i="0">
                <a:solidFill>
                  <a:srgbClr val="757070"/>
                </a:solidFill>
                <a:latin typeface="Arial"/>
              </a:rPr>
              <a:t>12 · Zhang, Lazuka y Murag (2025), Anthropic · estándar abierto: agentskills.io</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3 · HARNESS Y SKILLS</a:t>
            </a:r>
          </a:p>
        </p:txBody>
      </p:sp>
      <p:sp>
        <p:nvSpPr>
          <p:cNvPr id="73"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Crear un skill: de una tarea repetida a una instrucción reutilizable</a:t>
            </a:r>
          </a:p>
        </p:txBody>
      </p:sp>
      <p:sp>
        <p:nvSpPr>
          <p:cNvPr id="74" name="Rounded Rectangle 73"/>
          <p:cNvSpPr/>
          <p:nvPr/>
        </p:nvSpPr>
        <p:spPr>
          <a:xfrm>
            <a:off x="1600200"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874519" y="4069080"/>
            <a:ext cx="2249424" cy="731520"/>
          </a:xfrm>
          <a:prstGeom prst="rect">
            <a:avLst/>
          </a:prstGeom>
          <a:noFill/>
        </p:spPr>
        <p:txBody>
          <a:bodyPr wrap="square" lIns="0" rIns="0" tIns="0" bIns="0" anchor="t">
            <a:spAutoFit/>
          </a:bodyPr>
          <a:lstStyle/>
          <a:p>
            <a:pPr algn="l"/>
            <a:r>
              <a:rPr sz="4400" b="1" i="0">
                <a:solidFill>
                  <a:srgbClr val="A8600A"/>
                </a:solidFill>
                <a:latin typeface="Arial"/>
              </a:rPr>
              <a:t>1</a:t>
            </a:r>
          </a:p>
        </p:txBody>
      </p:sp>
      <p:sp>
        <p:nvSpPr>
          <p:cNvPr id="76" name="TextBox 75"/>
          <p:cNvSpPr txBox="1"/>
          <p:nvPr/>
        </p:nvSpPr>
        <p:spPr>
          <a:xfrm>
            <a:off x="1874519" y="4800600"/>
            <a:ext cx="2249424" cy="1280160"/>
          </a:xfrm>
          <a:prstGeom prst="rect">
            <a:avLst/>
          </a:prstGeom>
          <a:noFill/>
        </p:spPr>
        <p:txBody>
          <a:bodyPr wrap="square" lIns="0" rIns="0" tIns="0" bIns="0" anchor="t">
            <a:spAutoFit/>
          </a:bodyPr>
          <a:lstStyle/>
          <a:p>
            <a:pPr algn="l"/>
            <a:r>
              <a:rPr sz="2200" b="0" i="0">
                <a:solidFill>
                  <a:srgbClr val="073763"/>
                </a:solidFill>
                <a:latin typeface="Arial"/>
              </a:rPr>
              <a:t>Elige algo que ya hiciste tres veces</a:t>
            </a:r>
          </a:p>
        </p:txBody>
      </p:sp>
      <p:sp>
        <p:nvSpPr>
          <p:cNvPr id="77" name="Rounded Rectangle 76"/>
          <p:cNvSpPr/>
          <p:nvPr/>
        </p:nvSpPr>
        <p:spPr>
          <a:xfrm>
            <a:off x="4672583"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4946903" y="4069080"/>
            <a:ext cx="2249424" cy="731520"/>
          </a:xfrm>
          <a:prstGeom prst="rect">
            <a:avLst/>
          </a:prstGeom>
          <a:noFill/>
        </p:spPr>
        <p:txBody>
          <a:bodyPr wrap="square" lIns="0" rIns="0" tIns="0" bIns="0" anchor="t">
            <a:spAutoFit/>
          </a:bodyPr>
          <a:lstStyle/>
          <a:p>
            <a:pPr algn="l"/>
            <a:r>
              <a:rPr sz="4400" b="1" i="0">
                <a:solidFill>
                  <a:srgbClr val="A8600A"/>
                </a:solidFill>
                <a:latin typeface="Arial"/>
              </a:rPr>
              <a:t>2</a:t>
            </a:r>
          </a:p>
        </p:txBody>
      </p:sp>
      <p:sp>
        <p:nvSpPr>
          <p:cNvPr id="79" name="TextBox 78"/>
          <p:cNvSpPr txBox="1"/>
          <p:nvPr/>
        </p:nvSpPr>
        <p:spPr>
          <a:xfrm>
            <a:off x="4946903" y="4800600"/>
            <a:ext cx="2249424" cy="1280160"/>
          </a:xfrm>
          <a:prstGeom prst="rect">
            <a:avLst/>
          </a:prstGeom>
          <a:noFill/>
        </p:spPr>
        <p:txBody>
          <a:bodyPr wrap="square" lIns="0" rIns="0" tIns="0" bIns="0" anchor="t">
            <a:spAutoFit/>
          </a:bodyPr>
          <a:lstStyle/>
          <a:p>
            <a:pPr algn="l"/>
            <a:r>
              <a:rPr sz="2200" b="0" i="0">
                <a:solidFill>
                  <a:srgbClr val="073763"/>
                </a:solidFill>
                <a:latin typeface="Arial"/>
              </a:rPr>
              <a:t>Escribe los pasos y los errores típicos</a:t>
            </a:r>
          </a:p>
        </p:txBody>
      </p:sp>
      <p:sp>
        <p:nvSpPr>
          <p:cNvPr id="80" name="Rounded Rectangle 79"/>
          <p:cNvSpPr/>
          <p:nvPr/>
        </p:nvSpPr>
        <p:spPr>
          <a:xfrm>
            <a:off x="7744967"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019288" y="4069080"/>
            <a:ext cx="2249424" cy="731520"/>
          </a:xfrm>
          <a:prstGeom prst="rect">
            <a:avLst/>
          </a:prstGeom>
          <a:noFill/>
        </p:spPr>
        <p:txBody>
          <a:bodyPr wrap="square" lIns="0" rIns="0" tIns="0" bIns="0" anchor="t">
            <a:spAutoFit/>
          </a:bodyPr>
          <a:lstStyle/>
          <a:p>
            <a:pPr algn="l"/>
            <a:r>
              <a:rPr sz="4400" b="1" i="0">
                <a:solidFill>
                  <a:srgbClr val="A8600A"/>
                </a:solidFill>
                <a:latin typeface="Arial"/>
              </a:rPr>
              <a:t>3</a:t>
            </a:r>
          </a:p>
        </p:txBody>
      </p:sp>
      <p:sp>
        <p:nvSpPr>
          <p:cNvPr id="82" name="TextBox 81"/>
          <p:cNvSpPr txBox="1"/>
          <p:nvPr/>
        </p:nvSpPr>
        <p:spPr>
          <a:xfrm>
            <a:off x="8019288" y="4800600"/>
            <a:ext cx="2249424" cy="1280160"/>
          </a:xfrm>
          <a:prstGeom prst="rect">
            <a:avLst/>
          </a:prstGeom>
          <a:noFill/>
        </p:spPr>
        <p:txBody>
          <a:bodyPr wrap="square" lIns="0" rIns="0" tIns="0" bIns="0" anchor="t">
            <a:spAutoFit/>
          </a:bodyPr>
          <a:lstStyle/>
          <a:p>
            <a:pPr algn="l"/>
            <a:r>
              <a:rPr sz="2200" b="0" i="0">
                <a:solidFill>
                  <a:srgbClr val="073763"/>
                </a:solidFill>
                <a:latin typeface="Arial"/>
              </a:rPr>
              <a:t>Describe cuándo usarlo: eso lo activa</a:t>
            </a:r>
          </a:p>
        </p:txBody>
      </p:sp>
      <p:sp>
        <p:nvSpPr>
          <p:cNvPr id="83" name="Rounded Rectangle 82"/>
          <p:cNvSpPr/>
          <p:nvPr/>
        </p:nvSpPr>
        <p:spPr>
          <a:xfrm>
            <a:off x="10817352"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1091672" y="4069080"/>
            <a:ext cx="2249424" cy="731520"/>
          </a:xfrm>
          <a:prstGeom prst="rect">
            <a:avLst/>
          </a:prstGeom>
          <a:noFill/>
        </p:spPr>
        <p:txBody>
          <a:bodyPr wrap="square" lIns="0" rIns="0" tIns="0" bIns="0" anchor="t">
            <a:spAutoFit/>
          </a:bodyPr>
          <a:lstStyle/>
          <a:p>
            <a:pPr algn="l"/>
            <a:r>
              <a:rPr sz="4400" b="1" i="0">
                <a:solidFill>
                  <a:srgbClr val="A8600A"/>
                </a:solidFill>
                <a:latin typeface="Arial"/>
              </a:rPr>
              <a:t>4</a:t>
            </a:r>
          </a:p>
        </p:txBody>
      </p:sp>
      <p:sp>
        <p:nvSpPr>
          <p:cNvPr id="85" name="TextBox 84"/>
          <p:cNvSpPr txBox="1"/>
          <p:nvPr/>
        </p:nvSpPr>
        <p:spPr>
          <a:xfrm>
            <a:off x="11091672" y="4800600"/>
            <a:ext cx="2249424" cy="1280160"/>
          </a:xfrm>
          <a:prstGeom prst="rect">
            <a:avLst/>
          </a:prstGeom>
          <a:noFill/>
        </p:spPr>
        <p:txBody>
          <a:bodyPr wrap="square" lIns="0" rIns="0" tIns="0" bIns="0" anchor="t">
            <a:spAutoFit/>
          </a:bodyPr>
          <a:lstStyle/>
          <a:p>
            <a:pPr algn="l"/>
            <a:r>
              <a:rPr sz="2200" b="0" i="0">
                <a:solidFill>
                  <a:srgbClr val="073763"/>
                </a:solidFill>
                <a:latin typeface="Arial"/>
              </a:rPr>
              <a:t>Pasa lo mecánico a un script</a:t>
            </a:r>
          </a:p>
        </p:txBody>
      </p:sp>
      <p:sp>
        <p:nvSpPr>
          <p:cNvPr id="86" name="Rounded Rectangle 85"/>
          <p:cNvSpPr/>
          <p:nvPr/>
        </p:nvSpPr>
        <p:spPr>
          <a:xfrm>
            <a:off x="13889736"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14164056" y="4069080"/>
            <a:ext cx="2249424" cy="731520"/>
          </a:xfrm>
          <a:prstGeom prst="rect">
            <a:avLst/>
          </a:prstGeom>
          <a:noFill/>
        </p:spPr>
        <p:txBody>
          <a:bodyPr wrap="square" lIns="0" rIns="0" tIns="0" bIns="0" anchor="t">
            <a:spAutoFit/>
          </a:bodyPr>
          <a:lstStyle/>
          <a:p>
            <a:pPr algn="l"/>
            <a:r>
              <a:rPr sz="4400" b="1" i="0">
                <a:solidFill>
                  <a:srgbClr val="A8600A"/>
                </a:solidFill>
                <a:latin typeface="Arial"/>
              </a:rPr>
              <a:t>5</a:t>
            </a:r>
          </a:p>
        </p:txBody>
      </p:sp>
      <p:sp>
        <p:nvSpPr>
          <p:cNvPr id="88" name="TextBox 87"/>
          <p:cNvSpPr txBox="1"/>
          <p:nvPr/>
        </p:nvSpPr>
        <p:spPr>
          <a:xfrm>
            <a:off x="14164056" y="4800600"/>
            <a:ext cx="2249424" cy="1280160"/>
          </a:xfrm>
          <a:prstGeom prst="rect">
            <a:avLst/>
          </a:prstGeom>
          <a:noFill/>
        </p:spPr>
        <p:txBody>
          <a:bodyPr wrap="square" lIns="0" rIns="0" tIns="0" bIns="0" anchor="t">
            <a:spAutoFit/>
          </a:bodyPr>
          <a:lstStyle/>
          <a:p>
            <a:pPr algn="l"/>
            <a:r>
              <a:rPr sz="2200" b="0" i="0">
                <a:solidFill>
                  <a:srgbClr val="073763"/>
                </a:solidFill>
                <a:latin typeface="Arial"/>
              </a:rPr>
              <a:t>Pruébalo en tres casos reales e itera</a:t>
            </a:r>
          </a:p>
        </p:txBody>
      </p:sp>
      <p:sp>
        <p:nvSpPr>
          <p:cNvPr id="89" name="Rounded Rectangle 88"/>
          <p:cNvSpPr/>
          <p:nvPr/>
        </p:nvSpPr>
        <p:spPr>
          <a:xfrm>
            <a:off x="1600200" y="6537960"/>
            <a:ext cx="12710160" cy="731520"/>
          </a:xfrm>
          <a:prstGeom prst="roundRect">
            <a:avLst>
              <a:gd name="adj" fmla="val 12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1920240" y="6537960"/>
            <a:ext cx="12161520" cy="731520"/>
          </a:xfrm>
          <a:prstGeom prst="rect">
            <a:avLst/>
          </a:prstGeom>
          <a:noFill/>
        </p:spPr>
        <p:txBody>
          <a:bodyPr wrap="square" lIns="0" rIns="0" tIns="0" bIns="0" anchor="ctr">
            <a:spAutoFit/>
          </a:bodyPr>
          <a:lstStyle/>
          <a:p>
            <a:pPr algn="l"/>
            <a:r>
              <a:rPr sz="1800" b="0" i="0">
                <a:solidFill>
                  <a:srgbClr val="DFE6EE"/>
                </a:solidFill>
                <a:latin typeface="Courier New"/>
              </a:rPr>
              <a:t>Demo · «Crea un skill revisar-figura con estos pasos y pruébalo con esta figura»</a:t>
            </a:r>
          </a:p>
        </p:txBody>
      </p:sp>
      <p:sp>
        <p:nvSpPr>
          <p:cNvPr id="91" name="Footer"/>
          <p:cNvSpPr txBox="1"/>
          <p:nvPr/>
        </p:nvSpPr>
        <p:spPr>
          <a:xfrm>
            <a:off x="1600200" y="8732520"/>
            <a:ext cx="11430000" cy="411480"/>
          </a:xfrm>
          <a:prstGeom prst="rect">
            <a:avLst/>
          </a:prstGeom>
          <a:noFill/>
        </p:spPr>
        <p:txBody>
          <a:bodyPr wrap="square" lIns="0" rIns="0" tIns="0" bIns="0" anchor="t">
            <a:spAutoFit/>
          </a:bodyPr>
          <a:lstStyle/>
          <a:p>
            <a:pPr algn="l"/>
            <a:r>
              <a:rPr sz="1600" b="0" i="0">
                <a:solidFill>
                  <a:srgbClr val="757070"/>
                </a:solidFill>
                <a:latin typeface="Arial"/>
              </a:rPr>
              <a:t>13 · IA para la investigación · Buenas prácticas: Zhang, Lazuka y Murag (2025), Anthropic</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3 · HARNESS Y SKILLS</a:t>
            </a:r>
          </a:p>
        </p:txBody>
      </p:sp>
      <p:sp>
        <p:nvSpPr>
          <p:cNvPr id="73"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No empieces de cero: ya hay skills para investigar</a:t>
            </a:r>
          </a:p>
        </p:txBody>
      </p:sp>
      <p:sp>
        <p:nvSpPr>
          <p:cNvPr id="74" name="Rounded Rectangle 73"/>
          <p:cNvSpPr/>
          <p:nvPr/>
        </p:nvSpPr>
        <p:spPr>
          <a:xfrm>
            <a:off x="1600200" y="3886200"/>
            <a:ext cx="4785360" cy="27889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920240" y="4160520"/>
            <a:ext cx="4145280" cy="2331720"/>
          </a:xfrm>
          <a:prstGeom prst="rect">
            <a:avLst/>
          </a:prstGeom>
          <a:noFill/>
        </p:spPr>
        <p:txBody>
          <a:bodyPr wrap="square" lIns="0" rIns="0" tIns="0" bIns="0" anchor="t">
            <a:spAutoFit/>
          </a:bodyPr>
          <a:lstStyle/>
          <a:p>
            <a:pPr algn="l">
              <a:spcAft>
                <a:spcPts val="800"/>
              </a:spcAft>
            </a:pPr>
            <a:r>
              <a:rPr sz="2600" b="1" i="0">
                <a:solidFill>
                  <a:srgbClr val="1565C0"/>
                </a:solidFill>
                <a:latin typeface="Arial"/>
              </a:rPr>
              <a:t>Revisar papers</a:t>
            </a:r>
          </a:p>
          <a:p>
            <a:pPr algn="l">
              <a:spcAft>
                <a:spcPts val="800"/>
              </a:spcAft>
            </a:pPr>
            <a:r>
              <a:rPr sz="2200" b="0" i="0">
                <a:solidFill>
                  <a:srgbClr val="4A4F57"/>
                </a:solidFill>
                <a:latin typeface="Arial"/>
              </a:rPr>
              <a:t>/review-paper de Bäckman: varios agentes revisores escriben un reporte de árbitro en 10 a 15 minutos (licencia MIT)</a:t>
            </a:r>
          </a:p>
        </p:txBody>
      </p:sp>
      <p:sp>
        <p:nvSpPr>
          <p:cNvPr id="76" name="Rounded Rectangle 75"/>
          <p:cNvSpPr/>
          <p:nvPr/>
        </p:nvSpPr>
        <p:spPr>
          <a:xfrm>
            <a:off x="6751320" y="3886200"/>
            <a:ext cx="4785360" cy="27889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7071360" y="4160520"/>
            <a:ext cx="4145280" cy="2331720"/>
          </a:xfrm>
          <a:prstGeom prst="rect">
            <a:avLst/>
          </a:prstGeom>
          <a:noFill/>
        </p:spPr>
        <p:txBody>
          <a:bodyPr wrap="square" lIns="0" rIns="0" tIns="0" bIns="0" anchor="t">
            <a:spAutoFit/>
          </a:bodyPr>
          <a:lstStyle/>
          <a:p>
            <a:pPr algn="l">
              <a:spcAft>
                <a:spcPts val="800"/>
              </a:spcAft>
            </a:pPr>
            <a:r>
              <a:rPr sz="2600" b="1" i="0">
                <a:solidFill>
                  <a:srgbClr val="1565C0"/>
                </a:solidFill>
                <a:latin typeface="Arial"/>
              </a:rPr>
              <a:t>Ciencias de la vida</a:t>
            </a:r>
          </a:p>
          <a:p>
            <a:pPr algn="l">
              <a:spcAft>
                <a:spcPts val="800"/>
              </a:spcAft>
            </a:pPr>
            <a:r>
              <a:rPr sz="2200" b="0" i="0">
                <a:solidFill>
                  <a:srgbClr val="4A4F57"/>
                </a:solidFill>
                <a:latin typeface="Arial"/>
              </a:rPr>
              <a:t>claude-scientific-skills de K-Dense: conecta al agente con bases como PubMed, ChEMBL y UniProt</a:t>
            </a:r>
          </a:p>
        </p:txBody>
      </p:sp>
      <p:sp>
        <p:nvSpPr>
          <p:cNvPr id="78" name="Rounded Rectangle 77"/>
          <p:cNvSpPr/>
          <p:nvPr/>
        </p:nvSpPr>
        <p:spPr>
          <a:xfrm>
            <a:off x="11902440" y="3886200"/>
            <a:ext cx="4785360" cy="27889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2222480" y="4160520"/>
            <a:ext cx="4145280" cy="2331720"/>
          </a:xfrm>
          <a:prstGeom prst="rect">
            <a:avLst/>
          </a:prstGeom>
          <a:noFill/>
        </p:spPr>
        <p:txBody>
          <a:bodyPr wrap="square" lIns="0" rIns="0" tIns="0" bIns="0" anchor="t">
            <a:spAutoFit/>
          </a:bodyPr>
          <a:lstStyle/>
          <a:p>
            <a:pPr algn="l">
              <a:spcAft>
                <a:spcPts val="800"/>
              </a:spcAft>
            </a:pPr>
            <a:r>
              <a:rPr sz="2600" b="1" i="0">
                <a:solidFill>
                  <a:srgbClr val="1565C0"/>
                </a:solidFill>
                <a:latin typeface="Arial"/>
              </a:rPr>
              <a:t>Experimentos</a:t>
            </a:r>
          </a:p>
          <a:p>
            <a:pPr algn="l">
              <a:spcAft>
                <a:spcPts val="800"/>
              </a:spcAft>
            </a:pPr>
            <a:r>
              <a:rPr sz="2200" b="0" i="0">
                <a:solidFill>
                  <a:srgbClr val="4A4F57"/>
                </a:solidFill>
                <a:latin typeface="Arial"/>
              </a:rPr>
              <a:t>autoresearch empaquetado como skill: el ciclo de proponer, correr y evaluar para cualquier métrica</a:t>
            </a:r>
          </a:p>
        </p:txBody>
      </p:sp>
      <p:sp>
        <p:nvSpPr>
          <p:cNvPr id="80" name="Rounded Rectangle 79"/>
          <p:cNvSpPr/>
          <p:nvPr/>
        </p:nvSpPr>
        <p:spPr>
          <a:xfrm>
            <a:off x="1600200" y="6903720"/>
            <a:ext cx="11704320" cy="777240"/>
          </a:xfrm>
          <a:prstGeom prst="roundRect">
            <a:avLst>
              <a:gd name="adj" fmla="val 12000"/>
            </a:avLst>
          </a:prstGeom>
          <a:solidFill>
            <a:srgbClr val="FB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920240" y="6903720"/>
            <a:ext cx="11155680" cy="777240"/>
          </a:xfrm>
          <a:prstGeom prst="rect">
            <a:avLst/>
          </a:prstGeom>
          <a:noFill/>
        </p:spPr>
        <p:txBody>
          <a:bodyPr wrap="square" lIns="0" rIns="0" tIns="0" bIns="0" anchor="ctr">
            <a:spAutoFit/>
          </a:bodyPr>
          <a:lstStyle/>
          <a:p>
            <a:pPr algn="l"/>
            <a:r>
              <a:rPr sz="2000" b="0" i="0">
                <a:solidFill>
                  <a:srgbClr val="8A3B26"/>
                </a:solidFill>
                <a:latin typeface="Arial"/>
              </a:rPr>
              <a:t>Instala solo de fuentes confiables y léelos antes: un skill puede ordenarle al agente acciones que no quieres.</a:t>
            </a:r>
          </a:p>
        </p:txBody>
      </p:sp>
      <p:sp>
        <p:nvSpPr>
          <p:cNvPr id="82" name="Footer"/>
          <p:cNvSpPr txBox="1"/>
          <p:nvPr/>
        </p:nvSpPr>
        <p:spPr>
          <a:xfrm>
            <a:off x="1600200" y="8732520"/>
            <a:ext cx="12344400" cy="411480"/>
          </a:xfrm>
          <a:prstGeom prst="rect">
            <a:avLst/>
          </a:prstGeom>
          <a:noFill/>
        </p:spPr>
        <p:txBody>
          <a:bodyPr wrap="square" lIns="0" rIns="0" tIns="0" bIns="0" anchor="t">
            <a:spAutoFit/>
          </a:bodyPr>
          <a:lstStyle/>
          <a:p>
            <a:pPr algn="l"/>
            <a:r>
              <a:rPr sz="1600" b="0" i="0">
                <a:solidFill>
                  <a:srgbClr val="757070"/>
                </a:solidFill>
                <a:latin typeface="Arial"/>
              </a:rPr>
              <a:t>14 · github.com/claesbackman/AI-research-feedback · github.com/WecoAI/awesome-autoresearch</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3 · HARNESS Y SKILLS</a:t>
            </a:r>
          </a:p>
        </p:txBody>
      </p:sp>
      <p:sp>
        <p:nvSpPr>
          <p:cNvPr id="73" name="Judge tag"/>
          <p:cNvSpPr txBox="1"/>
          <p:nvPr/>
        </p:nvSpPr>
        <p:spPr>
          <a:xfrm>
            <a:off x="6949440" y="1691640"/>
            <a:ext cx="5852160" cy="365760"/>
          </a:xfrm>
          <a:prstGeom prst="rect">
            <a:avLst/>
          </a:prstGeom>
          <a:noFill/>
        </p:spPr>
        <p:txBody>
          <a:bodyPr wrap="square" lIns="0" rIns="0" tIns="0" bIns="0" anchor="t">
            <a:spAutoFit/>
          </a:bodyPr>
          <a:lstStyle/>
          <a:p>
            <a:pPr algn="r"/>
            <a:r>
              <a:rPr sz="1700" b="1" i="0">
                <a:solidFill>
                  <a:srgbClr val="757070"/>
                </a:solidFill>
                <a:latin typeface="Arial"/>
              </a:rPr>
              <a:t>JUEZ · </a:t>
            </a:r>
            <a:r>
              <a:rPr sz="1700" b="1" i="0">
                <a:solidFill>
                  <a:srgbClr val="A8600A"/>
                </a:solidFill>
                <a:latin typeface="Arial"/>
              </a:rPr>
              <a:t>TÚ, EN REGLAS Y CHECKS</a:t>
            </a:r>
          </a:p>
        </p:txBody>
      </p:sp>
      <p:sp>
        <p:nvSpPr>
          <p:cNvPr id="74"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Harness engineering es diseñar el juez</a:t>
            </a:r>
          </a:p>
        </p:txBody>
      </p:sp>
      <p:sp>
        <p:nvSpPr>
          <p:cNvPr id="75" name="Rounded Rectangle 74"/>
          <p:cNvSpPr/>
          <p:nvPr/>
        </p:nvSpPr>
        <p:spPr>
          <a:xfrm>
            <a:off x="1600200" y="3886200"/>
            <a:ext cx="7360920" cy="15544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920240" y="4160520"/>
            <a:ext cx="6720840" cy="1097280"/>
          </a:xfrm>
          <a:prstGeom prst="rect">
            <a:avLst/>
          </a:prstGeom>
          <a:noFill/>
        </p:spPr>
        <p:txBody>
          <a:bodyPr wrap="square" lIns="0" rIns="0" tIns="0" bIns="0" anchor="t">
            <a:spAutoFit/>
          </a:bodyPr>
          <a:lstStyle/>
          <a:p>
            <a:pPr algn="l">
              <a:spcAft>
                <a:spcPts val="800"/>
              </a:spcAft>
            </a:pPr>
            <a:r>
              <a:rPr sz="2400" b="1" i="0">
                <a:solidFill>
                  <a:srgbClr val="073763"/>
                </a:solidFill>
                <a:latin typeface="Arial"/>
              </a:rPr>
              <a:t>Un mapa, no un manual</a:t>
            </a:r>
          </a:p>
          <a:p>
            <a:pPr algn="l">
              <a:spcAft>
                <a:spcPts val="800"/>
              </a:spcAft>
            </a:pPr>
            <a:r>
              <a:rPr sz="2100" b="0" i="0">
                <a:solidFill>
                  <a:srgbClr val="4A4F57"/>
                </a:solidFill>
                <a:latin typeface="Arial"/>
              </a:rPr>
              <a:t>Un CLAUDE.md o AGENTS.md corto que apunta a lo demás</a:t>
            </a:r>
          </a:p>
        </p:txBody>
      </p:sp>
      <p:sp>
        <p:nvSpPr>
          <p:cNvPr id="77" name="Rounded Rectangle 76"/>
          <p:cNvSpPr/>
          <p:nvPr/>
        </p:nvSpPr>
        <p:spPr>
          <a:xfrm>
            <a:off x="9326880" y="3886200"/>
            <a:ext cx="7360920" cy="15544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9646920" y="4160520"/>
            <a:ext cx="6720840" cy="1097280"/>
          </a:xfrm>
          <a:prstGeom prst="rect">
            <a:avLst/>
          </a:prstGeom>
          <a:noFill/>
        </p:spPr>
        <p:txBody>
          <a:bodyPr wrap="square" lIns="0" rIns="0" tIns="0" bIns="0" anchor="t">
            <a:spAutoFit/>
          </a:bodyPr>
          <a:lstStyle/>
          <a:p>
            <a:pPr algn="l">
              <a:spcAft>
                <a:spcPts val="800"/>
              </a:spcAft>
            </a:pPr>
            <a:r>
              <a:rPr sz="2400" b="1" i="0">
                <a:solidFill>
                  <a:srgbClr val="073763"/>
                </a:solidFill>
                <a:latin typeface="Arial"/>
              </a:rPr>
              <a:t>Restricciones mecánicas</a:t>
            </a:r>
          </a:p>
          <a:p>
            <a:pPr algn="l">
              <a:spcAft>
                <a:spcPts val="800"/>
              </a:spcAft>
            </a:pPr>
            <a:r>
              <a:rPr sz="2100" b="0" i="0">
                <a:solidFill>
                  <a:srgbClr val="4A4F57"/>
                </a:solidFill>
                <a:latin typeface="Arial"/>
              </a:rPr>
              <a:t>Tests y linters que el agente no puede saltarse</a:t>
            </a:r>
          </a:p>
        </p:txBody>
      </p:sp>
      <p:sp>
        <p:nvSpPr>
          <p:cNvPr id="79" name="Rounded Rectangle 78"/>
          <p:cNvSpPr/>
          <p:nvPr/>
        </p:nvSpPr>
        <p:spPr>
          <a:xfrm>
            <a:off x="1600200" y="5623560"/>
            <a:ext cx="7360920" cy="15544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1920240" y="5897880"/>
            <a:ext cx="6720840" cy="1097280"/>
          </a:xfrm>
          <a:prstGeom prst="rect">
            <a:avLst/>
          </a:prstGeom>
          <a:noFill/>
        </p:spPr>
        <p:txBody>
          <a:bodyPr wrap="square" lIns="0" rIns="0" tIns="0" bIns="0" anchor="t">
            <a:spAutoFit/>
          </a:bodyPr>
          <a:lstStyle/>
          <a:p>
            <a:pPr algn="l">
              <a:spcAft>
                <a:spcPts val="800"/>
              </a:spcAft>
            </a:pPr>
            <a:r>
              <a:rPr sz="2400" b="1" i="0">
                <a:solidFill>
                  <a:srgbClr val="073763"/>
                </a:solidFill>
                <a:latin typeface="Arial"/>
              </a:rPr>
              <a:t>Evaluar el comportamiento</a:t>
            </a:r>
          </a:p>
          <a:p>
            <a:pPr algn="l">
              <a:spcAft>
                <a:spcPts val="800"/>
              </a:spcAft>
            </a:pPr>
            <a:r>
              <a:rPr sz="2100" b="0" i="0">
                <a:solidFill>
                  <a:srgbClr val="4A4F57"/>
                </a:solidFill>
                <a:latin typeface="Arial"/>
              </a:rPr>
              <a:t>¿Corrió el validador? ¿Preguntó antes de asumir?</a:t>
            </a:r>
          </a:p>
        </p:txBody>
      </p:sp>
      <p:sp>
        <p:nvSpPr>
          <p:cNvPr id="81" name="Rounded Rectangle 80"/>
          <p:cNvSpPr/>
          <p:nvPr/>
        </p:nvSpPr>
        <p:spPr>
          <a:xfrm>
            <a:off x="9326880" y="5623560"/>
            <a:ext cx="7360920" cy="15544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9646920" y="5897880"/>
            <a:ext cx="6720840" cy="1097280"/>
          </a:xfrm>
          <a:prstGeom prst="rect">
            <a:avLst/>
          </a:prstGeom>
          <a:noFill/>
        </p:spPr>
        <p:txBody>
          <a:bodyPr wrap="square" lIns="0" rIns="0" tIns="0" bIns="0" anchor="t">
            <a:spAutoFit/>
          </a:bodyPr>
          <a:lstStyle/>
          <a:p>
            <a:pPr algn="l">
              <a:spcAft>
                <a:spcPts val="800"/>
              </a:spcAft>
            </a:pPr>
            <a:r>
              <a:rPr sz="2400" b="1" i="0">
                <a:solidFill>
                  <a:srgbClr val="073763"/>
                </a:solidFill>
                <a:latin typeface="Arial"/>
              </a:rPr>
              <a:t>Un revisor independiente</a:t>
            </a:r>
          </a:p>
          <a:p>
            <a:pPr algn="l">
              <a:spcAft>
                <a:spcPts val="800"/>
              </a:spcAft>
            </a:pPr>
            <a:r>
              <a:rPr sz="2100" b="0" i="0">
                <a:solidFill>
                  <a:srgbClr val="4A4F57"/>
                </a:solidFill>
                <a:latin typeface="Arial"/>
              </a:rPr>
              <a:t>Otro agente, u otro modelo, ataca el resultado</a:t>
            </a:r>
          </a:p>
        </p:txBody>
      </p:sp>
      <p:sp>
        <p:nvSpPr>
          <p:cNvPr id="83" name="TextBox 82"/>
          <p:cNvSpPr txBox="1"/>
          <p:nvPr/>
        </p:nvSpPr>
        <p:spPr>
          <a:xfrm>
            <a:off x="1600200" y="7452360"/>
            <a:ext cx="12070080" cy="822960"/>
          </a:xfrm>
          <a:prstGeom prst="rect">
            <a:avLst/>
          </a:prstGeom>
          <a:noFill/>
        </p:spPr>
        <p:txBody>
          <a:bodyPr wrap="square" lIns="0" rIns="0" tIns="0" bIns="0" anchor="t">
            <a:spAutoFit/>
          </a:bodyPr>
          <a:lstStyle/>
          <a:p>
            <a:pPr algn="l"/>
            <a:r>
              <a:rPr sz="2400" b="1" i="0">
                <a:solidFill>
                  <a:srgbClr val="A8600A"/>
                </a:solidFill>
                <a:latin typeface="Arial"/>
              </a:rPr>
              <a:t>En autoresearch, el harness es el experimento: program.md + train.py + una métrica.</a:t>
            </a:r>
          </a:p>
        </p:txBody>
      </p:sp>
      <p:sp>
        <p:nvSpPr>
          <p:cNvPr id="84" name="Footer"/>
          <p:cNvSpPr txBox="1"/>
          <p:nvPr/>
        </p:nvSpPr>
        <p:spPr>
          <a:xfrm>
            <a:off x="1600200" y="8732520"/>
            <a:ext cx="11430000" cy="411480"/>
          </a:xfrm>
          <a:prstGeom prst="rect">
            <a:avLst/>
          </a:prstGeom>
          <a:noFill/>
        </p:spPr>
        <p:txBody>
          <a:bodyPr wrap="square" lIns="0" rIns="0" tIns="0" bIns="0" anchor="t">
            <a:spAutoFit/>
          </a:bodyPr>
          <a:lstStyle/>
          <a:p>
            <a:pPr algn="l"/>
            <a:r>
              <a:rPr sz="1600" b="0" i="0">
                <a:solidFill>
                  <a:srgbClr val="757070"/>
                </a:solidFill>
                <a:latin typeface="Arial"/>
              </a:rPr>
              <a:t>15 · Lopopolo (2026), OpenAI · Mullen y Gunderman (2026), Google · Hadfield et al. (2025), Anthropic</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4 · IA QUE INVESTIGA</a:t>
            </a:r>
          </a:p>
        </p:txBody>
      </p:sp>
      <p:sp>
        <p:nvSpPr>
          <p:cNvPr id="78" name="Judge tag"/>
          <p:cNvSpPr txBox="1"/>
          <p:nvPr/>
        </p:nvSpPr>
        <p:spPr>
          <a:xfrm>
            <a:off x="6949440" y="1691640"/>
            <a:ext cx="5852160" cy="365760"/>
          </a:xfrm>
          <a:prstGeom prst="rect">
            <a:avLst/>
          </a:prstGeom>
          <a:noFill/>
        </p:spPr>
        <p:txBody>
          <a:bodyPr wrap="square" lIns="0" rIns="0" tIns="0" bIns="0" anchor="t">
            <a:spAutoFit/>
          </a:bodyPr>
          <a:lstStyle/>
          <a:p>
            <a:pPr algn="r"/>
            <a:r>
              <a:rPr sz="1700" b="1" i="0">
                <a:solidFill>
                  <a:srgbClr val="757070"/>
                </a:solidFill>
                <a:latin typeface="Arial"/>
              </a:rPr>
              <a:t>JUEZ · </a:t>
            </a:r>
            <a:r>
              <a:rPr sz="1700" b="1" i="0">
                <a:solidFill>
                  <a:srgbClr val="A8600A"/>
                </a:solidFill>
                <a:latin typeface="Arial"/>
              </a:rPr>
              <a:t>TU MÉTRICA</a:t>
            </a:r>
          </a:p>
        </p:txBody>
      </p:sp>
      <p:sp>
        <p:nvSpPr>
          <p:cNvPr id="79"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En autoresearch, tu métrica es el juez y el agente hace el resto</a:t>
            </a:r>
          </a:p>
        </p:txBody>
      </p:sp>
      <p:sp>
        <p:nvSpPr>
          <p:cNvPr id="80"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Figure tag"/>
          <p:cNvSpPr/>
          <p:nvPr/>
        </p:nvSpPr>
        <p:spPr>
          <a:xfrm>
            <a:off x="7936992" y="4686300"/>
            <a:ext cx="2414016" cy="45720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7936992" y="4686300"/>
            <a:ext cx="2414016" cy="457200"/>
          </a:xfrm>
          <a:prstGeom prst="rect">
            <a:avLst/>
          </a:prstGeom>
          <a:noFill/>
        </p:spPr>
        <p:txBody>
          <a:bodyPr wrap="square" lIns="0" rIns="0" tIns="0" bIns="0" anchor="ctr">
            <a:spAutoFit/>
          </a:bodyPr>
          <a:lstStyle/>
          <a:p>
            <a:pPr algn="ctr"/>
            <a:r>
              <a:rPr sz="1700" b="1" i="0">
                <a:solidFill>
                  <a:srgbClr val="073763"/>
                </a:solidFill>
                <a:latin typeface="Arial"/>
              </a:rPr>
              <a:t>ESCENA · S16</a:t>
            </a:r>
          </a:p>
        </p:txBody>
      </p:sp>
      <p:sp>
        <p:nvSpPr>
          <p:cNvPr id="83"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Ciclo: proponer → correr (5 min) → evaluar → conservar o descartar · el diff de train.py cambia en cada vuelta · conservado en ámbar, descartado en gris</a:t>
            </a:r>
          </a:p>
        </p:txBody>
      </p:sp>
      <p:sp>
        <p:nvSpPr>
          <p:cNvPr id="84"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16 · IA para la investigación · github.com/karpathy/autoresearch</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4 · IA QUE INVESTIGA</a:t>
            </a:r>
          </a:p>
        </p:txBody>
      </p:sp>
      <p:sp>
        <p:nvSpPr>
          <p:cNvPr id="78" name="Judge tag"/>
          <p:cNvSpPr txBox="1"/>
          <p:nvPr/>
        </p:nvSpPr>
        <p:spPr>
          <a:xfrm>
            <a:off x="6949440" y="1691640"/>
            <a:ext cx="5852160" cy="365760"/>
          </a:xfrm>
          <a:prstGeom prst="rect">
            <a:avLst/>
          </a:prstGeom>
          <a:noFill/>
        </p:spPr>
        <p:txBody>
          <a:bodyPr wrap="square" lIns="0" rIns="0" tIns="0" bIns="0" anchor="t">
            <a:spAutoFit/>
          </a:bodyPr>
          <a:lstStyle/>
          <a:p>
            <a:pPr algn="r"/>
            <a:r>
              <a:rPr sz="1700" b="1" i="0">
                <a:solidFill>
                  <a:srgbClr val="757070"/>
                </a:solidFill>
                <a:latin typeface="Arial"/>
              </a:rPr>
              <a:t>JUEZ · </a:t>
            </a:r>
            <a:r>
              <a:rPr sz="1700" b="1" i="0">
                <a:solidFill>
                  <a:srgbClr val="A8600A"/>
                </a:solidFill>
                <a:latin typeface="Arial"/>
              </a:rPr>
              <a:t>AGENTES, LUEGO EL LABORATORIO</a:t>
            </a:r>
          </a:p>
        </p:txBody>
      </p:sp>
      <p:sp>
        <p:nvSpPr>
          <p:cNvPr id="79"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Co-Scientist: los agentes juzgan las hipótesis, y luego el laboratorio</a:t>
            </a:r>
          </a:p>
        </p:txBody>
      </p:sp>
      <p:sp>
        <p:nvSpPr>
          <p:cNvPr id="80"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Figure tag"/>
          <p:cNvSpPr/>
          <p:nvPr/>
        </p:nvSpPr>
        <p:spPr>
          <a:xfrm>
            <a:off x="7936992" y="4686300"/>
            <a:ext cx="2414016" cy="45720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7936992" y="4686300"/>
            <a:ext cx="2414016" cy="457200"/>
          </a:xfrm>
          <a:prstGeom prst="rect">
            <a:avLst/>
          </a:prstGeom>
          <a:noFill/>
        </p:spPr>
        <p:txBody>
          <a:bodyPr wrap="square" lIns="0" rIns="0" tIns="0" bIns="0" anchor="ctr">
            <a:spAutoFit/>
          </a:bodyPr>
          <a:lstStyle/>
          <a:p>
            <a:pPr algn="ctr"/>
            <a:r>
              <a:rPr sz="1700" b="1" i="0">
                <a:solidFill>
                  <a:srgbClr val="073763"/>
                </a:solidFill>
                <a:latin typeface="Arial"/>
              </a:rPr>
              <a:t>ESCENA · S17</a:t>
            </a:r>
          </a:p>
        </p:txBody>
      </p:sp>
      <p:sp>
        <p:nvSpPr>
          <p:cNvPr id="83"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Las hipótesis entran a un torneo · los agentes debaten cada duelo · el Elo se actualiza · la ganadora pasa a «validación en laboratorio»</a:t>
            </a:r>
          </a:p>
        </p:txBody>
      </p:sp>
      <p:sp>
        <p:nvSpPr>
          <p:cNvPr id="84"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17 · Gottweis et al. (2026), Accelerating scientific discovery with Co-Scientist, Nature 655</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4 · IA QUE INVESTIGA</a:t>
            </a:r>
          </a:p>
        </p:txBody>
      </p:sp>
      <p:sp>
        <p:nvSpPr>
          <p:cNvPr id="78" name="Judge tag"/>
          <p:cNvSpPr txBox="1"/>
          <p:nvPr/>
        </p:nvSpPr>
        <p:spPr>
          <a:xfrm>
            <a:off x="6949440" y="1691640"/>
            <a:ext cx="5852160" cy="365760"/>
          </a:xfrm>
          <a:prstGeom prst="rect">
            <a:avLst/>
          </a:prstGeom>
          <a:noFill/>
        </p:spPr>
        <p:txBody>
          <a:bodyPr wrap="square" lIns="0" rIns="0" tIns="0" bIns="0" anchor="t">
            <a:spAutoFit/>
          </a:bodyPr>
          <a:lstStyle/>
          <a:p>
            <a:pPr algn="r"/>
            <a:r>
              <a:rPr sz="1700" b="1" i="0">
                <a:solidFill>
                  <a:srgbClr val="757070"/>
                </a:solidFill>
                <a:latin typeface="Arial"/>
              </a:rPr>
              <a:t>JUEZ · </a:t>
            </a:r>
            <a:r>
              <a:rPr sz="1700" b="1" i="0">
                <a:solidFill>
                  <a:srgbClr val="A8600A"/>
                </a:solidFill>
                <a:latin typeface="Arial"/>
              </a:rPr>
              <a:t>UN EVALUADOR AUTOMÁTICO</a:t>
            </a:r>
          </a:p>
        </p:txBody>
      </p:sp>
      <p:sp>
        <p:nvSpPr>
          <p:cNvPr id="79"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ERA y AlphaEvolve escriben código y dejan que un evaluador lo juzgue</a:t>
            </a:r>
          </a:p>
        </p:txBody>
      </p:sp>
      <p:sp>
        <p:nvSpPr>
          <p:cNvPr id="80" name="Figure placeholder"/>
          <p:cNvSpPr/>
          <p:nvPr/>
        </p:nvSpPr>
        <p:spPr>
          <a:xfrm>
            <a:off x="1600200" y="3886200"/>
            <a:ext cx="15087600" cy="3154680"/>
          </a:xfrm>
          <a:prstGeom prst="roundRect">
            <a:avLst>
              <a:gd name="adj" fmla="val 4000"/>
            </a:avLst>
          </a:prstGeom>
          <a:solidFill>
            <a:srgbClr val="F4F8FD"/>
          </a:solidFill>
          <a:ln w="15875">
            <a:solidFill>
              <a:srgbClr val="7FA7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Figure tag"/>
          <p:cNvSpPr/>
          <p:nvPr/>
        </p:nvSpPr>
        <p:spPr>
          <a:xfrm>
            <a:off x="7936992" y="4686300"/>
            <a:ext cx="2414016" cy="457200"/>
          </a:xfrm>
          <a:prstGeom prst="roundRect">
            <a:avLst>
              <a:gd name="adj" fmla="val 5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7936992" y="4686300"/>
            <a:ext cx="2414016" cy="457200"/>
          </a:xfrm>
          <a:prstGeom prst="rect">
            <a:avLst/>
          </a:prstGeom>
          <a:noFill/>
        </p:spPr>
        <p:txBody>
          <a:bodyPr wrap="square" lIns="0" rIns="0" tIns="0" bIns="0" anchor="ctr">
            <a:spAutoFit/>
          </a:bodyPr>
          <a:lstStyle/>
          <a:p>
            <a:pPr algn="ctr"/>
            <a:r>
              <a:rPr sz="1700" b="1" i="0">
                <a:solidFill>
                  <a:srgbClr val="073763"/>
                </a:solidFill>
                <a:latin typeface="Arial"/>
              </a:rPr>
              <a:t>ESCENA · S18</a:t>
            </a:r>
          </a:p>
        </p:txBody>
      </p:sp>
      <p:sp>
        <p:nvSpPr>
          <p:cNvPr id="83" name="Figure description"/>
          <p:cNvSpPr txBox="1"/>
          <p:nvPr/>
        </p:nvSpPr>
        <p:spPr>
          <a:xfrm>
            <a:off x="2331720" y="5326379"/>
            <a:ext cx="13624560" cy="1097280"/>
          </a:xfrm>
          <a:prstGeom prst="rect">
            <a:avLst/>
          </a:prstGeom>
          <a:noFill/>
        </p:spPr>
        <p:txBody>
          <a:bodyPr wrap="square" lIns="0" rIns="0" tIns="0" bIns="0" anchor="t">
            <a:spAutoFit/>
          </a:bodyPr>
          <a:lstStyle/>
          <a:p>
            <a:pPr algn="ctr"/>
            <a:r>
              <a:rPr sz="2300" b="0" i="0">
                <a:solidFill>
                  <a:srgbClr val="4A4F57"/>
                </a:solidFill>
                <a:latin typeface="Arial"/>
              </a:rPr>
              <a:t>Una población de programas muta · el evaluador puntúa cada uno · la curva del mejor puntaje sube · cierra con «40 de 87» y «48 multiplicaciones»</a:t>
            </a:r>
          </a:p>
        </p:txBody>
      </p:sp>
      <p:sp>
        <p:nvSpPr>
          <p:cNvPr id="84"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18 · Aygün et al. (2026), Nature 654 · Novikov et al. (2025), arXiv 2506.13131</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4 · IA QUE INVESTIGA</a:t>
            </a:r>
          </a:p>
        </p:txBody>
      </p:sp>
      <p:sp>
        <p:nvSpPr>
          <p:cNvPr id="78"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Ya hay investigación de punta a punta; el juicio sigue siendo el cuello de botella</a:t>
            </a:r>
          </a:p>
        </p:txBody>
      </p:sp>
      <p:cxnSp>
        <p:nvCxnSpPr>
          <p:cNvPr id="79" name="Connector 78"/>
          <p:cNvCxnSpPr/>
          <p:nvPr/>
        </p:nvCxnSpPr>
        <p:spPr>
          <a:xfrm>
            <a:off x="1600200" y="3886200"/>
            <a:ext cx="429768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600200" y="4114800"/>
            <a:ext cx="4297680" cy="1066800"/>
          </a:xfrm>
          <a:prstGeom prst="rect">
            <a:avLst/>
          </a:prstGeom>
          <a:noFill/>
        </p:spPr>
        <p:txBody>
          <a:bodyPr wrap="square" lIns="0" rIns="0" tIns="0" bIns="0" anchor="t">
            <a:spAutoFit/>
          </a:bodyPr>
          <a:lstStyle/>
          <a:p>
            <a:pPr algn="l">
              <a:lnSpc>
                <a:spcPct val="90000"/>
              </a:lnSpc>
            </a:pPr>
            <a:r>
              <a:rPr sz="8000" b="1" i="0">
                <a:solidFill>
                  <a:srgbClr val="073763"/>
                </a:solidFill>
                <a:latin typeface="Arial"/>
              </a:rPr>
              <a:t>6.33</a:t>
            </a:r>
          </a:p>
        </p:txBody>
      </p:sp>
      <p:sp>
        <p:nvSpPr>
          <p:cNvPr id="81" name="TextBox 80"/>
          <p:cNvSpPr txBox="1"/>
          <p:nvPr/>
        </p:nvSpPr>
        <p:spPr>
          <a:xfrm>
            <a:off x="1600200" y="5318760"/>
            <a:ext cx="4297680" cy="1280160"/>
          </a:xfrm>
          <a:prstGeom prst="rect">
            <a:avLst/>
          </a:prstGeom>
          <a:noFill/>
        </p:spPr>
        <p:txBody>
          <a:bodyPr wrap="square" lIns="0" rIns="0" tIns="0" bIns="0" anchor="t">
            <a:spAutoFit/>
          </a:bodyPr>
          <a:lstStyle/>
          <a:p>
            <a:pPr algn="l"/>
            <a:r>
              <a:rPr sz="2100" b="0" i="0">
                <a:solidFill>
                  <a:srgbClr val="4A4F57"/>
                </a:solidFill>
                <a:latin typeface="Arial"/>
              </a:rPr>
              <a:t>puntaje del primer paper 100% IA que pasó revisión en un workshop de ICLR 2025</a:t>
            </a:r>
          </a:p>
        </p:txBody>
      </p:sp>
      <p:sp>
        <p:nvSpPr>
          <p:cNvPr id="82" name="TextBox 81"/>
          <p:cNvSpPr txBox="1"/>
          <p:nvPr/>
        </p:nvSpPr>
        <p:spPr>
          <a:xfrm>
            <a:off x="1600200" y="6507480"/>
            <a:ext cx="4297680" cy="411480"/>
          </a:xfrm>
          <a:prstGeom prst="rect">
            <a:avLst/>
          </a:prstGeom>
          <a:noFill/>
        </p:spPr>
        <p:txBody>
          <a:bodyPr wrap="square" lIns="0" rIns="0" tIns="0" bIns="0" anchor="t">
            <a:spAutoFit/>
          </a:bodyPr>
          <a:lstStyle/>
          <a:p>
            <a:pPr algn="l"/>
            <a:r>
              <a:rPr sz="1600" b="1" i="0">
                <a:solidFill>
                  <a:srgbClr val="757070"/>
                </a:solidFill>
                <a:latin typeface="Arial"/>
              </a:rPr>
              <a:t>The AI Scientist · Nature 2026</a:t>
            </a:r>
          </a:p>
        </p:txBody>
      </p:sp>
      <p:cxnSp>
        <p:nvCxnSpPr>
          <p:cNvPr id="83" name="Connector 82"/>
          <p:cNvCxnSpPr/>
          <p:nvPr/>
        </p:nvCxnSpPr>
        <p:spPr>
          <a:xfrm>
            <a:off x="6355080" y="3886200"/>
            <a:ext cx="429768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355080" y="4114800"/>
            <a:ext cx="4297680" cy="1066800"/>
          </a:xfrm>
          <a:prstGeom prst="rect">
            <a:avLst/>
          </a:prstGeom>
          <a:noFill/>
        </p:spPr>
        <p:txBody>
          <a:bodyPr wrap="square" lIns="0" rIns="0" tIns="0" bIns="0" anchor="t">
            <a:spAutoFit/>
          </a:bodyPr>
          <a:lstStyle/>
          <a:p>
            <a:pPr algn="l">
              <a:lnSpc>
                <a:spcPct val="90000"/>
              </a:lnSpc>
            </a:pPr>
            <a:r>
              <a:rPr sz="8000" b="1" i="0">
                <a:solidFill>
                  <a:srgbClr val="073763"/>
                </a:solidFill>
                <a:latin typeface="Arial"/>
              </a:rPr>
              <a:t>79.4%</a:t>
            </a:r>
          </a:p>
        </p:txBody>
      </p:sp>
      <p:sp>
        <p:nvSpPr>
          <p:cNvPr id="85" name="TextBox 84"/>
          <p:cNvSpPr txBox="1"/>
          <p:nvPr/>
        </p:nvSpPr>
        <p:spPr>
          <a:xfrm>
            <a:off x="6355080" y="5318760"/>
            <a:ext cx="4297680" cy="1280160"/>
          </a:xfrm>
          <a:prstGeom prst="rect">
            <a:avLst/>
          </a:prstGeom>
          <a:noFill/>
        </p:spPr>
        <p:txBody>
          <a:bodyPr wrap="square" lIns="0" rIns="0" tIns="0" bIns="0" anchor="t">
            <a:spAutoFit/>
          </a:bodyPr>
          <a:lstStyle/>
          <a:p>
            <a:pPr algn="l"/>
            <a:r>
              <a:rPr sz="2100" b="0" i="0">
                <a:solidFill>
                  <a:srgbClr val="4A4F57"/>
                </a:solidFill>
                <a:latin typeface="Arial"/>
              </a:rPr>
              <a:t>de las afirmaciones de Kosmos son correctas: cerca de 1 de cada 5 no lo es</a:t>
            </a:r>
          </a:p>
        </p:txBody>
      </p:sp>
      <p:sp>
        <p:nvSpPr>
          <p:cNvPr id="86" name="TextBox 85"/>
          <p:cNvSpPr txBox="1"/>
          <p:nvPr/>
        </p:nvSpPr>
        <p:spPr>
          <a:xfrm>
            <a:off x="6355080" y="6507480"/>
            <a:ext cx="4297680" cy="411480"/>
          </a:xfrm>
          <a:prstGeom prst="rect">
            <a:avLst/>
          </a:prstGeom>
          <a:noFill/>
        </p:spPr>
        <p:txBody>
          <a:bodyPr wrap="square" lIns="0" rIns="0" tIns="0" bIns="0" anchor="t">
            <a:spAutoFit/>
          </a:bodyPr>
          <a:lstStyle/>
          <a:p>
            <a:pPr algn="l"/>
            <a:r>
              <a:rPr sz="1600" b="1" i="0">
                <a:solidFill>
                  <a:srgbClr val="757070"/>
                </a:solidFill>
                <a:latin typeface="Arial"/>
              </a:rPr>
              <a:t>Kosmos · arXiv 2511.02824</a:t>
            </a:r>
          </a:p>
        </p:txBody>
      </p:sp>
      <p:cxnSp>
        <p:nvCxnSpPr>
          <p:cNvPr id="87" name="Connector 86"/>
          <p:cNvCxnSpPr/>
          <p:nvPr/>
        </p:nvCxnSpPr>
        <p:spPr>
          <a:xfrm>
            <a:off x="11109960" y="3886200"/>
            <a:ext cx="429768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11109960" y="4114800"/>
            <a:ext cx="4297680" cy="1066800"/>
          </a:xfrm>
          <a:prstGeom prst="rect">
            <a:avLst/>
          </a:prstGeom>
          <a:noFill/>
        </p:spPr>
        <p:txBody>
          <a:bodyPr wrap="square" lIns="0" rIns="0" tIns="0" bIns="0" anchor="t">
            <a:spAutoFit/>
          </a:bodyPr>
          <a:lstStyle/>
          <a:p>
            <a:pPr algn="l">
              <a:lnSpc>
                <a:spcPct val="90000"/>
              </a:lnSpc>
            </a:pPr>
            <a:r>
              <a:rPr sz="8000" b="1" i="0">
                <a:solidFill>
                  <a:srgbClr val="A8600A"/>
                </a:solidFill>
                <a:latin typeface="Arial"/>
              </a:rPr>
              <a:t>88.1%</a:t>
            </a:r>
          </a:p>
        </p:txBody>
      </p:sp>
      <p:sp>
        <p:nvSpPr>
          <p:cNvPr id="89" name="TextBox 88"/>
          <p:cNvSpPr txBox="1"/>
          <p:nvPr/>
        </p:nvSpPr>
        <p:spPr>
          <a:xfrm>
            <a:off x="11109960" y="5318760"/>
            <a:ext cx="4297680" cy="1280160"/>
          </a:xfrm>
          <a:prstGeom prst="rect">
            <a:avLst/>
          </a:prstGeom>
          <a:noFill/>
        </p:spPr>
        <p:txBody>
          <a:bodyPr wrap="square" lIns="0" rIns="0" tIns="0" bIns="0" anchor="t">
            <a:spAutoFit/>
          </a:bodyPr>
          <a:lstStyle/>
          <a:p>
            <a:pPr algn="l"/>
            <a:r>
              <a:rPr sz="2100" b="0" i="0">
                <a:solidFill>
                  <a:srgbClr val="4A4F57"/>
                </a:solidFill>
                <a:latin typeface="Arial"/>
              </a:rPr>
              <a:t>de las veces, un juez prefiere el paper humano frente a los ~1,000 papers de Project APE</a:t>
            </a:r>
          </a:p>
        </p:txBody>
      </p:sp>
      <p:sp>
        <p:nvSpPr>
          <p:cNvPr id="90" name="TextBox 89"/>
          <p:cNvSpPr txBox="1"/>
          <p:nvPr/>
        </p:nvSpPr>
        <p:spPr>
          <a:xfrm>
            <a:off x="11109960" y="6507480"/>
            <a:ext cx="4297680" cy="411480"/>
          </a:xfrm>
          <a:prstGeom prst="rect">
            <a:avLst/>
          </a:prstGeom>
          <a:noFill/>
        </p:spPr>
        <p:txBody>
          <a:bodyPr wrap="square" lIns="0" rIns="0" tIns="0" bIns="0" anchor="t">
            <a:spAutoFit/>
          </a:bodyPr>
          <a:lstStyle/>
          <a:p>
            <a:pPr algn="l"/>
            <a:r>
              <a:rPr sz="1600" b="1" i="0">
                <a:solidFill>
                  <a:srgbClr val="757070"/>
                </a:solidFill>
                <a:latin typeface="Arial"/>
              </a:rPr>
              <a:t>Project APE · Universidad de Zurich</a:t>
            </a:r>
          </a:p>
        </p:txBody>
      </p:sp>
      <p:sp>
        <p:nvSpPr>
          <p:cNvPr id="91" name="Footer"/>
          <p:cNvSpPr txBox="1"/>
          <p:nvPr/>
        </p:nvSpPr>
        <p:spPr>
          <a:xfrm>
            <a:off x="1600200" y="8732520"/>
            <a:ext cx="9692640" cy="411480"/>
          </a:xfrm>
          <a:prstGeom prst="rect">
            <a:avLst/>
          </a:prstGeom>
          <a:noFill/>
        </p:spPr>
        <p:txBody>
          <a:bodyPr wrap="square" lIns="0" rIns="0" tIns="0" bIns="0" anchor="t">
            <a:spAutoFit/>
          </a:bodyPr>
          <a:lstStyle/>
          <a:p>
            <a:pPr algn="l"/>
            <a:r>
              <a:rPr sz="1600" b="0" i="0">
                <a:solidFill>
                  <a:srgbClr val="757070"/>
                </a:solidFill>
                <a:latin typeface="Arial"/>
              </a:rPr>
              <a:t>19 · IA para la investigación</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5 · LÍMITES</a:t>
            </a:r>
          </a:p>
        </p:txBody>
      </p:sp>
      <p:sp>
        <p:nvSpPr>
          <p:cNvPr id="61"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Hasta el juez necesita un juez: hay que medirlo contra expertos</a:t>
            </a:r>
          </a:p>
        </p:txBody>
      </p:sp>
      <p:sp>
        <p:nvSpPr>
          <p:cNvPr id="62" name="TextBox 61"/>
          <p:cNvSpPr txBox="1"/>
          <p:nvPr/>
        </p:nvSpPr>
        <p:spPr>
          <a:xfrm>
            <a:off x="1600200" y="3611880"/>
            <a:ext cx="15087600" cy="457200"/>
          </a:xfrm>
          <a:prstGeom prst="rect">
            <a:avLst/>
          </a:prstGeom>
          <a:noFill/>
        </p:spPr>
        <p:txBody>
          <a:bodyPr wrap="square" lIns="0" rIns="0" tIns="0" bIns="0" anchor="t">
            <a:spAutoFit/>
          </a:bodyPr>
          <a:lstStyle/>
          <a:p>
            <a:pPr algn="l"/>
            <a:r>
              <a:rPr sz="2200" b="1" i="0">
                <a:solidFill>
                  <a:srgbClr val="4A4F57"/>
                </a:solidFill>
                <a:latin typeface="Arial"/>
              </a:rPr>
              <a:t>¿Con qué frecuencia cada juez coincide con la respuesta que prefieren los expertos?</a:t>
            </a:r>
          </a:p>
        </p:txBody>
      </p:sp>
      <p:cxnSp>
        <p:nvCxnSpPr>
          <p:cNvPr id="63" name="Connector 62"/>
          <p:cNvCxnSpPr/>
          <p:nvPr/>
        </p:nvCxnSpPr>
        <p:spPr>
          <a:xfrm>
            <a:off x="1600200" y="4251960"/>
            <a:ext cx="429768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600200" y="4480560"/>
            <a:ext cx="4297680" cy="1173480"/>
          </a:xfrm>
          <a:prstGeom prst="rect">
            <a:avLst/>
          </a:prstGeom>
          <a:noFill/>
        </p:spPr>
        <p:txBody>
          <a:bodyPr wrap="square" lIns="0" rIns="0" tIns="0" bIns="0" anchor="t">
            <a:spAutoFit/>
          </a:bodyPr>
          <a:lstStyle/>
          <a:p>
            <a:pPr algn="l">
              <a:lnSpc>
                <a:spcPct val="90000"/>
              </a:lnSpc>
            </a:pPr>
            <a:r>
              <a:rPr sz="8800" b="1" i="0">
                <a:solidFill>
                  <a:srgbClr val="757070"/>
                </a:solidFill>
                <a:latin typeface="Arial"/>
              </a:rPr>
              <a:t>58%</a:t>
            </a:r>
          </a:p>
        </p:txBody>
      </p:sp>
      <p:sp>
        <p:nvSpPr>
          <p:cNvPr id="65" name="TextBox 64"/>
          <p:cNvSpPr txBox="1"/>
          <p:nvPr/>
        </p:nvSpPr>
        <p:spPr>
          <a:xfrm>
            <a:off x="1600200" y="5791200"/>
            <a:ext cx="4297680" cy="1280160"/>
          </a:xfrm>
          <a:prstGeom prst="rect">
            <a:avLst/>
          </a:prstGeom>
          <a:noFill/>
        </p:spPr>
        <p:txBody>
          <a:bodyPr wrap="square" lIns="0" rIns="0" tIns="0" bIns="0" anchor="t">
            <a:spAutoFit/>
          </a:bodyPr>
          <a:lstStyle/>
          <a:p>
            <a:pPr algn="l"/>
            <a:r>
              <a:rPr sz="2200" b="0" i="0">
                <a:solidFill>
                  <a:srgbClr val="4A4F57"/>
                </a:solidFill>
                <a:latin typeface="Arial"/>
              </a:rPr>
              <a:t>Una métrica de similitud (ROUGE). El azar da 50%.</a:t>
            </a:r>
          </a:p>
        </p:txBody>
      </p:sp>
      <p:cxnSp>
        <p:nvCxnSpPr>
          <p:cNvPr id="66" name="Connector 65"/>
          <p:cNvCxnSpPr/>
          <p:nvPr/>
        </p:nvCxnSpPr>
        <p:spPr>
          <a:xfrm>
            <a:off x="6355080" y="4251960"/>
            <a:ext cx="429768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355080" y="4480560"/>
            <a:ext cx="4297680" cy="1173480"/>
          </a:xfrm>
          <a:prstGeom prst="rect">
            <a:avLst/>
          </a:prstGeom>
          <a:noFill/>
        </p:spPr>
        <p:txBody>
          <a:bodyPr wrap="square" lIns="0" rIns="0" tIns="0" bIns="0" anchor="t">
            <a:spAutoFit/>
          </a:bodyPr>
          <a:lstStyle/>
          <a:p>
            <a:pPr algn="l">
              <a:lnSpc>
                <a:spcPct val="90000"/>
              </a:lnSpc>
            </a:pPr>
            <a:r>
              <a:rPr sz="8800" b="1" i="0">
                <a:solidFill>
                  <a:srgbClr val="A8600A"/>
                </a:solidFill>
                <a:latin typeface="Arial"/>
              </a:rPr>
              <a:t>74%</a:t>
            </a:r>
          </a:p>
        </p:txBody>
      </p:sp>
      <p:sp>
        <p:nvSpPr>
          <p:cNvPr id="68" name="TextBox 67"/>
          <p:cNvSpPr txBox="1"/>
          <p:nvPr/>
        </p:nvSpPr>
        <p:spPr>
          <a:xfrm>
            <a:off x="6355080" y="5791200"/>
            <a:ext cx="4297680" cy="1280160"/>
          </a:xfrm>
          <a:prstGeom prst="rect">
            <a:avLst/>
          </a:prstGeom>
          <a:noFill/>
        </p:spPr>
        <p:txBody>
          <a:bodyPr wrap="square" lIns="0" rIns="0" tIns="0" bIns="0" anchor="t">
            <a:spAutoFit/>
          </a:bodyPr>
          <a:lstStyle/>
          <a:p>
            <a:pPr algn="l"/>
            <a:r>
              <a:rPr sz="2200" b="0" i="0">
                <a:solidFill>
                  <a:srgbClr val="4A4F57"/>
                </a:solidFill>
                <a:latin typeface="Arial"/>
              </a:rPr>
              <a:t>Un LLM como juez, guiado por rúbricas.</a:t>
            </a:r>
          </a:p>
        </p:txBody>
      </p:sp>
      <p:cxnSp>
        <p:nvCxnSpPr>
          <p:cNvPr id="69" name="Connector 68"/>
          <p:cNvCxnSpPr/>
          <p:nvPr/>
        </p:nvCxnSpPr>
        <p:spPr>
          <a:xfrm>
            <a:off x="11109960" y="4251960"/>
            <a:ext cx="4297680" cy="0"/>
          </a:xfrm>
          <a:prstGeom prst="line">
            <a:avLst/>
          </a:prstGeom>
          <a:ln w="38100">
            <a:solidFill>
              <a:srgbClr val="07376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1109960" y="4480560"/>
            <a:ext cx="4297680" cy="1173480"/>
          </a:xfrm>
          <a:prstGeom prst="rect">
            <a:avLst/>
          </a:prstGeom>
          <a:noFill/>
        </p:spPr>
        <p:txBody>
          <a:bodyPr wrap="square" lIns="0" rIns="0" tIns="0" bIns="0" anchor="t">
            <a:spAutoFit/>
          </a:bodyPr>
          <a:lstStyle/>
          <a:p>
            <a:pPr algn="l">
              <a:lnSpc>
                <a:spcPct val="90000"/>
              </a:lnSpc>
            </a:pPr>
            <a:r>
              <a:rPr sz="8800" b="1" i="0">
                <a:solidFill>
                  <a:srgbClr val="073763"/>
                </a:solidFill>
                <a:latin typeface="Arial"/>
              </a:rPr>
              <a:t>84%</a:t>
            </a:r>
          </a:p>
        </p:txBody>
      </p:sp>
      <p:sp>
        <p:nvSpPr>
          <p:cNvPr id="71" name="TextBox 70"/>
          <p:cNvSpPr txBox="1"/>
          <p:nvPr/>
        </p:nvSpPr>
        <p:spPr>
          <a:xfrm>
            <a:off x="11109960" y="5791200"/>
            <a:ext cx="4297680" cy="1280160"/>
          </a:xfrm>
          <a:prstGeom prst="rect">
            <a:avLst/>
          </a:prstGeom>
          <a:noFill/>
        </p:spPr>
        <p:txBody>
          <a:bodyPr wrap="square" lIns="0" rIns="0" tIns="0" bIns="0" anchor="t">
            <a:spAutoFit/>
          </a:bodyPr>
          <a:lstStyle/>
          <a:p>
            <a:pPr algn="l"/>
            <a:r>
              <a:rPr sz="2200" b="0" i="0">
                <a:solidFill>
                  <a:srgbClr val="4A4F57"/>
                </a:solidFill>
                <a:latin typeface="Arial"/>
              </a:rPr>
              <a:t>Dos expertos entre sí: el techo realista.</a:t>
            </a:r>
          </a:p>
        </p:txBody>
      </p:sp>
      <p:sp>
        <p:nvSpPr>
          <p:cNvPr id="72" name="Rounded Rectangle 71"/>
          <p:cNvSpPr/>
          <p:nvPr/>
        </p:nvSpPr>
        <p:spPr>
          <a:xfrm>
            <a:off x="1600200" y="7178040"/>
            <a:ext cx="11795760" cy="960120"/>
          </a:xfrm>
          <a:prstGeom prst="roundRect">
            <a:avLst>
              <a:gd name="adj" fmla="val 10000"/>
            </a:avLst>
          </a:prstGeom>
          <a:solidFill>
            <a:srgbClr val="FB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920240" y="7178040"/>
            <a:ext cx="11247120" cy="960120"/>
          </a:xfrm>
          <a:prstGeom prst="rect">
            <a:avLst/>
          </a:prstGeom>
          <a:noFill/>
        </p:spPr>
        <p:txBody>
          <a:bodyPr wrap="square" lIns="0" rIns="0" tIns="0" bIns="0" anchor="ctr">
            <a:spAutoFit/>
          </a:bodyPr>
          <a:lstStyle/>
          <a:p>
            <a:pPr algn="l"/>
            <a:r>
              <a:rPr sz="1900" b="0" i="0">
                <a:solidFill>
                  <a:srgbClr val="8A3B26"/>
                </a:solidFill>
                <a:latin typeface="Arial"/>
              </a:rPr>
              <a:t>Y la rúbrica también falla: el 11% de los criterios generados por un modelo, sin fuentes, eran vacíos, erróneos o poco claros. Audita al juez antes de confiar en él.</a:t>
            </a:r>
          </a:p>
        </p:txBody>
      </p:sp>
      <p:sp>
        <p:nvSpPr>
          <p:cNvPr id="74" name="Footer"/>
          <p:cNvSpPr txBox="1"/>
          <p:nvPr/>
        </p:nvSpPr>
        <p:spPr>
          <a:xfrm>
            <a:off x="1600200" y="8732520"/>
            <a:ext cx="11887200" cy="411480"/>
          </a:xfrm>
          <a:prstGeom prst="rect">
            <a:avLst/>
          </a:prstGeom>
          <a:noFill/>
        </p:spPr>
        <p:txBody>
          <a:bodyPr wrap="square" lIns="0" rIns="0" tIns="0" bIns="0" anchor="t">
            <a:spAutoFit/>
          </a:bodyPr>
          <a:lstStyle/>
          <a:p>
            <a:pPr algn="l"/>
            <a:r>
              <a:rPr sz="1600" b="0" i="0">
                <a:solidFill>
                  <a:srgbClr val="757070"/>
                </a:solidFill>
                <a:latin typeface="Arial"/>
              </a:rPr>
              <a:t>20 · Xu et al. (ACL 2023) · Li et al. (TACL 2026), ResearchQA · vía Asai (2026), CMU 11-768</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Eyebrow"/>
          <p:cNvSpPr txBox="1"/>
          <p:nvPr/>
        </p:nvSpPr>
        <p:spPr>
          <a:xfrm>
            <a:off x="1600200" y="1691640"/>
            <a:ext cx="8229600" cy="365760"/>
          </a:xfrm>
          <a:prstGeom prst="rect">
            <a:avLst/>
          </a:prstGeom>
          <a:noFill/>
        </p:spPr>
        <p:txBody>
          <a:bodyPr wrap="square" lIns="0" rIns="0" tIns="0" bIns="0" anchor="t">
            <a:spAutoFit/>
          </a:bodyPr>
          <a:lstStyle/>
          <a:p>
            <a:pPr algn="l"/>
            <a:r>
              <a:rPr sz="1700" b="1" i="0">
                <a:solidFill>
                  <a:srgbClr val="1565C0"/>
                </a:solidFill>
                <a:latin typeface="Arial"/>
              </a:rPr>
              <a:t>PARTE 5 · LÍMITES</a:t>
            </a:r>
          </a:p>
        </p:txBody>
      </p:sp>
      <p:sp>
        <p:nvSpPr>
          <p:cNvPr id="61" name="Title"/>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4000" b="1" i="0">
                <a:solidFill>
                  <a:srgbClr val="073763"/>
                </a:solidFill>
                <a:latin typeface="Arial"/>
              </a:rPr>
              <a:t>Todos los ciclos fallan igual: con un juez débil o fácil de engañar</a:t>
            </a:r>
          </a:p>
        </p:txBody>
      </p:sp>
      <p:sp>
        <p:nvSpPr>
          <p:cNvPr id="62" name="Rounded Rectangle 61"/>
          <p:cNvSpPr/>
          <p:nvPr/>
        </p:nvSpPr>
        <p:spPr>
          <a:xfrm>
            <a:off x="1600200" y="3886200"/>
            <a:ext cx="7360920" cy="31546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1920240" y="4160520"/>
            <a:ext cx="6720840" cy="2697480"/>
          </a:xfrm>
          <a:prstGeom prst="rect">
            <a:avLst/>
          </a:prstGeom>
          <a:noFill/>
        </p:spPr>
        <p:txBody>
          <a:bodyPr wrap="square" lIns="0" rIns="0" tIns="0" bIns="0" anchor="t">
            <a:spAutoFit/>
          </a:bodyPr>
          <a:lstStyle/>
          <a:p>
            <a:pPr algn="l">
              <a:spcAft>
                <a:spcPts val="800"/>
              </a:spcAft>
            </a:pPr>
            <a:r>
              <a:rPr sz="2600" b="1" i="0">
                <a:solidFill>
                  <a:srgbClr val="073763"/>
                </a:solidFill>
                <a:latin typeface="Arial"/>
              </a:rPr>
              <a:t>Cómo se rompe</a:t>
            </a:r>
          </a:p>
          <a:p>
            <a:pPr algn="l">
              <a:spcAft>
                <a:spcPts val="800"/>
              </a:spcAft>
            </a:pPr>
            <a:r>
              <a:rPr sz="2200" b="1" i="0">
                <a:solidFill>
                  <a:srgbClr val="073763"/>
                </a:solidFill>
                <a:latin typeface="Arial"/>
              </a:rPr>
              <a:t>Sin juez: </a:t>
            </a:r>
            <a:r>
              <a:rPr sz="2200" b="0" i="0">
                <a:solidFill>
                  <a:srgbClr val="4A4F57"/>
                </a:solidFill>
                <a:latin typeface="Arial"/>
              </a:rPr>
              <a:t>citas inventadas</a:t>
            </a:r>
          </a:p>
          <a:p>
            <a:pPr algn="l">
              <a:spcAft>
                <a:spcPts val="800"/>
              </a:spcAft>
            </a:pPr>
            <a:r>
              <a:rPr sz="2200" b="1" i="0">
                <a:solidFill>
                  <a:srgbClr val="073763"/>
                </a:solidFill>
                <a:latin typeface="Arial"/>
              </a:rPr>
              <a:t>Juez engañado: </a:t>
            </a:r>
            <a:r>
              <a:rPr sz="2200" b="0" i="0">
                <a:solidFill>
                  <a:srgbClr val="4A4F57"/>
                </a:solidFill>
                <a:latin typeface="Arial"/>
              </a:rPr>
              <a:t>reward hacking</a:t>
            </a:r>
          </a:p>
          <a:p>
            <a:pPr algn="l">
              <a:spcAft>
                <a:spcPts val="800"/>
              </a:spcAft>
            </a:pPr>
            <a:r>
              <a:rPr sz="2200" b="1" i="0">
                <a:solidFill>
                  <a:srgbClr val="073763"/>
                </a:solidFill>
                <a:latin typeface="Arial"/>
              </a:rPr>
              <a:t>Juez con fuga: </a:t>
            </a:r>
            <a:r>
              <a:rPr sz="2200" b="0" i="0">
                <a:solidFill>
                  <a:srgbClr val="4A4F57"/>
                </a:solidFill>
                <a:latin typeface="Arial"/>
              </a:rPr>
              <a:t>datos de prueba en el entrenamiento</a:t>
            </a:r>
          </a:p>
          <a:p>
            <a:pPr algn="l">
              <a:spcAft>
                <a:spcPts val="800"/>
              </a:spcAft>
            </a:pPr>
            <a:r>
              <a:rPr sz="2200" b="1" i="0">
                <a:solidFill>
                  <a:srgbClr val="073763"/>
                </a:solidFill>
                <a:latin typeface="Arial"/>
              </a:rPr>
              <a:t>Entrada envenenada: </a:t>
            </a:r>
            <a:r>
              <a:rPr sz="2200" b="0" i="0">
                <a:solidFill>
                  <a:srgbClr val="4A4F57"/>
                </a:solidFill>
                <a:latin typeface="Arial"/>
              </a:rPr>
              <a:t>prompt injection</a:t>
            </a:r>
          </a:p>
        </p:txBody>
      </p:sp>
      <p:sp>
        <p:nvSpPr>
          <p:cNvPr id="64" name="Rounded Rectangle 63"/>
          <p:cNvSpPr/>
          <p:nvPr/>
        </p:nvSpPr>
        <p:spPr>
          <a:xfrm>
            <a:off x="9326880" y="3886200"/>
            <a:ext cx="7360920" cy="292608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9646920" y="4160520"/>
            <a:ext cx="6720840" cy="2468880"/>
          </a:xfrm>
          <a:prstGeom prst="rect">
            <a:avLst/>
          </a:prstGeom>
          <a:noFill/>
        </p:spPr>
        <p:txBody>
          <a:bodyPr wrap="square" lIns="0" rIns="0" tIns="0" bIns="0" anchor="t">
            <a:spAutoFit/>
          </a:bodyPr>
          <a:lstStyle/>
          <a:p>
            <a:pPr algn="l">
              <a:spcAft>
                <a:spcPts val="800"/>
              </a:spcAft>
            </a:pPr>
            <a:r>
              <a:rPr sz="2600" b="1" i="0">
                <a:solidFill>
                  <a:srgbClr val="A8600A"/>
                </a:solidFill>
                <a:latin typeface="Arial"/>
              </a:rPr>
              <a:t>Cuatro checks que ayudan</a:t>
            </a:r>
          </a:p>
          <a:p>
            <a:pPr algn="l">
              <a:spcAft>
                <a:spcPts val="800"/>
              </a:spcAft>
            </a:pPr>
            <a:r>
              <a:rPr sz="2200" b="0" i="0">
                <a:solidFill>
                  <a:srgbClr val="4A4F57"/>
                </a:solidFill>
                <a:latin typeface="Arial"/>
              </a:rPr>
              <a:t>Un agente nuevo ataca los cambios</a:t>
            </a:r>
          </a:p>
          <a:p>
            <a:pPr algn="l">
              <a:spcAft>
                <a:spcPts val="800"/>
              </a:spcAft>
            </a:pPr>
            <a:r>
              <a:rPr sz="2200" b="0" i="0">
                <a:solidFill>
                  <a:srgbClr val="4A4F57"/>
                </a:solidFill>
                <a:latin typeface="Arial"/>
              </a:rPr>
              <a:t>Un modelo de otro laboratorio lo revisa</a:t>
            </a:r>
          </a:p>
          <a:p>
            <a:pPr algn="l">
              <a:spcAft>
                <a:spcPts val="800"/>
              </a:spcAft>
            </a:pPr>
            <a:r>
              <a:rPr sz="2200" b="0" i="0">
                <a:solidFill>
                  <a:srgbClr val="4A4F57"/>
                </a:solidFill>
                <a:latin typeface="Arial"/>
              </a:rPr>
              <a:t>El agente te hace preguntas sobre el cambio</a:t>
            </a:r>
          </a:p>
          <a:p>
            <a:pPr algn="l">
              <a:spcAft>
                <a:spcPts val="800"/>
              </a:spcAft>
            </a:pPr>
            <a:r>
              <a:rPr sz="2200" b="0" i="0">
                <a:solidFill>
                  <a:srgbClr val="4A4F57"/>
                </a:solidFill>
                <a:latin typeface="Arial"/>
              </a:rPr>
              <a:t>Tú reimplementas el resultado principal</a:t>
            </a:r>
          </a:p>
        </p:txBody>
      </p:sp>
      <p:sp>
        <p:nvSpPr>
          <p:cNvPr id="66" name="Footer"/>
          <p:cNvSpPr txBox="1"/>
          <p:nvPr/>
        </p:nvSpPr>
        <p:spPr>
          <a:xfrm>
            <a:off x="1600200" y="8732520"/>
            <a:ext cx="11887200" cy="411480"/>
          </a:xfrm>
          <a:prstGeom prst="rect">
            <a:avLst/>
          </a:prstGeom>
          <a:noFill/>
        </p:spPr>
        <p:txBody>
          <a:bodyPr wrap="square" lIns="0" rIns="0" tIns="0" bIns="0" anchor="t">
            <a:spAutoFit/>
          </a:bodyPr>
          <a:lstStyle/>
          <a:p>
            <a:pPr algn="l"/>
            <a:r>
              <a:rPr sz="1600" b="0" i="0">
                <a:solidFill>
                  <a:srgbClr val="757070"/>
                </a:solidFill>
                <a:latin typeface="Arial"/>
              </a:rPr>
              <a:t>21 · Checks adaptados de Bäckman (2026) · Dell'Acqua et al. (2026), Organization Science</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TextBox 53"/>
          <p:cNvSpPr txBox="1"/>
          <p:nvPr/>
        </p:nvSpPr>
        <p:spPr>
          <a:xfrm>
            <a:off x="1563624" y="2788920"/>
            <a:ext cx="9144000" cy="365760"/>
          </a:xfrm>
          <a:prstGeom prst="rect">
            <a:avLst/>
          </a:prstGeom>
          <a:noFill/>
        </p:spPr>
        <p:txBody>
          <a:bodyPr wrap="square" lIns="0" rIns="0" tIns="0" bIns="0" anchor="t">
            <a:spAutoFit/>
          </a:bodyPr>
          <a:lstStyle/>
          <a:p>
            <a:pPr algn="l"/>
            <a:r>
              <a:rPr sz="1500" b="1" i="0">
                <a:solidFill>
                  <a:srgbClr val="CADCFC"/>
                </a:solidFill>
                <a:latin typeface="Arial"/>
              </a:rPr>
              <a:t>PARTE 5 · EL LUNES EN TU LABORATORIO</a:t>
            </a:r>
          </a:p>
        </p:txBody>
      </p:sp>
      <p:sp>
        <p:nvSpPr>
          <p:cNvPr id="55" name="TextBox 54"/>
          <p:cNvSpPr txBox="1"/>
          <p:nvPr/>
        </p:nvSpPr>
        <p:spPr>
          <a:xfrm>
            <a:off x="1563624" y="3291840"/>
            <a:ext cx="11155680" cy="2103120"/>
          </a:xfrm>
          <a:prstGeom prst="rect">
            <a:avLst/>
          </a:prstGeom>
          <a:noFill/>
        </p:spPr>
        <p:txBody>
          <a:bodyPr wrap="square" lIns="0" rIns="0" tIns="0" bIns="0" anchor="t">
            <a:spAutoFit/>
          </a:bodyPr>
          <a:lstStyle/>
          <a:p>
            <a:pPr algn="l">
              <a:lnSpc>
                <a:spcPct val="95000"/>
              </a:lnSpc>
            </a:pPr>
            <a:r>
              <a:rPr sz="5200" b="1" i="0">
                <a:solidFill>
                  <a:srgbClr val="FFFFFF"/>
                </a:solidFill>
                <a:latin typeface="Arial"/>
              </a:rPr>
              <a:t>El modelo corre el ciclo. Tú decides qué cuenta como mejor.</a:t>
            </a:r>
          </a:p>
        </p:txBody>
      </p:sp>
      <p:cxnSp>
        <p:nvCxnSpPr>
          <p:cNvPr id="56" name="Connector 55"/>
          <p:cNvCxnSpPr/>
          <p:nvPr/>
        </p:nvCxnSpPr>
        <p:spPr>
          <a:xfrm>
            <a:off x="1563624" y="5349240"/>
            <a:ext cx="448056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563624" y="5532120"/>
            <a:ext cx="4480560" cy="1371600"/>
          </a:xfrm>
          <a:prstGeom prst="rect">
            <a:avLst/>
          </a:prstGeom>
          <a:noFill/>
        </p:spPr>
        <p:txBody>
          <a:bodyPr wrap="square" lIns="0" rIns="0" tIns="0" bIns="0" anchor="t">
            <a:spAutoFit/>
          </a:bodyPr>
          <a:lstStyle/>
          <a:p>
            <a:pPr algn="l">
              <a:spcAft>
                <a:spcPts val="600"/>
              </a:spcAft>
            </a:pPr>
            <a:r>
              <a:rPr sz="2500" b="1" i="0">
                <a:solidFill>
                  <a:srgbClr val="F2A541"/>
                </a:solidFill>
                <a:latin typeface="Arial"/>
              </a:rPr>
              <a:t>1 · Contexto</a:t>
            </a:r>
          </a:p>
          <a:p>
            <a:pPr algn="l">
              <a:spcAft>
                <a:spcPts val="600"/>
              </a:spcAft>
            </a:pPr>
            <a:r>
              <a:rPr sz="2000" b="0" i="0">
                <a:solidFill>
                  <a:srgbClr val="FFFFFF"/>
                </a:solidFill>
                <a:latin typeface="Arial"/>
              </a:rPr>
              <a:t>Un CLAUDE.md con tu campo y tus reglas, y tus propios papers como contexto</a:t>
            </a:r>
          </a:p>
        </p:txBody>
      </p:sp>
      <p:cxnSp>
        <p:nvCxnSpPr>
          <p:cNvPr id="58" name="Connector 57"/>
          <p:cNvCxnSpPr/>
          <p:nvPr/>
        </p:nvCxnSpPr>
        <p:spPr>
          <a:xfrm>
            <a:off x="6409944" y="5349240"/>
            <a:ext cx="448056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409944" y="5532120"/>
            <a:ext cx="4480560" cy="1371600"/>
          </a:xfrm>
          <a:prstGeom prst="rect">
            <a:avLst/>
          </a:prstGeom>
          <a:noFill/>
        </p:spPr>
        <p:txBody>
          <a:bodyPr wrap="square" lIns="0" rIns="0" tIns="0" bIns="0" anchor="t">
            <a:spAutoFit/>
          </a:bodyPr>
          <a:lstStyle/>
          <a:p>
            <a:pPr algn="l">
              <a:spcAft>
                <a:spcPts val="600"/>
              </a:spcAft>
            </a:pPr>
            <a:r>
              <a:rPr sz="2500" b="1" i="0">
                <a:solidFill>
                  <a:srgbClr val="F2A541"/>
                </a:solidFill>
                <a:latin typeface="Arial"/>
              </a:rPr>
              <a:t>2 · Skills</a:t>
            </a:r>
          </a:p>
          <a:p>
            <a:pPr algn="l">
              <a:spcAft>
                <a:spcPts val="600"/>
              </a:spcAft>
            </a:pPr>
            <a:r>
              <a:rPr sz="2000" b="0" i="0">
                <a:solidFill>
                  <a:srgbClr val="FFFFFF"/>
                </a:solidFill>
                <a:latin typeface="Arial"/>
              </a:rPr>
              <a:t>Empaqueta lo que repites; empieza por /review-paper sobre tu próximo borrador</a:t>
            </a:r>
          </a:p>
        </p:txBody>
      </p:sp>
      <p:cxnSp>
        <p:nvCxnSpPr>
          <p:cNvPr id="60" name="Connector 59"/>
          <p:cNvCxnSpPr/>
          <p:nvPr/>
        </p:nvCxnSpPr>
        <p:spPr>
          <a:xfrm>
            <a:off x="11256264" y="5349240"/>
            <a:ext cx="448056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1256264" y="5532120"/>
            <a:ext cx="4480560" cy="1371600"/>
          </a:xfrm>
          <a:prstGeom prst="rect">
            <a:avLst/>
          </a:prstGeom>
          <a:noFill/>
        </p:spPr>
        <p:txBody>
          <a:bodyPr wrap="square" lIns="0" rIns="0" tIns="0" bIns="0" anchor="t">
            <a:spAutoFit/>
          </a:bodyPr>
          <a:lstStyle/>
          <a:p>
            <a:pPr algn="l">
              <a:spcAft>
                <a:spcPts val="600"/>
              </a:spcAft>
            </a:pPr>
            <a:r>
              <a:rPr sz="2500" b="1" i="0">
                <a:solidFill>
                  <a:srgbClr val="F2A541"/>
                </a:solidFill>
                <a:latin typeface="Arial"/>
              </a:rPr>
              <a:t>3 · Ciclos</a:t>
            </a:r>
          </a:p>
          <a:p>
            <a:pPr algn="l">
              <a:spcAft>
                <a:spcPts val="600"/>
              </a:spcAft>
            </a:pPr>
            <a:r>
              <a:rPr sz="2000" b="0" i="0">
                <a:solidFill>
                  <a:srgbClr val="FFFFFF"/>
                </a:solidFill>
                <a:latin typeface="Arial"/>
              </a:rPr>
              <a:t>Ciclos autónomos solo donde tengas una métrica barata y honesta</a:t>
            </a:r>
          </a:p>
        </p:txBody>
      </p:sp>
      <p:sp>
        <p:nvSpPr>
          <p:cNvPr id="62" name="TextBox 61"/>
          <p:cNvSpPr txBox="1"/>
          <p:nvPr/>
        </p:nvSpPr>
        <p:spPr>
          <a:xfrm>
            <a:off x="1563624" y="7205472"/>
            <a:ext cx="10972800" cy="365760"/>
          </a:xfrm>
          <a:prstGeom prst="rect">
            <a:avLst/>
          </a:prstGeom>
          <a:noFill/>
        </p:spPr>
        <p:txBody>
          <a:bodyPr wrap="square" lIns="0" rIns="0" tIns="0" bIns="0" anchor="t">
            <a:spAutoFit/>
          </a:bodyPr>
          <a:lstStyle/>
          <a:p>
            <a:pPr algn="l"/>
            <a:r>
              <a:rPr sz="1600" b="0" i="0">
                <a:solidFill>
                  <a:srgbClr val="CADCFC"/>
                </a:solidFill>
                <a:latin typeface="Arial"/>
              </a:rPr>
              <a:t>22 · Gracias · [contacto] · Diapositivas, fuentes y skills: [enlace o QR]</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