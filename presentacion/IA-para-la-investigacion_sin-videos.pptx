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84" r:id="rId10"/>
    <p:sldId id="285" r:id="rId9"/>
    <p:sldId id="286" r:id="rId8"/>
    <p:sldId id="287" r:id="rId7"/>
    <p:sldId id="288" r:id="rId6"/>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8.xml"/><Relationship Id="rId7" Type="http://schemas.openxmlformats.org/officeDocument/2006/relationships/slide" Target="slides/slide27.xml"/><Relationship Id="rId8" Type="http://schemas.openxmlformats.org/officeDocument/2006/relationships/slide" Target="slides/slide26.xml"/><Relationship Id="rId9" Type="http://schemas.openxmlformats.org/officeDocument/2006/relationships/slide" Target="slides/slide25.xml"/><Relationship Id="rId10" Type="http://schemas.openxmlformats.org/officeDocument/2006/relationships/slide" Target="slides/slide24.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Buenos días. Gracias a la Clínica Somer por la invitación. Soy Juan David Martínez, profesor de EAFIT, y trabajo en aprendizaje automático aplicado, sobre todo en análisis de marcha y exoesqueletos. Hoy quiero contarles qué cambió en la inteligencia artificial en los últimos años y cómo se está usando ya como herramienta de investigación. Y les voy a dejar una pregunta que nos va a acompañar toda la charla: ¿quién decide qué cuenta como mejor?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Empiezo con esto. Lo que ven es el registro de un agente de IA que corrió toda una noche. Cada línea es un experimento: el agente cambia algo en el código de un modelo, lo entrena cinco minutos y mira si mejoró. Si mejoró, lo conserva; esos van en ámbar. Si no, lo descarta; esos van en gris. Setenta y dos experimentos, ocho horas, ninguna persona despierta. Les pregunto: ¿quién de ustedes corrió setenta y dos experimentos anoche? Fíjense en el color ámbar, porque va a aparecer toda la charla: es lo que el juez decidió conservar.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es la idea central de hoy. Todo lo que vamos a ver tiene la misma forma: algo propone, algo juzga y algo se actualiza. Lo que cambia de una etapa a otra es quién hace de juez. Al entrenar un modelo, el juez es el texto mismo. Al alinearlo, son las preferencias de personas. Para razonar, un verificador. En los agentes, las herramientas. Y al final, el juez es tu métrica. Mi tesis es esta: cuando el juez pasa de los datos a ustedes, el trabajo del investigador pasa de producir resultados a juzgarlos.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Empecemos por lo básico. ¿Qué es un modelo de lenguaje? Literalmente, dos archivos. Uno tiene números, muchísimos: Llama 3.1, un modelo abierto de Meta, tiene 405 mil millones. El otro es un programa corto que multiplica esos números con el texto que le damos. Nadie escribió esos números a mano. Salieron de entrenar el modelo con texto. Las próximas diapositivas responden dos preguntas: qué hace ese programa con el texto, y cómo se aprenden esos números.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Primero: el modelo no lee palabras, lee tokens. Un token es un pedazo de texto que tiene un número asignado. Esto que ven es un tokenizador real. Las palabras comunes, como «la» o «fase», son un solo token. Pero miren las palabras de nuestro campo: «tibiofemoral» queda partida en seis pedazos; «electromiografía», en cuatro. Eso explica dos cosas: por qué los modelos se equivocan más con vocabulario técnico, y por qué todo, los precios y los límites, se mide en tokens.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con esos tokens, ¿qué hace el modelo? Una sola cosa: predice el siguiente. Le doy «Durante la fase de apoyo de la marcha, la rodilla…» y me devuelve una probabilidad para cada token posible. Fíjense que no devuelve una respuesta: devuelve una distribución. Esto es importante para nosotros como investigadores: el modelo no es una base de datos. Si no le damos la fuente, escribe lo que un texto así probablemente diría, sea cierto o no.</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Para escribir un párrafo, el modelo repite ese paso. Predice, elige un token, lo agrega al texto y vuelve a predecir. Token por token. Y hay una perilla que se llama temperatura. Con temperatura baja casi siempre elige el más probable: respuestas estables pero repetitivas. Con temperatura alta se arriesga más: más variedad, pero más errores. Por eso, si le hacen la misma pregunta dos veces, pueden recibir dos respuestas distintas.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Ahora, adentro del programa, cada token se convierte en una lista de números, un vector. Lo interesante es que, después del entrenamiento, los tokens con significado parecido quedan cerca: rodilla, cadera y tobillo quedan juntos; marcha y carrera, juntos; proteína y enzima, lejos de todo eso. Este mapa es una simplificación en dos dimensiones; los reales tienen miles. Guarden esta idea, porque vuelve más adelante: así es como buscan información los agentes.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Ahora sí, ¿cómo aprende el modelo? Con un juez muy simple: el texto mismo. Tomamos una frase real, tapamos la palabra siguiente y le pedimos al modelo que la prediga. Aquí la palabra correcta era «flexiona», y el modelo le había dado apenas un cinco por ciento. Eso lo medimos con la pérdida: qué tan sorprendido quedó el modelo con la respuesta correcta. Después de ajustar los números, le da sesenta y dos por ciento, y la pérdida baja. Aprender es eso: equivocarse cada vez menos.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cómo sabe qué números cambiar? Imaginen un solo número, un solo parámetro. Si lo subo un poquito, ¿la pérdida sube o baja? Esa pendiente es el gradiente. La regla es muy sencilla: mover el número un poco en contra de la pendiente, y repetir. Con un método que se llama retropropagación, esa pendiente se calcula para todos los números del modelo a la vez.</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dos parámetros ya podemos dibujarlo: es un paisaje, y el entrenamiento es bajar por él, paso a paso. A la derecha ven cómo cae la pérdida. Con 405 mil millones de parámetros no lo podemos dibujar, pero la regla es exactamente la misma. Y fíjense que ya aparece la forma de toda la charla: proponer, juzgar con la pérdida y actualizar.</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Para que se hagan una idea de la escala: Llama 3.1 tiene 405 mil millones de parámetros, y se entrenó con 15.6 billones de tokens de texto. Eso se acerca a toda la web de buena calidad que se pudo recolectar y filtrar. A esta etapa se le llama preentrenamiento. Es la más costosa y es la que le da al modelo casi todo lo que sabe.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Pero hay un problema. Lean estas dos frases. «El robot no levantó la caja porque estaba muy pesada»: pesada es la caja. «…porque estaba muy cansado»: cansado es el robot. Una palabra sola no basta; su sentido depende de las demás. El modelo necesita una forma de que cada palabra mire a las otras y decida cuáles le importan. Esa forma se llama atención.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Así funciona la atención. La palabra «pesada» hace una pregunta, y la compara con cada una de las otras palabras. El resultado son pesos que suman uno: cuánto mira a cada palabra. Aquí el peso mayor cae en «caja», que es justamente a lo que se refiere. Con esos pesos, «pesada» mezcla la información de las otras palabras. Esa es la fórmula de abajo, y es la pieza central de todos los modelos actuales.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 bloque del transformer tiene dos pasos. Primero, la atención: los tokens intercambian información entre ellos. Después, una red neuronal que trabaja cada token por separado; ahí se guarda buena parte de lo que el modelo sabe. Las flechas de arriba son conexiones residuales: cada paso suma una corrección a lo que ya había, no lo reescribe todo.</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esos bloques se apilan. Llama 3.1 tiene 126. Los vectores suben por la pila, bloque tras bloque, y se van refinando. Al final, el vector del último token se convierte en las probabilidades del siguiente token, las mismas que vimos hace un momento. Ese es, completo, el programa del que les hablé al principio.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Una consecuencia muy práctica: el modelo solo puede mirar lo que está en su ventana de contexto. Es su memoria de trabajo. En Claude son unos 200 mil tokens: ahí caben sus instrucciones, sus papers, la conversación. Lo que no está en la ventana no existe para el modelo, salvo lo que aprendió en el entrenamiento, que tiene fecha de corte. Por eso lo que ustedes le dan, sus documentos y sus reglas, importa tanto como el modelo mismo.</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por qué las empresas invierten miles de millones en entrenar modelos más grandes? Por esto: las leyes de escala. La pérdida baja de forma predecible cuando aumentan los parámetros y los datos. Cada curva es un tamaño de modelo, y la línea blanca es el mejor resultado posible para cada presupuesto. El trabajo de Chinchilla mostró que conviene crecer modelo y datos a la par: unos veinte tokens por parámetro. Se puede predecir el resultado antes de entrenar.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Ahora, un modelo recién preentrenado no es un asistente. Solo sabe continuar textos. Si le pregunto «¿cuáles son las fases de la marcha?», puede seguir con más preguntas, como si fuera un examen. Sabe mucho, pero no sabe que tiene que responder. Para convertirlo en asistente hacen falta dos etapas más, y en cada una cambia el juez.</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primera es el ajuste fino. Se le muestran miles de conversaciones modelo, escritas o revisadas por personas: una pregunta y la respuesta ideal. Con eso aprende el formato y el rol: responder, seguir instrucciones, decir cuando no sabe. No aprende conocimiento nuevo; eso ya venía del preentrenamiento. El juez ya no es el texto de internet: son ejemplos humanos.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segunda se llama RLHF, aprendizaje por refuerzo con retroalimentación humana. El modelo escribe dos respuestas, una persona elige la mejor, un segundo modelo aprende a predecir esas elecciones, y el modelo original se ajusta para ganar. Ahora el juez son las preferencias de las personas. Ojo con esto: premia lo que nos parece mejor, no necesariamente lo que es verdad. Por eso a veces los modelos suenan muy convincentes y se equivocan.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novedad de los últimos dos años es otro juez: un verificador. Le doy un problema con respuesta comprobable, por ejemplo 17 por 24. El modelo intenta ocho veces, un verificador marca cuáles son correctas, y el modelo se refuerza hacia las correctas. Nadie le enseña a multiplicar: solo hay un juez que dice sí o no. Así se entrenaron los modelos que razonan paso a paso. La lección para nosotros: los modelos son más fuertes donde la respuesta se puede verificar.</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Dos ideas más sobre esto. Primero, dejar que el modelo piense más tiempo, o que intente varias veces, mejora la precisión, pero solo si ya es bueno en esa tarea. Segundo, ¿qué pasa cuando no hay una respuesta única, como en un reporte de literatura? Un trabajo de este año, DR Tulu, usa rúbricas que se van refinando durante el entrenamiento. Es decir, el juez ya no solo evalúa: también entrena.</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Cierro esta parte con algo que les interesa directamente: las imágenes. Una imagen se corta en cuadritos, y cada cuadrito se vuelve un token, igual que una palabra. Esta imagen de marcha se convierte en 196 tokens, que entran junto con el texto al mismo modelo. Con el audio y el video pasa lo mismo. Es decir, sus videos clínicos y sus datos de sensores ya pueden ser entradas de un modelo general. Pero siguen necesitando una verdad de referencia contra la cual comparar.</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Pasemos a los agentes. Una encuesta de este año a más de mil científicos sociales encontró que el 81 por ciento ha probado chatbots para investigar, pero solo el 20 por ciento usa agentes con frecuencia. Con una advertencia: la muestra no es representativa; se reclutó ofreciendo cuentas de Claude. Aun así, la idea se sostiene: casi todos estamos en el chat, y la frontera está en los agentes.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¿Qué cambió entre un chat y un agente? En el chat, el modelo responde una vez. Si le pido un script, me lo da; yo lo corro, me sale un error, se lo pego, y así. Yo soy el que actúa. Un agente recibe una meta. Busca, abre archivos, corre código, mira el resultado y decide el siguiente paso él mismo, hasta terminar. Lo importante: el modelo puede ser exactamente el mismo. Lo que cambia es el programa que lo rodea.</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Ese programa le agrega tres cosas. Herramientas: puede buscar, leer archivos, ejecutar código. Estado: guarda un plan y notas que sobreviven entre pasos. Y muchos pasos: decenas o cientos de acciones sin que uno intervenga. Cada una trae su riesgo, y lo vamos a ver. Pero quédense con esto: lo nuevo no está en el modelo, está alrededor. A eso le vamos a llamar el harness.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Les quiero quitar el misterio a la palabra «herramienta». Una herramienta es texto. Lo azul lo escribe el modelo: piensa, y luego escribe una orden de búsqueda con un formato acordado. El programa detecta esa orden, ejecuta la búsqueda de verdad y pega el resultado; eso es lo gris. Luego el modelo lee el resultado y decide: este estudio no tiene pacientes, lo descarto; abro el otro. El modelo nunca toca internet: solo lee lo que el programa le devuelve.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Eso, en ciclo, es un agente: observar, pensar, actuar y ver el resultado. Y aquí el juez son las herramientas. Si el código falla, el error vuelve al modelo. Si la búsqueda no encuentra nada, eso también vuelve. Cada resultado es el juez del paso siguiente.</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¿Por qué esto funciona ahora y no hace tres años? Porque los modelos se empezaron a entrenar para usar herramientas. En 2022 se le pedía al modelo, con instrucciones, que alternara pensar y actuar. En 2023 aprendieron el formato de las llamadas. Desde 2024 se entrenan con refuerzo sobre tareas de agente completas. Un grupo que se llama METR mide la duración de las tareas que logran terminar, y esa duración se ha duplicado más o menos cada siete meses.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Uno de los usos más útiles para nosotros es el deep research: investigación profunda. Hay preguntas que se responden con una búsqueda, como la oficina de una profesora. Y hay otras, como «¿pueden los agentes sintetizar literatura tan bien como los expertos?», que exigen planear, buscar, leer, darse cuenta de que falta algo, buscar otra vez y escribir con citas. Este ejemplo es de la clase de Akari Asai en Carnegie Mellon, que recomiendo mucho.</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Así funciona por dentro el sistema de deep research de Anthropic. Un agente líder recibe la pregunta, hace un plan y reparte el trabajo entre varios subagentes que buscan en paralelo, cada uno con su propia ventana de contexto. El líder decide si con eso basta; ese rombo ámbar es el juez. Al final, otro agente revisa que cada afirmación tenga su fuente. En su evaluación interna, esto supera en 90 por ciento a un solo agente, pero gasta unas quince veces más tokens que una conversación normal.</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cómo sabemos si funcionan? Con benchmarks como BrowseComp: preguntas escritas para obligar a buscar mucho. Un modelo de chat responde menos del dos por ciento. Un modelo que razona, cerca del diez. El agente de deep research llega a la mitad. Pero ojo: estas son preguntas con respuesta corta. Un reporte de literatura es otra cosa, y para eso hacen falta otros jueces, que veremos al final.</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se entrenan con las mismas tres etapas que vimos en la primera parte, ahora con herramientas. Preentrenamiento con trayectorias de agentes. Ajuste fino imitando a un modelo maestro, pero solo las trayectorias que llegaron a la respuesta correcta. Y refuerzo, con un juez: la respuesta correcta, o rúbricas cuando se trata de reportes. Es la primera parte de la charla otra vez.</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para buscar en sus propios documentos, los agentes usan los embeddings que vimos al principio. Cada documento se convierte en un vector; la pregunta también; y se devuelven los más cercanos. Un trabajo reciente, AgentIR, mostró que si al buscador se le pasa también el razonamiento del agente, y no solo la pregunta, encuentra más con menos búsquedas.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Llegamos a la tercera parte, y aquí junto todo. Esto es el harness: todo lo que rodea al modelo. El modelo, que vimos en la primera parte. El contexto, que es la ventana de contexto. Las herramientas, de la segunda parte. Las instrucciones, los skills y los permisos, que veremos ahora. Y la verificación, en ámbar, que son los jueces de toda la charla. El mismo modelo da resultados muy distintos según el harness que lo rodea.</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pieza más sencilla son las instrucciones. En Claude Code se escribe un archivo, CLAUDE.md, que el agente lee al empezar cada sesión. Es lo que uno le diría a un estudiante nuevo del laboratorio el primer día: dónde están los datos, qué no se toca, que toda cifra lleva su fuente, que nunca invente una cita. Debe ser corto, un mapa y no un manual. Es su criterio, escrito una sola vez.</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segunda pieza es el contexto: lo que el agente tiene a la vista. Siempre entran las instrucciones; al trabajar entran los archivos que abre y los resultados de cada herramienta. Y se llena rápido. Por eso los agentes resumen, o reparten el trabajo en subagentes, como en el sistema de deep research. Y una advertencia: más contexto no siempre es mejor; lo que no sirve distrae.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tercera pieza, y para una clínica quizás la más importante: los permisos. En un archivo de configuración se escribe qué puede hacer el agente sin preguntar, por ejemplo buscar o leer, y qué no puede hacer nunca, por ejemplo borrar archivos o abrir la carpeta de datos de pacientes. Las herramientas nuevas se conectan con un estándar abierto que se llama MCP: Zotero, una base de datos, el correo.</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cuarta pieza son los skills. Un skill es una carpeta con instrucciones para una tarea que ustedes repiten: por ejemplo, revisar una figura antes de enviar un artículo. Tiene un archivo con los pasos, puede tener referencias y scripts. Es texto: se lee, se edita y se versiona como cualquier código. Y desde el año pasado es un estándar abierto, así que no depende de una sola herramienta.</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 interesante de los skills es cómo se cargan. Al iniciar, el agente solo lee el nombre y la descripción de cada uno. Si la tarea coincide, abre las instrucciones completas. Si hace falta, abre las referencias. Y los scripts corren sin ocupar contexto. Por eso se pueden tener decenas de skills instalados sin llenar la ventana.</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Así se ve uno por dentro. Arriba, dos campos: el nombre y la descripción. La descripción es lo más importante, porque es lo único que el agente ve al principio: si es vaga, el skill nunca se activa. Abajo van los pasos, escritos como se los explicaría a un estudiante.</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¿Cómo se crea uno? Elijan algo que ya hicieron tres veces. Escriban los pasos y los errores típicos. Describan cuándo usarlo. Pasen lo mecánico a un script. Y pruébenlo en casos reales. Lo pueden hacer pidiéndoselo al mismo agente: créame un skill con estos pasos. Si hay tiempo, lo muestro en vivo.</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no tienen que empezar de cero. Hay skills públicos para investigar. Uno que recomiendo es el de Claes Bäckman para revisar artículos: varios agentes revisores le escriben un reporte de árbitro a su borrador en unos quince minutos. Hay otros para bases de datos biomédicas, como PubMed. Una advertencia: instalen solo de fuentes confiables y léanlos antes, porque un skill le puede ordenar al agente cosas que ustedes no quieren.</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última pieza del harness es la evaluación, y para mí es la más importante. Hacer harness engineering es diseñar el juez: un archivo corto de instrucciones, pruebas que el agente no puede saltarse, revisar cómo se comportó, y un revisor independiente, otro agente u otro modelo, que ataque el resultado. Todas son formas de escribir su criterio de «mejor» para que el agente lo respete sin ustedes al lado.</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Cuarta parte: IA que investiga. Vuelvo al ejemplo del principio. Esto es autoresearch, de Andrej Karpathy. El agente cambia una sola cosa del código, entrena cinco minutos, mira la métrica y conserva el cambio solo si mejora. Y otra vez, y otra vez. Aquí el juez es su métrica, y el agente hace todo lo demás. Es un repositorio, no un artículo; lo que sigue es la evidencia publicada.</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 que escribe la persona no es código: es un archivo de instrucciones, program.md. La meta, qué puede tocar, cuánto dura cada experimento, qué hacer si mejora y qué hacer si no. Fíjense que es un harness completo en una página: instrucciones, permisos, una herramienta, memoria en git y un juez que el agente no puede cambiar.</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Google lleva esto a las hipótesis científicas con Co-Scientist. Son seis agentes sobre el mismo modelo: uno propone hipótesis, otro las critica como un revisor, otro las ordena en un torneo, otro combina y mejora las mejores, otro agrupa las parecidas y otro resume las críticas. Es deep research con un ciclo de mejora encima.</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torneo funciona como en el ajedrez. Todas las hipótesis empiezan con el mismo puntaje Elo. Se enfrentan por pares, los agentes debaten cuál es mejor, y el puntaje sube o baja. Pero ese puntaje es un juez interno, barato y rápido. El juez que de verdad importa viene después: el laboratorio.</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lo llevaron al laboratorio. En leucemia mieloide aguda, un fármaco propuesto mostró una ventana de dieciocho veces entre células tumorales y células control. En fibrosis hepática, dos de tres fármacos propuestos funcionaron en organoides humanos. Pero para un público clínico hay que decirlo claro: esto es validación preliminar, en células y organoides, no en pacientes. Es el comienzo del ciclo, no el final.</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Otro par de sistemas de Google, ERA y AlphaEvolve, hacen lo mismo con código. Un modelo propone cambios a un programa, un evaluador automático los califica, y se conservan los mejores. ERA generó métodos de integración de datos de célula única, y 40 de 87 superan a todos los publicados. AlphaEvolve encontró una forma de multiplicar matrices de cuatro por cuatro con 48 multiplicaciones. Ambos funcionan solo porque existe un evaluador automático.</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ya hay sistemas que van de la idea al artículo. Un artículo escrito completamente por IA pasó la revisión de un taller de ICLR, aunque sus autores lo retiraron y reconocen citas inexactas. Kosmos acierta en cerca del 80 por ciento de sus afirmaciones; es decir, una de cada cinco está mal. Y en otro proyecto, un juez prefiere el artículo humano casi nueve de cada diez veces. Producir ya no es el cuello de botella. Juzgar, sí.</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Les muestro una versión pequeña de todo esto, hecha para exoesqueletos. Es un sistema de deep research en Claude Code, y no tiene código: son seis archivos de texto. Un líder que planea, investigadores que buscan, un verificador que abre cada fuente y un juez que califica con una rúbrica. Le pregunté qué controles de exoesqueletos de tobillo reducen el costo metabólico al caminar. Hizo dos rondas y citó veinticuatro fuentes; un verificador intentó abrir cada una, y lo que no pudo abrir no entró como hecho. El juez le puso 0,86: aprobado. Pero encontró tres fallas reales, entre ellas una contradicción entre dos estudios que el reporte no resolvió. Y miren esto: el juez dijo que faltaba un archivo de verificación. El archivo estaba ahí; lo buscó con otro nombre. El juez también se equivoca. Por eso la pregunta de esta charla, quién decide qué cuenta como mejor, no tiene respuesta automática: el último juez son ustedes. Todo está en el repositorio, para que lo usen.</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Última parte. Si todo depende del juez, hay que preguntar: ¿qué tan bueno es el juez? Una métrica automática de similitud coincide con los expertos el 58 por ciento de las veces, apenas por encima del azar. Un modelo de lenguaje usado como juez, con rúbricas, el 74. Y dos expertos entre sí, el 84: ese es el techo. Y las rúbricas también fallan. Antes de confiar en un juez automático, califiquen ustedes algunos casos y comparen.</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Todos estos ciclos fallan de la misma forma: con un juez débil o fácil de engañar. Sin juez, el modelo inventa citas. Con un juez débil, el agente aprende a engañarlo. Si el juez ya vio la respuesta, el resultado no vale. Y si alguien envenena lo que el agente lee, el agente obedece. Lo que ayuda: que otro agente ataque el resultado, que lo revise un modelo de otra empresa, y para lo que de verdad importa, reimplementarlo ustedes mismos.</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Cierro con esto. El modelo corre el ciclo; ustedes deciden qué cuenta como mejor. ¿Qué pueden hacer el lunes? Tres niveles. Uno: escriban un archivo de instrucciones con su campo y sus reglas, y denle sus propios artículos. Dos: empaqueten en skills lo que repiten. Tres: monten ciclos autónomos solo donde tengan una métrica barata y honesta. Todo el material, las animaciones y la demo están en el repositorio. Muchas gracias.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1" name="Google Shape;11;p2"/>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2" name="Google Shape;12;p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5" name="Google Shape;15;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18" name="Google Shape;18;p4"/>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sz="3600"/>
            </a:lvl1pPr>
            <a:lvl2pPr indent="-406400" lvl="1" marL="914400">
              <a:spcBef>
                <a:spcPts val="0"/>
              </a:spcBef>
              <a:spcAft>
                <a:spcPts val="0"/>
              </a:spcAft>
              <a:buSzPts val="2800"/>
              <a:buChar char="○"/>
              <a:defRPr sz="2800"/>
            </a:lvl2pPr>
            <a:lvl3pPr indent="-406400" lvl="2" marL="1371600">
              <a:spcBef>
                <a:spcPts val="0"/>
              </a:spcBef>
              <a:spcAft>
                <a:spcPts val="0"/>
              </a:spcAft>
              <a:buSzPts val="2800"/>
              <a:buChar char="■"/>
              <a:defRPr sz="2800"/>
            </a:lvl3pPr>
            <a:lvl4pPr indent="-406400" lvl="3" marL="1828800">
              <a:spcBef>
                <a:spcPts val="0"/>
              </a:spcBef>
              <a:spcAft>
                <a:spcPts val="0"/>
              </a:spcAft>
              <a:buSzPts val="2800"/>
              <a:buChar char="●"/>
              <a:defRPr sz="2800"/>
            </a:lvl4pPr>
            <a:lvl5pPr indent="-406400" lvl="4" marL="2286000">
              <a:spcBef>
                <a:spcPts val="0"/>
              </a:spcBef>
              <a:spcAft>
                <a:spcPts val="0"/>
              </a:spcAft>
              <a:buSzPts val="2800"/>
              <a:buChar char="○"/>
              <a:defRPr sz="2800"/>
            </a:lvl5pPr>
            <a:lvl6pPr indent="-406400" lvl="5" marL="2743200">
              <a:spcBef>
                <a:spcPts val="0"/>
              </a:spcBef>
              <a:spcAft>
                <a:spcPts val="0"/>
              </a:spcAft>
              <a:buSzPts val="2800"/>
              <a:buChar char="■"/>
              <a:defRPr sz="2800"/>
            </a:lvl6pPr>
            <a:lvl7pPr indent="-406400" lvl="6" marL="3200400">
              <a:spcBef>
                <a:spcPts val="0"/>
              </a:spcBef>
              <a:spcAft>
                <a:spcPts val="0"/>
              </a:spcAft>
              <a:buSzPts val="2800"/>
              <a:buChar char="●"/>
              <a:defRPr sz="2800"/>
            </a:lvl7pPr>
            <a:lvl8pPr indent="-406400" lvl="7" marL="3657600">
              <a:spcBef>
                <a:spcPts val="0"/>
              </a:spcBef>
              <a:spcAft>
                <a:spcPts val="0"/>
              </a:spcAft>
              <a:buSzPts val="2800"/>
              <a:buChar char="○"/>
              <a:defRPr sz="2800"/>
            </a:lvl8pPr>
            <a:lvl9pPr indent="-406400" lvl="8" marL="4114800">
              <a:spcBef>
                <a:spcPts val="0"/>
              </a:spcBef>
              <a:spcAft>
                <a:spcPts val="0"/>
              </a:spcAft>
              <a:buSzPts val="2800"/>
              <a:buChar char="■"/>
              <a:defRPr sz="2800"/>
            </a:lvl9pPr>
          </a:lstStyle>
          <a:p/>
        </p:txBody>
      </p:sp>
      <p:sp>
        <p:nvSpPr>
          <p:cNvPr id="19" name="Google Shape;19;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22" name="Google Shape;22;p5"/>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27" name="Google Shape;27;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 name="Google Shape;30;p7"/>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 name="Google Shape;31;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4" name="Google Shape;34;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8" name="Google Shape;38;p9"/>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9"/>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sz="3600"/>
            </a:lvl1pPr>
            <a:lvl2pPr indent="-406400" lvl="1" marL="914400">
              <a:spcBef>
                <a:spcPts val="0"/>
              </a:spcBef>
              <a:spcAft>
                <a:spcPts val="0"/>
              </a:spcAft>
              <a:buSzPts val="2800"/>
              <a:buChar char="○"/>
              <a:defRPr sz="2800"/>
            </a:lvl2pPr>
            <a:lvl3pPr indent="-406400" lvl="2" marL="1371600">
              <a:spcBef>
                <a:spcPts val="0"/>
              </a:spcBef>
              <a:spcAft>
                <a:spcPts val="0"/>
              </a:spcAft>
              <a:buSzPts val="2800"/>
              <a:buChar char="■"/>
              <a:defRPr sz="2800"/>
            </a:lvl3pPr>
            <a:lvl4pPr indent="-406400" lvl="3" marL="1828800">
              <a:spcBef>
                <a:spcPts val="0"/>
              </a:spcBef>
              <a:spcAft>
                <a:spcPts val="0"/>
              </a:spcAft>
              <a:buSzPts val="2800"/>
              <a:buChar char="●"/>
              <a:defRPr sz="2800"/>
            </a:lvl4pPr>
            <a:lvl5pPr indent="-406400" lvl="4" marL="2286000">
              <a:spcBef>
                <a:spcPts val="0"/>
              </a:spcBef>
              <a:spcAft>
                <a:spcPts val="0"/>
              </a:spcAft>
              <a:buSzPts val="2800"/>
              <a:buChar char="○"/>
              <a:defRPr sz="2800"/>
            </a:lvl5pPr>
            <a:lvl6pPr indent="-406400" lvl="5" marL="2743200">
              <a:spcBef>
                <a:spcPts val="0"/>
              </a:spcBef>
              <a:spcAft>
                <a:spcPts val="0"/>
              </a:spcAft>
              <a:buSzPts val="2800"/>
              <a:buChar char="■"/>
              <a:defRPr sz="2800"/>
            </a:lvl6pPr>
            <a:lvl7pPr indent="-406400" lvl="6" marL="3200400">
              <a:spcBef>
                <a:spcPts val="0"/>
              </a:spcBef>
              <a:spcAft>
                <a:spcPts val="0"/>
              </a:spcAft>
              <a:buSzPts val="2800"/>
              <a:buChar char="●"/>
              <a:defRPr sz="2800"/>
            </a:lvl7pPr>
            <a:lvl8pPr indent="-406400" lvl="7" marL="3657600">
              <a:spcBef>
                <a:spcPts val="0"/>
              </a:spcBef>
              <a:spcAft>
                <a:spcPts val="0"/>
              </a:spcAft>
              <a:buSzPts val="2800"/>
              <a:buChar char="○"/>
              <a:defRPr sz="2800"/>
            </a:lvl8pPr>
            <a:lvl9pPr indent="-406400" lvl="8" marL="4114800">
              <a:spcBef>
                <a:spcPts val="0"/>
              </a:spcBef>
              <a:spcAft>
                <a:spcPts val="0"/>
              </a:spcAft>
              <a:buSzPts val="2800"/>
              <a:buChar char="■"/>
              <a:defRPr sz="2800"/>
            </a:lvl9pPr>
          </a:lstStyle>
          <a:p/>
        </p:txBody>
      </p:sp>
      <p:sp>
        <p:nvSpPr>
          <p:cNvPr id="40" name="Google Shape;40;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sz="3600"/>
            </a:lvl1pPr>
          </a:lstStyle>
          <a:p/>
        </p:txBody>
      </p:sp>
      <p:sp>
        <p:nvSpPr>
          <p:cNvPr id="43" name="Google Shape;43;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6" name="Google Shape;46;p11"/>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sz="3600"/>
            </a:lvl1pPr>
            <a:lvl2pPr indent="-406400" lvl="1" marL="914400" algn="ctr">
              <a:spcBef>
                <a:spcPts val="0"/>
              </a:spcBef>
              <a:spcAft>
                <a:spcPts val="0"/>
              </a:spcAft>
              <a:buSzPts val="2800"/>
              <a:buChar char="○"/>
              <a:defRPr sz="2800"/>
            </a:lvl2pPr>
            <a:lvl3pPr indent="-406400" lvl="2" marL="1371600" algn="ctr">
              <a:spcBef>
                <a:spcPts val="0"/>
              </a:spcBef>
              <a:spcAft>
                <a:spcPts val="0"/>
              </a:spcAft>
              <a:buSzPts val="2800"/>
              <a:buChar char="■"/>
              <a:defRPr sz="2800"/>
            </a:lvl3pPr>
            <a:lvl4pPr indent="-406400" lvl="3" marL="1828800" algn="ctr">
              <a:spcBef>
                <a:spcPts val="0"/>
              </a:spcBef>
              <a:spcAft>
                <a:spcPts val="0"/>
              </a:spcAft>
              <a:buSzPts val="2800"/>
              <a:buChar char="●"/>
              <a:defRPr sz="2800"/>
            </a:lvl4pPr>
            <a:lvl5pPr indent="-406400" lvl="4" marL="2286000" algn="ctr">
              <a:spcBef>
                <a:spcPts val="0"/>
              </a:spcBef>
              <a:spcAft>
                <a:spcPts val="0"/>
              </a:spcAft>
              <a:buSzPts val="2800"/>
              <a:buChar char="○"/>
              <a:defRPr sz="2800"/>
            </a:lvl5pPr>
            <a:lvl6pPr indent="-406400" lvl="5" marL="2743200" algn="ctr">
              <a:spcBef>
                <a:spcPts val="0"/>
              </a:spcBef>
              <a:spcAft>
                <a:spcPts val="0"/>
              </a:spcAft>
              <a:buSzPts val="2800"/>
              <a:buChar char="■"/>
              <a:defRPr sz="2800"/>
            </a:lvl6pPr>
            <a:lvl7pPr indent="-406400" lvl="6" marL="3200400" algn="ctr">
              <a:spcBef>
                <a:spcPts val="0"/>
              </a:spcBef>
              <a:spcAft>
                <a:spcPts val="0"/>
              </a:spcAft>
              <a:buSzPts val="2800"/>
              <a:buChar char="●"/>
              <a:defRPr sz="2800"/>
            </a:lvl7pPr>
            <a:lvl8pPr indent="-406400" lvl="7" marL="3657600" algn="ctr">
              <a:spcBef>
                <a:spcPts val="0"/>
              </a:spcBef>
              <a:spcAft>
                <a:spcPts val="0"/>
              </a:spcAft>
              <a:buSzPts val="2800"/>
              <a:buChar char="○"/>
              <a:defRPr sz="2800"/>
            </a:lvl8pPr>
            <a:lvl9pPr indent="-406400" lvl="8" marL="4114800" algn="ctr">
              <a:spcBef>
                <a:spcPts val="0"/>
              </a:spcBef>
              <a:spcAft>
                <a:spcPts val="0"/>
              </a:spcAft>
              <a:buSzPts val="2800"/>
              <a:buChar char="■"/>
              <a:defRPr sz="2800"/>
            </a:lvl9pPr>
          </a:lstStyle>
          <a:p/>
        </p:txBody>
      </p:sp>
      <p:sp>
        <p:nvSpPr>
          <p:cNvPr id="47" name="Google Shape;47;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11.png"/><Relationship Id="rId4" Type="http://schemas.openxmlformats.org/officeDocument/2006/relationships/notesSlide" Target="../notesSlides/notesSlide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12.png"/><Relationship Id="rId4" Type="http://schemas.openxmlformats.org/officeDocument/2006/relationships/notesSlide" Target="../notesSlides/notesSlide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13.png"/><Relationship Id="rId4" Type="http://schemas.openxmlformats.org/officeDocument/2006/relationships/notesSlide" Target="../notesSlides/notesSlide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14.png"/><Relationship Id="rId4" Type="http://schemas.openxmlformats.org/officeDocument/2006/relationships/notesSlide" Target="../notesSlides/notesSlide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15.png"/><Relationship Id="rId4" Type="http://schemas.openxmlformats.org/officeDocument/2006/relationships/notesSlide" Target="../notesSlides/notesSlide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16.png"/><Relationship Id="rId4" Type="http://schemas.openxmlformats.org/officeDocument/2006/relationships/notesSlide" Target="../notesSlides/notesSlide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17.png"/><Relationship Id="rId4"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3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3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19.png"/><Relationship Id="rId4" Type="http://schemas.openxmlformats.org/officeDocument/2006/relationships/notesSlide" Target="../notesSlides/notesSlide3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20.png"/><Relationship Id="rId4" Type="http://schemas.openxmlformats.org/officeDocument/2006/relationships/notesSlide" Target="../notesSlides/notesSlide3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3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21.png"/><Relationship Id="rId4" Type="http://schemas.openxmlformats.org/officeDocument/2006/relationships/notesSlide" Target="../notesSlides/notesSlide3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3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3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3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4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4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4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4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4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4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22.png"/><Relationship Id="rId4" Type="http://schemas.openxmlformats.org/officeDocument/2006/relationships/notesSlide" Target="../notesSlides/notesSlide4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4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4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23.png"/><Relationship Id="rId4" Type="http://schemas.openxmlformats.org/officeDocument/2006/relationships/notesSlide" Target="../notesSlides/notesSlide4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5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image" Target="../media/image24.png"/><Relationship Id="rId4" Type="http://schemas.openxmlformats.org/officeDocument/2006/relationships/notesSlide" Target="../notesSlides/notesSlide5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5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5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5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g"/><Relationship Id="rId3" Type="http://schemas.openxmlformats.org/officeDocument/2006/relationships/notesSlide" Target="../notesSlides/notesSlide5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56.xml"/></Relationships>
</file>

<file path=ppt/slides/slide24.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563624" y="3246120"/>
            <a:ext cx="11338560" cy="2651760"/>
          </a:xfrm>
          <a:prstGeom prst="rect">
            <a:avLst/>
          </a:prstGeom>
          <a:noFill/>
        </p:spPr>
        <p:txBody>
          <a:bodyPr wrap="square" lIns="0" rIns="0" tIns="0" bIns="0" anchor="t">
            <a:spAutoFit/>
          </a:bodyPr>
          <a:lstStyle/>
          <a:p>
            <a:pPr algn="l">
              <a:lnSpc>
                <a:spcPct val="95000"/>
              </a:lnSpc>
            </a:pPr>
            <a:r>
              <a:rPr sz="4800" b="1">
                <a:solidFill>
                  <a:srgbClr val="FFFFFF"/>
                </a:solidFill>
                <a:latin typeface="Arial"/>
              </a:rPr>
              <a:t>Avances en IA y aprendizaje automático como herramientas de investigación</a:t>
            </a:r>
          </a:p>
        </p:txBody>
      </p:sp>
      <p:sp>
        <p:nvSpPr>
          <p:cNvPr id="3" name="TextBox 2"/>
          <p:cNvSpPr txBox="1"/>
          <p:nvPr/>
        </p:nvSpPr>
        <p:spPr>
          <a:xfrm>
            <a:off x="1563624" y="5897880"/>
            <a:ext cx="10972800" cy="822960"/>
          </a:xfrm>
          <a:prstGeom prst="rect">
            <a:avLst/>
          </a:prstGeom>
          <a:noFill/>
        </p:spPr>
        <p:txBody>
          <a:bodyPr wrap="square" lIns="0" rIns="0" tIns="0" bIns="0" anchor="t">
            <a:spAutoFit/>
          </a:bodyPr>
          <a:lstStyle/>
          <a:p>
            <a:pPr algn="l"/>
            <a:r>
              <a:rPr sz="2800" b="0">
                <a:solidFill>
                  <a:srgbClr val="FFFFFF"/>
                </a:solidFill>
                <a:latin typeface="Arial"/>
              </a:rPr>
              <a:t>¿Quién decide qué cuenta como </a:t>
            </a:r>
            <a:r>
              <a:rPr sz="2800" b="0">
                <a:solidFill>
                  <a:srgbClr val="F2A541"/>
                </a:solidFill>
                <a:latin typeface="Arial"/>
              </a:rPr>
              <a:t>mejor</a:t>
            </a:r>
            <a:r>
              <a:rPr sz="2800" b="0">
                <a:solidFill>
                  <a:srgbClr val="FFFFFF"/>
                </a:solidFill>
                <a:latin typeface="Arial"/>
              </a:rPr>
              <a:t>?</a:t>
            </a:r>
          </a:p>
        </p:txBody>
      </p:sp>
      <p:sp>
        <p:nvSpPr>
          <p:cNvPr id="4" name="TextBox 3"/>
          <p:cNvSpPr txBox="1"/>
          <p:nvPr/>
        </p:nvSpPr>
        <p:spPr>
          <a:xfrm>
            <a:off x="1563624" y="6812280"/>
            <a:ext cx="10972800" cy="457200"/>
          </a:xfrm>
          <a:prstGeom prst="rect">
            <a:avLst/>
          </a:prstGeom>
          <a:noFill/>
        </p:spPr>
        <p:txBody>
          <a:bodyPr wrap="square" lIns="0" rIns="0" tIns="0" bIns="0" anchor="t">
            <a:spAutoFit/>
          </a:bodyPr>
          <a:lstStyle/>
          <a:p>
            <a:pPr algn="l"/>
            <a:r>
              <a:rPr sz="2000" b="0">
                <a:solidFill>
                  <a:srgbClr val="CADCFC"/>
                </a:solidFill>
                <a:latin typeface="Arial"/>
              </a:rPr>
              <a:t>Juan David Martínez Vargas, Ph.D. · Universidad EAFIT · 15 de octubre de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GANCHO</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Un agente ya puede correr un ciclo de investigación toda la noche, sin nosotros</a:t>
            </a:r>
          </a:p>
        </p:txBody>
      </p:sp>
      <p:pic>
        <p:nvPicPr>
          <p:cNvPr id="4" name="Picture 3" descr="S01.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1 · github.com/karpathy/autoresearch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MAPA</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Seis ciclos, una forma: lo que cambia es quién juzga qué es «mejor»</a:t>
            </a:r>
          </a:p>
        </p:txBody>
      </p:sp>
      <p:graphicFrame>
        <p:nvGraphicFramePr>
          <p:cNvPr id="4" name="Table 3"/>
          <p:cNvGraphicFramePr>
            <a:graphicFrameLocks noGrp="1"/>
          </p:cNvGraphicFramePr>
          <p:nvPr/>
        </p:nvGraphicFramePr>
        <p:xfrm>
          <a:off x="1600200" y="3749039"/>
          <a:ext cx="14264639" cy="3584448"/>
        </p:xfrm>
        <a:graphic>
          <a:graphicData uri="http://schemas.openxmlformats.org/drawingml/2006/table">
            <a:tbl>
              <a:tblPr firstRow="1" bandRow="1">
                <a:tableStyleId>{5C22544A-7EE6-4342-B048-85BDC9FD1C3A}</a:tableStyleId>
              </a:tblPr>
              <a:tblGrid>
                <a:gridCol w="4422038"/>
                <a:gridCol w="5563209"/>
                <a:gridCol w="4279392"/>
              </a:tblGrid>
              <a:tr h="512064">
                <a:tc>
                  <a:txBody>
                    <a:bodyPr/>
                    <a:lstStyle/>
                    <a:p>
                      <a:r>
                        <a:rPr sz="2100" b="1">
                          <a:solidFill>
                            <a:srgbClr val="FFFFFF"/>
                          </a:solidFill>
                          <a:latin typeface="Arial"/>
                        </a:rPr>
                        <a:t>Parte</a:t>
                      </a:r>
                    </a:p>
                  </a:txBody>
                  <a:tcPr marL="137160" marR="137160" anchor="ctr">
                    <a:solidFill>
                      <a:srgbClr val="073763"/>
                    </a:solidFill>
                  </a:tcPr>
                </a:tc>
                <a:tc>
                  <a:txBody>
                    <a:bodyPr/>
                    <a:lstStyle/>
                    <a:p>
                      <a:r>
                        <a:rPr sz="2100" b="1">
                          <a:solidFill>
                            <a:srgbClr val="FFFFFF"/>
                          </a:solidFill>
                          <a:latin typeface="Arial"/>
                        </a:rPr>
                        <a:t>Ciclo</a:t>
                      </a:r>
                    </a:p>
                  </a:txBody>
                  <a:tcPr marL="137160" marR="137160" anchor="ctr">
                    <a:solidFill>
                      <a:srgbClr val="073763"/>
                    </a:solidFill>
                  </a:tcPr>
                </a:tc>
                <a:tc>
                  <a:txBody>
                    <a:bodyPr/>
                    <a:lstStyle/>
                    <a:p>
                      <a:r>
                        <a:rPr sz="2100" b="1">
                          <a:solidFill>
                            <a:srgbClr val="FFFFFF"/>
                          </a:solidFill>
                          <a:latin typeface="Arial"/>
                        </a:rPr>
                        <a:t>Juez</a:t>
                      </a:r>
                    </a:p>
                  </a:txBody>
                  <a:tcPr marL="137160" marR="137160" anchor="ctr">
                    <a:solidFill>
                      <a:srgbClr val="073763"/>
                    </a:solidFill>
                  </a:tcPr>
                </a:tc>
              </a:tr>
              <a:tr h="512064">
                <a:tc>
                  <a:txBody>
                    <a:bodyPr/>
                    <a:lstStyle/>
                    <a:p>
                      <a:r>
                        <a:rPr sz="2100" b="0">
                          <a:solidFill>
                            <a:srgbClr val="4A4F57"/>
                          </a:solidFill>
                          <a:latin typeface="Arial"/>
                        </a:rPr>
                        <a:t>1 · Preentrenamiento</a:t>
                      </a:r>
                    </a:p>
                  </a:txBody>
                  <a:tcPr marL="137160" marR="137160" anchor="ctr">
                    <a:solidFill>
                      <a:srgbClr val="EEF3FA"/>
                    </a:solidFill>
                  </a:tcPr>
                </a:tc>
                <a:tc>
                  <a:txBody>
                    <a:bodyPr/>
                    <a:lstStyle/>
                    <a:p>
                      <a:r>
                        <a:rPr sz="2100" b="0">
                          <a:solidFill>
                            <a:srgbClr val="4A4F57"/>
                          </a:solidFill>
                          <a:latin typeface="Arial"/>
                        </a:rPr>
                        <a:t>predecir → comparar → actualizar</a:t>
                      </a:r>
                    </a:p>
                  </a:txBody>
                  <a:tcPr marL="137160" marR="137160" anchor="ctr">
                    <a:solidFill>
                      <a:srgbClr val="EEF3FA"/>
                    </a:solidFill>
                  </a:tcPr>
                </a:tc>
                <a:tc>
                  <a:txBody>
                    <a:bodyPr/>
                    <a:lstStyle/>
                    <a:p>
                      <a:r>
                        <a:rPr sz="2100" b="0">
                          <a:solidFill>
                            <a:srgbClr val="A8600A"/>
                          </a:solidFill>
                          <a:latin typeface="Arial"/>
                        </a:rPr>
                        <a:t>el siguiente token</a:t>
                      </a:r>
                    </a:p>
                  </a:txBody>
                  <a:tcPr marL="137160" marR="137160" anchor="ctr">
                    <a:solidFill>
                      <a:srgbClr val="EEF3FA"/>
                    </a:solidFill>
                  </a:tcPr>
                </a:tc>
              </a:tr>
              <a:tr h="512064">
                <a:tc>
                  <a:txBody>
                    <a:bodyPr/>
                    <a:lstStyle/>
                    <a:p>
                      <a:r>
                        <a:rPr sz="2100" b="0">
                          <a:solidFill>
                            <a:srgbClr val="4A4F57"/>
                          </a:solidFill>
                          <a:latin typeface="Arial"/>
                        </a:rPr>
                        <a:t>1 · Alineación</a:t>
                      </a:r>
                    </a:p>
                  </a:txBody>
                  <a:tcPr marL="137160" marR="137160" anchor="ctr">
                    <a:solidFill>
                      <a:srgbClr val="FFFFFF"/>
                    </a:solidFill>
                  </a:tcPr>
                </a:tc>
                <a:tc>
                  <a:txBody>
                    <a:bodyPr/>
                    <a:lstStyle/>
                    <a:p>
                      <a:r>
                        <a:rPr sz="2100" b="0">
                          <a:solidFill>
                            <a:srgbClr val="4A4F57"/>
                          </a:solidFill>
                          <a:latin typeface="Arial"/>
                        </a:rPr>
                        <a:t>responder → juzgar → actualizar</a:t>
                      </a:r>
                    </a:p>
                  </a:txBody>
                  <a:tcPr marL="137160" marR="137160" anchor="ctr">
                    <a:solidFill>
                      <a:srgbClr val="FFFFFF"/>
                    </a:solidFill>
                  </a:tcPr>
                </a:tc>
                <a:tc>
                  <a:txBody>
                    <a:bodyPr/>
                    <a:lstStyle/>
                    <a:p>
                      <a:r>
                        <a:rPr sz="2100" b="0">
                          <a:solidFill>
                            <a:srgbClr val="A8600A"/>
                          </a:solidFill>
                          <a:latin typeface="Arial"/>
                        </a:rPr>
                        <a:t>las preferencias humanas</a:t>
                      </a:r>
                    </a:p>
                  </a:txBody>
                  <a:tcPr marL="137160" marR="137160" anchor="ctr">
                    <a:solidFill>
                      <a:srgbClr val="FFFFFF"/>
                    </a:solidFill>
                  </a:tcPr>
                </a:tc>
              </a:tr>
              <a:tr h="512064">
                <a:tc>
                  <a:txBody>
                    <a:bodyPr/>
                    <a:lstStyle/>
                    <a:p>
                      <a:r>
                        <a:rPr sz="2100" b="0">
                          <a:solidFill>
                            <a:srgbClr val="4A4F57"/>
                          </a:solidFill>
                          <a:latin typeface="Arial"/>
                        </a:rPr>
                        <a:t>1 · Razonamiento</a:t>
                      </a:r>
                    </a:p>
                  </a:txBody>
                  <a:tcPr marL="137160" marR="137160" anchor="ctr">
                    <a:solidFill>
                      <a:srgbClr val="EEF3FA"/>
                    </a:solidFill>
                  </a:tcPr>
                </a:tc>
                <a:tc>
                  <a:txBody>
                    <a:bodyPr/>
                    <a:lstStyle/>
                    <a:p>
                      <a:r>
                        <a:rPr sz="2100" b="0">
                          <a:solidFill>
                            <a:srgbClr val="4A4F57"/>
                          </a:solidFill>
                          <a:latin typeface="Arial"/>
                        </a:rPr>
                        <a:t>intentar → verificar → reforzar</a:t>
                      </a:r>
                    </a:p>
                  </a:txBody>
                  <a:tcPr marL="137160" marR="137160" anchor="ctr">
                    <a:solidFill>
                      <a:srgbClr val="EEF3FA"/>
                    </a:solidFill>
                  </a:tcPr>
                </a:tc>
                <a:tc>
                  <a:txBody>
                    <a:bodyPr/>
                    <a:lstStyle/>
                    <a:p>
                      <a:r>
                        <a:rPr sz="2100" b="0">
                          <a:solidFill>
                            <a:srgbClr val="A8600A"/>
                          </a:solidFill>
                          <a:latin typeface="Arial"/>
                        </a:rPr>
                        <a:t>un verificador</a:t>
                      </a:r>
                    </a:p>
                  </a:txBody>
                  <a:tcPr marL="137160" marR="137160" anchor="ctr">
                    <a:solidFill>
                      <a:srgbClr val="EEF3FA"/>
                    </a:solidFill>
                  </a:tcPr>
                </a:tc>
              </a:tr>
              <a:tr h="512064">
                <a:tc>
                  <a:txBody>
                    <a:bodyPr/>
                    <a:lstStyle/>
                    <a:p>
                      <a:r>
                        <a:rPr sz="2100" b="0">
                          <a:solidFill>
                            <a:srgbClr val="4A4F57"/>
                          </a:solidFill>
                          <a:latin typeface="Arial"/>
                        </a:rPr>
                        <a:t>2 · Agentes</a:t>
                      </a:r>
                    </a:p>
                  </a:txBody>
                  <a:tcPr marL="137160" marR="137160" anchor="ctr">
                    <a:solidFill>
                      <a:srgbClr val="FFFFFF"/>
                    </a:solidFill>
                  </a:tcPr>
                </a:tc>
                <a:tc>
                  <a:txBody>
                    <a:bodyPr/>
                    <a:lstStyle/>
                    <a:p>
                      <a:r>
                        <a:rPr sz="2100" b="0">
                          <a:solidFill>
                            <a:srgbClr val="4A4F57"/>
                          </a:solidFill>
                          <a:latin typeface="Arial"/>
                        </a:rPr>
                        <a:t>actuar → observar → ajustar</a:t>
                      </a:r>
                    </a:p>
                  </a:txBody>
                  <a:tcPr marL="137160" marR="137160" anchor="ctr">
                    <a:solidFill>
                      <a:srgbClr val="FFFFFF"/>
                    </a:solidFill>
                  </a:tcPr>
                </a:tc>
                <a:tc>
                  <a:txBody>
                    <a:bodyPr/>
                    <a:lstStyle/>
                    <a:p>
                      <a:r>
                        <a:rPr sz="2100" b="0">
                          <a:solidFill>
                            <a:srgbClr val="A8600A"/>
                          </a:solidFill>
                          <a:latin typeface="Arial"/>
                        </a:rPr>
                        <a:t>las herramientas</a:t>
                      </a:r>
                    </a:p>
                  </a:txBody>
                  <a:tcPr marL="137160" marR="137160" anchor="ctr">
                    <a:solidFill>
                      <a:srgbClr val="FFFFFF"/>
                    </a:solidFill>
                  </a:tcPr>
                </a:tc>
              </a:tr>
              <a:tr h="512064">
                <a:tc>
                  <a:txBody>
                    <a:bodyPr/>
                    <a:lstStyle/>
                    <a:p>
                      <a:r>
                        <a:rPr sz="2100" b="0">
                          <a:solidFill>
                            <a:srgbClr val="4A4F57"/>
                          </a:solidFill>
                          <a:latin typeface="Arial"/>
                        </a:rPr>
                        <a:t>3 · Harness</a:t>
                      </a:r>
                    </a:p>
                  </a:txBody>
                  <a:tcPr marL="137160" marR="137160" anchor="ctr">
                    <a:solidFill>
                      <a:srgbClr val="EEF3FA"/>
                    </a:solidFill>
                  </a:tcPr>
                </a:tc>
                <a:tc>
                  <a:txBody>
                    <a:bodyPr/>
                    <a:lstStyle/>
                    <a:p>
                      <a:r>
                        <a:rPr sz="2100" b="0">
                          <a:solidFill>
                            <a:srgbClr val="4A4F57"/>
                          </a:solidFill>
                          <a:latin typeface="Arial"/>
                        </a:rPr>
                        <a:t>instruir → ejecutar → revisar</a:t>
                      </a:r>
                    </a:p>
                  </a:txBody>
                  <a:tcPr marL="137160" marR="137160" anchor="ctr">
                    <a:solidFill>
                      <a:srgbClr val="EEF3FA"/>
                    </a:solidFill>
                  </a:tcPr>
                </a:tc>
                <a:tc>
                  <a:txBody>
                    <a:bodyPr/>
                    <a:lstStyle/>
                    <a:p>
                      <a:r>
                        <a:rPr sz="2100" b="0">
                          <a:solidFill>
                            <a:srgbClr val="A8600A"/>
                          </a:solidFill>
                          <a:latin typeface="Arial"/>
                        </a:rPr>
                        <a:t>tú, en reglas y checks</a:t>
                      </a:r>
                    </a:p>
                  </a:txBody>
                  <a:tcPr marL="137160" marR="137160" anchor="ctr">
                    <a:solidFill>
                      <a:srgbClr val="EEF3FA"/>
                    </a:solidFill>
                  </a:tcPr>
                </a:tc>
              </a:tr>
              <a:tr h="512064">
                <a:tc>
                  <a:txBody>
                    <a:bodyPr/>
                    <a:lstStyle/>
                    <a:p>
                      <a:r>
                        <a:rPr sz="2100" b="0">
                          <a:solidFill>
                            <a:srgbClr val="4A4F57"/>
                          </a:solidFill>
                          <a:latin typeface="Arial"/>
                        </a:rPr>
                        <a:t>4 · IA que investiga</a:t>
                      </a:r>
                    </a:p>
                  </a:txBody>
                  <a:tcPr marL="137160" marR="137160" anchor="ctr">
                    <a:solidFill>
                      <a:srgbClr val="FFFFFF"/>
                    </a:solidFill>
                  </a:tcPr>
                </a:tc>
                <a:tc>
                  <a:txBody>
                    <a:bodyPr/>
                    <a:lstStyle/>
                    <a:p>
                      <a:r>
                        <a:rPr sz="2100" b="0">
                          <a:solidFill>
                            <a:srgbClr val="4A4F57"/>
                          </a:solidFill>
                          <a:latin typeface="Arial"/>
                        </a:rPr>
                        <a:t>proponer → correr → ¿conservar?</a:t>
                      </a:r>
                    </a:p>
                  </a:txBody>
                  <a:tcPr marL="137160" marR="137160" anchor="ctr">
                    <a:solidFill>
                      <a:srgbClr val="FFFFFF"/>
                    </a:solidFill>
                  </a:tcPr>
                </a:tc>
                <a:tc>
                  <a:txBody>
                    <a:bodyPr/>
                    <a:lstStyle/>
                    <a:p>
                      <a:r>
                        <a:rPr sz="2100" b="1">
                          <a:solidFill>
                            <a:srgbClr val="A8600A"/>
                          </a:solidFill>
                          <a:latin typeface="Arial"/>
                        </a:rPr>
                        <a:t>tu métrica</a:t>
                      </a:r>
                    </a:p>
                  </a:txBody>
                  <a:tcPr marL="137160" marR="137160" anchor="ctr">
                    <a:solidFill>
                      <a:srgbClr val="FFFFFF"/>
                    </a:solidFill>
                  </a:tcPr>
                </a:tc>
              </a:tr>
            </a:tbl>
          </a:graphicData>
        </a:graphic>
      </p:graphicFrame>
      <p:sp>
        <p:nvSpPr>
          <p:cNvPr id="5" name="TextBox 4"/>
          <p:cNvSpPr txBox="1"/>
          <p:nvPr/>
        </p:nvSpPr>
        <p:spPr>
          <a:xfrm>
            <a:off x="1600200" y="7498079"/>
            <a:ext cx="11521440" cy="822960"/>
          </a:xfrm>
          <a:prstGeom prst="rect">
            <a:avLst/>
          </a:prstGeom>
          <a:noFill/>
        </p:spPr>
        <p:txBody>
          <a:bodyPr wrap="square" lIns="0" rIns="0" tIns="0" bIns="0" anchor="t">
            <a:spAutoFit/>
          </a:bodyPr>
          <a:lstStyle/>
          <a:p>
            <a:pPr algn="l"/>
            <a:r>
              <a:rPr sz="2300" b="1">
                <a:solidFill>
                  <a:srgbClr val="073763"/>
                </a:solidFill>
                <a:latin typeface="Arial"/>
              </a:rPr>
              <a:t>Cuando el juez pasa de los datos a ti, tu trabajo pasa de producir resultados a juzgarlos.</a:t>
            </a:r>
          </a:p>
        </p:txBody>
      </p:sp>
      <p:sp>
        <p:nvSpPr>
          <p:cNvPr id="6" name="TextBox 5"/>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2 · IA para la investigación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Un modelo de lenguaje son dos archivos: muchos números y un programa que los usa</a:t>
            </a:r>
          </a:p>
        </p:txBody>
      </p:sp>
      <p:sp>
        <p:nvSpPr>
          <p:cNvPr id="4" name="Rounded Rectangle 3"/>
          <p:cNvSpPr/>
          <p:nvPr/>
        </p:nvSpPr>
        <p:spPr>
          <a:xfrm>
            <a:off x="1600200" y="3886200"/>
            <a:ext cx="7383779"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114800"/>
            <a:ext cx="683514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Los parámetros</a:t>
            </a:r>
          </a:p>
          <a:p>
            <a:pPr algn="l">
              <a:spcAft>
                <a:spcPts val="800"/>
              </a:spcAft>
            </a:pPr>
            <a:r>
              <a:rPr sz="2000" b="1">
                <a:solidFill>
                  <a:srgbClr val="A8600A"/>
                </a:solidFill>
                <a:latin typeface="Arial"/>
              </a:rPr>
              <a:t>405,000 millones de números</a:t>
            </a:r>
          </a:p>
          <a:p>
            <a:pPr algn="l">
              <a:spcAft>
                <a:spcPts val="800"/>
              </a:spcAft>
            </a:pPr>
            <a:r>
              <a:rPr sz="2000" b="0">
                <a:solidFill>
                  <a:srgbClr val="4A4F57"/>
                </a:solidFill>
                <a:latin typeface="Arial"/>
              </a:rPr>
              <a:t>En Llama 3.1 405B ocupan cientos de gigabytes. Ahí está todo lo que el modelo aprendió.</a:t>
            </a:r>
          </a:p>
        </p:txBody>
      </p:sp>
      <p:sp>
        <p:nvSpPr>
          <p:cNvPr id="6" name="Rounded Rectangle 5"/>
          <p:cNvSpPr/>
          <p:nvPr/>
        </p:nvSpPr>
        <p:spPr>
          <a:xfrm>
            <a:off x="9304019" y="3886200"/>
            <a:ext cx="7383779"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78340" y="4114800"/>
            <a:ext cx="683514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El programa</a:t>
            </a:r>
          </a:p>
          <a:p>
            <a:pPr algn="l">
              <a:spcAft>
                <a:spcPts val="800"/>
              </a:spcAft>
            </a:pPr>
            <a:r>
              <a:rPr sz="2000" b="1">
                <a:solidFill>
                  <a:srgbClr val="A8600A"/>
                </a:solidFill>
                <a:latin typeface="Arial"/>
              </a:rPr>
              <a:t>unos cientos de líneas</a:t>
            </a:r>
          </a:p>
          <a:p>
            <a:pPr algn="l">
              <a:spcAft>
                <a:spcPts val="800"/>
              </a:spcAft>
            </a:pPr>
            <a:r>
              <a:rPr sz="2000" b="0">
                <a:solidFill>
                  <a:srgbClr val="4A4F57"/>
                </a:solidFill>
                <a:latin typeface="Arial"/>
              </a:rPr>
              <a:t>Multiplica esos números con el texto de entrada para predecir qué viene después.</a:t>
            </a:r>
          </a:p>
        </p:txBody>
      </p:sp>
      <p:sp>
        <p:nvSpPr>
          <p:cNvPr id="8" name="TextBox 7"/>
          <p:cNvSpPr txBox="1"/>
          <p:nvPr/>
        </p:nvSpPr>
        <p:spPr>
          <a:xfrm>
            <a:off x="1600200" y="7178040"/>
            <a:ext cx="11887200" cy="822960"/>
          </a:xfrm>
          <a:prstGeom prst="rect">
            <a:avLst/>
          </a:prstGeom>
          <a:noFill/>
        </p:spPr>
        <p:txBody>
          <a:bodyPr wrap="square" lIns="0" rIns="0" tIns="0" bIns="0" anchor="t">
            <a:spAutoFit/>
          </a:bodyPr>
          <a:lstStyle/>
          <a:p>
            <a:pPr algn="l"/>
            <a:r>
              <a:rPr sz="2200" b="1">
                <a:solidFill>
                  <a:srgbClr val="A8600A"/>
                </a:solidFill>
                <a:latin typeface="Arial"/>
              </a:rPr>
              <a:t>Nadie escribió esos números a mano: salieron de entrenar el modelo con texto.</a:t>
            </a:r>
          </a:p>
        </p:txBody>
      </p:sp>
      <p:sp>
        <p:nvSpPr>
          <p:cNvPr id="9" name="TextBox 8"/>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3 · Karpathy (2023), Intro to Large Language Models · Grattafiori et al. (2024), The Llama 3 Herd of Models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El modelo no lee palabras: lee tokens, pedazos de texto con un número</a:t>
            </a:r>
          </a:p>
        </p:txBody>
      </p:sp>
      <p:pic>
        <p:nvPicPr>
          <p:cNvPr id="4" name="Picture 3" descr="TOK.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4 · Tokenizador Tekken de Mistral (2024): 131,072 tokens en su vocabulario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Su único trabajo: dar una probabilidad a cada token posible</a:t>
            </a:r>
          </a:p>
        </p:txBody>
      </p:sp>
      <p:pic>
        <p:nvPicPr>
          <p:cNvPr id="4" name="Picture 3" descr="F03.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5 · IA para la investigación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Para escribir, repite: elige un token, lo agrega al texto y vuelve a predecir</a:t>
            </a:r>
          </a:p>
        </p:txBody>
      </p:sp>
      <p:pic>
        <p:nvPicPr>
          <p:cNvPr id="4" name="Picture 3" descr="MUES.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6 · IA para la investigación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Cada token se vuelve un vector: tokens con significado parecido quedan cerca</a:t>
            </a:r>
          </a:p>
        </p:txBody>
      </p:sp>
      <p:pic>
        <p:nvPicPr>
          <p:cNvPr id="4" name="Picture 3" descr="EMB.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7 · Mikolov et al. (2013) · posiciones ilustrativas en 2D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EL SIGUIENTE TOKEN</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Aprender es equivocarse menos: la pérdida mide qué tan sorprendido quedó el modelo</a:t>
            </a:r>
          </a:p>
        </p:txBody>
      </p:sp>
      <p:pic>
        <p:nvPicPr>
          <p:cNvPr id="5" name="Picture 4" descr="PERD.png"/>
          <p:cNvPicPr>
            <a:picLocks noChangeAspect="1"/>
          </p:cNvPicPr>
          <p:nvPr/>
        </p:nvPicPr>
        <p:blipFill>
          <a:blip r:embed="rId3"/>
          <a:stretch>
            <a:fillRect/>
          </a:stretch>
        </p:blipFill>
        <p:spPr>
          <a:xfrm>
            <a:off x="1600200" y="3886200"/>
            <a:ext cx="11582400" cy="4343400"/>
          </a:xfrm>
          <a:prstGeom prst="rect">
            <a:avLst/>
          </a:prstGeom>
        </p:spPr>
      </p:pic>
      <p:sp>
        <p:nvSpPr>
          <p:cNvPr id="6" name="TextBox 5"/>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8 · Pérdida de entropía cruzada: −log p(token correcto)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El gradiente dice hacia dónde mover cada número para que la pérdida baje</a:t>
            </a:r>
          </a:p>
        </p:txBody>
      </p:sp>
      <p:pic>
        <p:nvPicPr>
          <p:cNvPr id="4" name="Picture 3" descr="GRAD.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9 · IA para la investigación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Entrenar es repetir ese paso millones de veces: el descenso por gradiente</a:t>
            </a:r>
          </a:p>
        </p:txBody>
      </p:sp>
      <p:pic>
        <p:nvPicPr>
          <p:cNvPr id="4" name="Picture 3" descr="DESC.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10 · IA para la investigación · descenso por gradiente calculado sobre una superficie de juguete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Lo mismo, a escala: miles de millones de números ajustados con billones de tokens</a:t>
            </a:r>
          </a:p>
        </p:txBody>
      </p:sp>
      <p:cxnSp>
        <p:nvCxnSpPr>
          <p:cNvPr id="4" name="Connector 3"/>
          <p:cNvCxnSpPr/>
          <p:nvPr/>
        </p:nvCxnSpPr>
        <p:spPr>
          <a:xfrm>
            <a:off x="1600200" y="3886200"/>
            <a:ext cx="466344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600200" y="4114800"/>
            <a:ext cx="4663440" cy="533400"/>
          </a:xfrm>
          <a:prstGeom prst="rect">
            <a:avLst/>
          </a:prstGeom>
          <a:noFill/>
        </p:spPr>
        <p:txBody>
          <a:bodyPr wrap="square" lIns="0" rIns="0" tIns="0" bIns="0" anchor="t">
            <a:spAutoFit/>
          </a:bodyPr>
          <a:lstStyle/>
          <a:p>
            <a:pPr algn="l">
              <a:lnSpc>
                <a:spcPct val="90000"/>
              </a:lnSpc>
            </a:pPr>
            <a:r>
              <a:rPr sz="4000" b="1">
                <a:solidFill>
                  <a:srgbClr val="073763"/>
                </a:solidFill>
                <a:latin typeface="Arial"/>
              </a:rPr>
              <a:t>405 mil millones</a:t>
            </a:r>
          </a:p>
        </p:txBody>
      </p:sp>
      <p:sp>
        <p:nvSpPr>
          <p:cNvPr id="6" name="TextBox 5"/>
          <p:cNvSpPr txBox="1"/>
          <p:nvPr/>
        </p:nvSpPr>
        <p:spPr>
          <a:xfrm>
            <a:off x="1600200" y="4739639"/>
            <a:ext cx="4663440" cy="1371600"/>
          </a:xfrm>
          <a:prstGeom prst="rect">
            <a:avLst/>
          </a:prstGeom>
          <a:noFill/>
        </p:spPr>
        <p:txBody>
          <a:bodyPr wrap="square" lIns="0" rIns="0" tIns="0" bIns="0" anchor="t">
            <a:spAutoFit/>
          </a:bodyPr>
          <a:lstStyle/>
          <a:p>
            <a:pPr algn="l"/>
            <a:r>
              <a:rPr sz="2000" b="0">
                <a:solidFill>
                  <a:srgbClr val="4A4F57"/>
                </a:solidFill>
                <a:latin typeface="Arial"/>
              </a:rPr>
              <a:t>parámetros en Llama 3.1 405B</a:t>
            </a:r>
          </a:p>
        </p:txBody>
      </p:sp>
      <p:cxnSp>
        <p:nvCxnSpPr>
          <p:cNvPr id="7" name="Connector 6"/>
          <p:cNvCxnSpPr/>
          <p:nvPr/>
        </p:nvCxnSpPr>
        <p:spPr>
          <a:xfrm>
            <a:off x="6812280" y="3886200"/>
            <a:ext cx="466344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12280" y="4114800"/>
            <a:ext cx="4663440" cy="533400"/>
          </a:xfrm>
          <a:prstGeom prst="rect">
            <a:avLst/>
          </a:prstGeom>
          <a:noFill/>
        </p:spPr>
        <p:txBody>
          <a:bodyPr wrap="square" lIns="0" rIns="0" tIns="0" bIns="0" anchor="t">
            <a:spAutoFit/>
          </a:bodyPr>
          <a:lstStyle/>
          <a:p>
            <a:pPr algn="l">
              <a:lnSpc>
                <a:spcPct val="90000"/>
              </a:lnSpc>
            </a:pPr>
            <a:r>
              <a:rPr sz="4000" b="1">
                <a:solidFill>
                  <a:srgbClr val="A8600A"/>
                </a:solidFill>
                <a:latin typeface="Arial"/>
              </a:rPr>
              <a:t>15.6 billones</a:t>
            </a:r>
          </a:p>
        </p:txBody>
      </p:sp>
      <p:sp>
        <p:nvSpPr>
          <p:cNvPr id="9" name="TextBox 8"/>
          <p:cNvSpPr txBox="1"/>
          <p:nvPr/>
        </p:nvSpPr>
        <p:spPr>
          <a:xfrm>
            <a:off x="6812280" y="4739639"/>
            <a:ext cx="4663440" cy="1371600"/>
          </a:xfrm>
          <a:prstGeom prst="rect">
            <a:avLst/>
          </a:prstGeom>
          <a:noFill/>
        </p:spPr>
        <p:txBody>
          <a:bodyPr wrap="square" lIns="0" rIns="0" tIns="0" bIns="0" anchor="t">
            <a:spAutoFit/>
          </a:bodyPr>
          <a:lstStyle/>
          <a:p>
            <a:pPr algn="l"/>
            <a:r>
              <a:rPr sz="2000" b="0">
                <a:solidFill>
                  <a:srgbClr val="4A4F57"/>
                </a:solidFill>
                <a:latin typeface="Arial"/>
              </a:rPr>
              <a:t>de tokens de texto en el preentrenamiento</a:t>
            </a:r>
          </a:p>
        </p:txBody>
      </p:sp>
      <p:cxnSp>
        <p:nvCxnSpPr>
          <p:cNvPr id="10" name="Connector 9"/>
          <p:cNvCxnSpPr/>
          <p:nvPr/>
        </p:nvCxnSpPr>
        <p:spPr>
          <a:xfrm>
            <a:off x="12024360" y="3886200"/>
            <a:ext cx="466344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024360" y="4114800"/>
            <a:ext cx="4663440" cy="533400"/>
          </a:xfrm>
          <a:prstGeom prst="rect">
            <a:avLst/>
          </a:prstGeom>
          <a:noFill/>
        </p:spPr>
        <p:txBody>
          <a:bodyPr wrap="square" lIns="0" rIns="0" tIns="0" bIns="0" anchor="t">
            <a:spAutoFit/>
          </a:bodyPr>
          <a:lstStyle/>
          <a:p>
            <a:pPr algn="l">
              <a:lnSpc>
                <a:spcPct val="90000"/>
              </a:lnSpc>
            </a:pPr>
            <a:r>
              <a:rPr sz="4000" b="1">
                <a:solidFill>
                  <a:srgbClr val="073763"/>
                </a:solidFill>
                <a:latin typeface="Arial"/>
              </a:rPr>
              <a:t>3.8 × 10²⁵</a:t>
            </a:r>
          </a:p>
        </p:txBody>
      </p:sp>
      <p:sp>
        <p:nvSpPr>
          <p:cNvPr id="12" name="TextBox 11"/>
          <p:cNvSpPr txBox="1"/>
          <p:nvPr/>
        </p:nvSpPr>
        <p:spPr>
          <a:xfrm>
            <a:off x="12024360" y="4739639"/>
            <a:ext cx="4663440" cy="1371600"/>
          </a:xfrm>
          <a:prstGeom prst="rect">
            <a:avLst/>
          </a:prstGeom>
          <a:noFill/>
        </p:spPr>
        <p:txBody>
          <a:bodyPr wrap="square" lIns="0" rIns="0" tIns="0" bIns="0" anchor="t">
            <a:spAutoFit/>
          </a:bodyPr>
          <a:lstStyle/>
          <a:p>
            <a:pPr algn="l"/>
            <a:r>
              <a:rPr sz="2000" b="0">
                <a:solidFill>
                  <a:srgbClr val="4A4F57"/>
                </a:solidFill>
                <a:latin typeface="Arial"/>
              </a:rPr>
              <a:t>operaciones de punto flotante para entrenarlo</a:t>
            </a:r>
          </a:p>
        </p:txBody>
      </p:sp>
      <p:sp>
        <p:nvSpPr>
          <p:cNvPr id="13" name="TextBox 12"/>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11 · Grattafiori et al. (2024), The Llama 3 Herd of Models, Meta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Pero un token solo no basta: su sentido depende de los demás</a:t>
            </a:r>
          </a:p>
        </p:txBody>
      </p:sp>
      <p:sp>
        <p:nvSpPr>
          <p:cNvPr id="4" name="Rounded Rectangle 3"/>
          <p:cNvSpPr/>
          <p:nvPr/>
        </p:nvSpPr>
        <p:spPr>
          <a:xfrm>
            <a:off x="1600200" y="3886200"/>
            <a:ext cx="7360920" cy="3566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114800"/>
            <a:ext cx="6812280" cy="320040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«…porque estaba muy pesada»</a:t>
            </a:r>
          </a:p>
          <a:p>
            <a:pPr algn="l">
              <a:spcAft>
                <a:spcPts val="800"/>
              </a:spcAft>
            </a:pPr>
            <a:r>
              <a:rPr sz="2100" b="0">
                <a:solidFill>
                  <a:srgbClr val="4A4F57"/>
                </a:solidFill>
                <a:latin typeface="Arial"/>
              </a:rPr>
              <a:t>•  El robot no levantó la caja porque estaba muy pesada.</a:t>
            </a:r>
          </a:p>
          <a:p>
            <a:pPr algn="l">
              <a:spcAft>
                <a:spcPts val="800"/>
              </a:spcAft>
            </a:pPr>
            <a:r>
              <a:rPr sz="2100" b="0">
                <a:solidFill>
                  <a:srgbClr val="4A4F57"/>
                </a:solidFill>
                <a:latin typeface="Arial"/>
              </a:rPr>
              <a:t>•  «pesada» habla de la caja</a:t>
            </a:r>
          </a:p>
        </p:txBody>
      </p:sp>
      <p:sp>
        <p:nvSpPr>
          <p:cNvPr id="6" name="Rounded Rectangle 5"/>
          <p:cNvSpPr/>
          <p:nvPr/>
        </p:nvSpPr>
        <p:spPr>
          <a:xfrm>
            <a:off x="9326880" y="3886200"/>
            <a:ext cx="7360920" cy="3566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0" y="4114800"/>
            <a:ext cx="6812280" cy="320040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«…porque estaba muy cansado»</a:t>
            </a:r>
          </a:p>
          <a:p>
            <a:pPr algn="l">
              <a:spcAft>
                <a:spcPts val="800"/>
              </a:spcAft>
            </a:pPr>
            <a:r>
              <a:rPr sz="2100" b="0">
                <a:solidFill>
                  <a:srgbClr val="4A4F57"/>
                </a:solidFill>
                <a:latin typeface="Arial"/>
              </a:rPr>
              <a:t>•  El robot no levantó la caja porque estaba muy cansado.</a:t>
            </a:r>
          </a:p>
          <a:p>
            <a:pPr algn="l">
              <a:spcAft>
                <a:spcPts val="800"/>
              </a:spcAft>
            </a:pPr>
            <a:r>
              <a:rPr sz="2100" b="0">
                <a:solidFill>
                  <a:srgbClr val="4A4F57"/>
                </a:solidFill>
                <a:latin typeface="Arial"/>
              </a:rPr>
              <a:t>•  «cansado» habla del robot</a:t>
            </a:r>
          </a:p>
        </p:txBody>
      </p:sp>
      <p:sp>
        <p:nvSpPr>
          <p:cNvPr id="8" name="TextBox 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12 · Ejemplo tipo Winograd · Levesque et al. (2012)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La atención deja que cada token decida a qué otros tokens mirar</a:t>
            </a:r>
          </a:p>
        </p:txBody>
      </p:sp>
      <p:pic>
        <p:nvPicPr>
          <p:cNvPr id="4" name="Picture 3" descr="S04.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13 · Vaswani et al. (2017), Attention Is All You Need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Un bloque transformer: la atención mezcla entre tokens; la red MLP trabaja cada uno</a:t>
            </a:r>
          </a:p>
        </p:txBody>
      </p:sp>
      <p:pic>
        <p:nvPicPr>
          <p:cNvPr id="4" name="Picture 3" descr="BLOQ.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14 · Vaswani et al. (2017)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Se apilan decenas de bloques; el vector del último token da las probabilidades</a:t>
            </a:r>
          </a:p>
        </p:txBody>
      </p:sp>
      <p:pic>
        <p:nvPicPr>
          <p:cNvPr id="4" name="Picture 3" descr="PILA.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15 · Llama 3.1 405B: 126 capas · Grattafiori et al. (2024)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Todo lo que el modelo ve está en su ventana de contexto: su memoria de trabajo</a:t>
            </a:r>
          </a:p>
        </p:txBody>
      </p:sp>
      <p:pic>
        <p:nvPicPr>
          <p:cNvPr id="4" name="Picture 3" descr="F16.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16 · Claude: 200,000 tokens de contexto · Anthropic (2025)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Leyes de escala: la pérdida baja de forma predecible con más parámetros y más datos</a:t>
            </a:r>
          </a:p>
        </p:txBody>
      </p:sp>
      <p:pic>
        <p:nvPicPr>
          <p:cNvPr id="4" name="Picture 3" descr="F17.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17 · Kaplan et al. (2020) · Hoffmann et al. (2022), Chinchilla: curvas calculadas con su ajuste publicado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EL SIGUIENTE TOKEN</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El modelo preentrenado solo completa textos: no sigue instrucciones</a:t>
            </a:r>
          </a:p>
        </p:txBody>
      </p:sp>
      <p:sp>
        <p:nvSpPr>
          <p:cNvPr id="5" name="Rounded Rectangle 4"/>
          <p:cNvSpPr/>
          <p:nvPr/>
        </p:nvSpPr>
        <p:spPr>
          <a:xfrm>
            <a:off x="1600200" y="3886200"/>
            <a:ext cx="7360920" cy="3566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874519" y="4114800"/>
            <a:ext cx="6812280" cy="320040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Modelo base</a:t>
            </a:r>
          </a:p>
          <a:p>
            <a:pPr algn="l">
              <a:spcAft>
                <a:spcPts val="800"/>
              </a:spcAft>
            </a:pPr>
            <a:r>
              <a:rPr sz="2100" b="0">
                <a:solidFill>
                  <a:srgbClr val="4A4F57"/>
                </a:solidFill>
                <a:latin typeface="Arial"/>
              </a:rPr>
              <a:t>•  Tú: ¿Cuáles son las fases de la marcha?</a:t>
            </a:r>
          </a:p>
          <a:p>
            <a:pPr algn="l">
              <a:spcAft>
                <a:spcPts val="800"/>
              </a:spcAft>
            </a:pPr>
            <a:r>
              <a:rPr sz="2100" b="0">
                <a:solidFill>
                  <a:srgbClr val="4A4F57"/>
                </a:solidFill>
                <a:latin typeface="Arial"/>
              </a:rPr>
              <a:t>•  Modelo: ¿Cuáles son las fases de la carrera? ¿Qué músculos se activan en cada una? Responda en no más de…</a:t>
            </a:r>
          </a:p>
        </p:txBody>
      </p:sp>
      <p:sp>
        <p:nvSpPr>
          <p:cNvPr id="7" name="Rounded Rectangle 6"/>
          <p:cNvSpPr/>
          <p:nvPr/>
        </p:nvSpPr>
        <p:spPr>
          <a:xfrm>
            <a:off x="9326880" y="3886200"/>
            <a:ext cx="7360920" cy="3566160"/>
          </a:xfrm>
          <a:prstGeom prst="roundRect">
            <a:avLst>
              <a:gd name="adj" fmla="val 6000"/>
            </a:avLst>
          </a:prstGeom>
          <a:solidFill>
            <a:srgbClr val="FDF1DF"/>
          </a:solid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0" y="4114800"/>
            <a:ext cx="6812280" cy="3200400"/>
          </a:xfrm>
          <a:prstGeom prst="rect">
            <a:avLst/>
          </a:prstGeom>
          <a:noFill/>
        </p:spPr>
        <p:txBody>
          <a:bodyPr wrap="square" lIns="0" rIns="0" tIns="0" bIns="0" anchor="t">
            <a:spAutoFit/>
          </a:bodyPr>
          <a:lstStyle/>
          <a:p>
            <a:pPr algn="l">
              <a:spcAft>
                <a:spcPts val="800"/>
              </a:spcAft>
            </a:pPr>
            <a:r>
              <a:rPr sz="2400" b="1">
                <a:solidFill>
                  <a:srgbClr val="A8600A"/>
                </a:solidFill>
                <a:latin typeface="Arial"/>
              </a:rPr>
              <a:t>Lo que queremos</a:t>
            </a:r>
          </a:p>
          <a:p>
            <a:pPr algn="l">
              <a:spcAft>
                <a:spcPts val="800"/>
              </a:spcAft>
            </a:pPr>
            <a:r>
              <a:rPr sz="2100" b="0">
                <a:solidFill>
                  <a:srgbClr val="4A4F57"/>
                </a:solidFill>
                <a:latin typeface="Arial"/>
              </a:rPr>
              <a:t>•  Tú: ¿Cuáles son las fases de la marcha?</a:t>
            </a:r>
          </a:p>
          <a:p>
            <a:pPr algn="l">
              <a:spcAft>
                <a:spcPts val="800"/>
              </a:spcAft>
            </a:pPr>
            <a:r>
              <a:rPr sz="2100" b="0">
                <a:solidFill>
                  <a:srgbClr val="4A4F57"/>
                </a:solidFill>
                <a:latin typeface="Arial"/>
              </a:rPr>
              <a:t>•  Asistente: Dos: apoyo (~60% del ciclo) y balanceo (~40%)…</a:t>
            </a:r>
          </a:p>
        </p:txBody>
      </p:sp>
      <p:sp>
        <p:nvSpPr>
          <p:cNvPr id="9" name="TextBox 8"/>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18 · Ejemplo ilustrativo · Ouyang et al. (2022), InstructGPT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EJEMPLOS HUMANOS</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Ajuste fino: se le muestran miles de conversaciones modelo escritas por personas</a:t>
            </a:r>
          </a:p>
        </p:txBody>
      </p:sp>
      <p:sp>
        <p:nvSpPr>
          <p:cNvPr id="5" name="Rounded Rectangle 4"/>
          <p:cNvSpPr/>
          <p:nvPr/>
        </p:nvSpPr>
        <p:spPr>
          <a:xfrm>
            <a:off x="160020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874519"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Qué ve</a:t>
            </a:r>
          </a:p>
          <a:p>
            <a:pPr algn="l">
              <a:spcAft>
                <a:spcPts val="800"/>
              </a:spcAft>
            </a:pPr>
            <a:r>
              <a:rPr sz="2000" b="0">
                <a:solidFill>
                  <a:srgbClr val="4A4F57"/>
                </a:solidFill>
                <a:latin typeface="Arial"/>
              </a:rPr>
              <a:t>Pares de instrucción y respuesta ideal, escritos o revisados por personas.</a:t>
            </a:r>
          </a:p>
        </p:txBody>
      </p:sp>
      <p:sp>
        <p:nvSpPr>
          <p:cNvPr id="7" name="Rounded Rectangle 6"/>
          <p:cNvSpPr/>
          <p:nvPr/>
        </p:nvSpPr>
        <p:spPr>
          <a:xfrm>
            <a:off x="673608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10399"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Qué aprende</a:t>
            </a:r>
          </a:p>
          <a:p>
            <a:pPr algn="l">
              <a:spcAft>
                <a:spcPts val="800"/>
              </a:spcAft>
            </a:pPr>
            <a:r>
              <a:rPr sz="2000" b="0">
                <a:solidFill>
                  <a:srgbClr val="4A4F57"/>
                </a:solidFill>
                <a:latin typeface="Arial"/>
              </a:rPr>
              <a:t>El formato y el rol: responder, seguir instrucciones, decir cuándo no sabe.</a:t>
            </a:r>
          </a:p>
        </p:txBody>
      </p:sp>
      <p:sp>
        <p:nvSpPr>
          <p:cNvPr id="9" name="Rounded Rectangle 8"/>
          <p:cNvSpPr/>
          <p:nvPr/>
        </p:nvSpPr>
        <p:spPr>
          <a:xfrm>
            <a:off x="1187196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146280"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Qué no aprende</a:t>
            </a:r>
          </a:p>
          <a:p>
            <a:pPr algn="l">
              <a:spcAft>
                <a:spcPts val="800"/>
              </a:spcAft>
            </a:pPr>
            <a:r>
              <a:rPr sz="2000" b="0">
                <a:solidFill>
                  <a:srgbClr val="4A4F57"/>
                </a:solidFill>
                <a:latin typeface="Arial"/>
              </a:rPr>
              <a:t>Conocimiento nuevo: casi todo viene del preentrenamiento.</a:t>
            </a:r>
          </a:p>
        </p:txBody>
      </p:sp>
      <p:sp>
        <p:nvSpPr>
          <p:cNvPr id="11" name="TextBox 10"/>
          <p:cNvSpPr txBox="1"/>
          <p:nvPr/>
        </p:nvSpPr>
        <p:spPr>
          <a:xfrm>
            <a:off x="1600200" y="7178040"/>
            <a:ext cx="11887200" cy="822960"/>
          </a:xfrm>
          <a:prstGeom prst="rect">
            <a:avLst/>
          </a:prstGeom>
          <a:noFill/>
        </p:spPr>
        <p:txBody>
          <a:bodyPr wrap="square" lIns="0" rIns="0" tIns="0" bIns="0" anchor="t">
            <a:spAutoFit/>
          </a:bodyPr>
          <a:lstStyle/>
          <a:p>
            <a:pPr algn="l"/>
            <a:r>
              <a:rPr sz="2200" b="1">
                <a:solidFill>
                  <a:srgbClr val="A8600A"/>
                </a:solidFill>
                <a:latin typeface="Arial"/>
              </a:rPr>
              <a:t>El juez ya no es el texto de internet: son ejemplos humanos de cómo responder.</a:t>
            </a:r>
          </a:p>
        </p:txBody>
      </p:sp>
      <p:sp>
        <p:nvSpPr>
          <p:cNvPr id="12" name="TextBox 11"/>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19 · Ouyang et al. (2022), InstructGPT · Zhou et al. (2023), LIMA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LAS PREFERENCIAS HUMANAS</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RLHF: personas eligen la mejor de dos respuestas y el modelo aprende de esa elección</a:t>
            </a:r>
          </a:p>
        </p:txBody>
      </p:sp>
      <p:sp>
        <p:nvSpPr>
          <p:cNvPr id="5" name="Rounded Rectangle 4"/>
          <p:cNvSpPr/>
          <p:nvPr/>
        </p:nvSpPr>
        <p:spPr>
          <a:xfrm>
            <a:off x="160020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874519" y="4069080"/>
            <a:ext cx="3017520" cy="731520"/>
          </a:xfrm>
          <a:prstGeom prst="rect">
            <a:avLst/>
          </a:prstGeom>
          <a:noFill/>
        </p:spPr>
        <p:txBody>
          <a:bodyPr wrap="square" lIns="0" rIns="0" tIns="0" bIns="0" anchor="t">
            <a:spAutoFit/>
          </a:bodyPr>
          <a:lstStyle/>
          <a:p>
            <a:pPr algn="l"/>
            <a:r>
              <a:rPr sz="4400" b="1">
                <a:solidFill>
                  <a:srgbClr val="A8600A"/>
                </a:solidFill>
                <a:latin typeface="Arial"/>
              </a:rPr>
              <a:t>1</a:t>
            </a:r>
          </a:p>
        </p:txBody>
      </p:sp>
      <p:sp>
        <p:nvSpPr>
          <p:cNvPr id="7" name="TextBox 6"/>
          <p:cNvSpPr txBox="1"/>
          <p:nvPr/>
        </p:nvSpPr>
        <p:spPr>
          <a:xfrm>
            <a:off x="1874519"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El modelo escribe dos respuestas a la misma pregunta</a:t>
            </a:r>
          </a:p>
        </p:txBody>
      </p:sp>
      <p:sp>
        <p:nvSpPr>
          <p:cNvPr id="8" name="Rounded Rectangle 7"/>
          <p:cNvSpPr/>
          <p:nvPr/>
        </p:nvSpPr>
        <p:spPr>
          <a:xfrm>
            <a:off x="544068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715000" y="4069080"/>
            <a:ext cx="3017520" cy="731520"/>
          </a:xfrm>
          <a:prstGeom prst="rect">
            <a:avLst/>
          </a:prstGeom>
          <a:noFill/>
        </p:spPr>
        <p:txBody>
          <a:bodyPr wrap="square" lIns="0" rIns="0" tIns="0" bIns="0" anchor="t">
            <a:spAutoFit/>
          </a:bodyPr>
          <a:lstStyle/>
          <a:p>
            <a:pPr algn="l"/>
            <a:r>
              <a:rPr sz="4400" b="1">
                <a:solidFill>
                  <a:srgbClr val="A8600A"/>
                </a:solidFill>
                <a:latin typeface="Arial"/>
              </a:rPr>
              <a:t>2</a:t>
            </a:r>
          </a:p>
        </p:txBody>
      </p:sp>
      <p:sp>
        <p:nvSpPr>
          <p:cNvPr id="10" name="TextBox 9"/>
          <p:cNvSpPr txBox="1"/>
          <p:nvPr/>
        </p:nvSpPr>
        <p:spPr>
          <a:xfrm>
            <a:off x="5715000"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Una persona elige la mejor</a:t>
            </a:r>
          </a:p>
        </p:txBody>
      </p:sp>
      <p:sp>
        <p:nvSpPr>
          <p:cNvPr id="11" name="Rounded Rectangle 10"/>
          <p:cNvSpPr/>
          <p:nvPr/>
        </p:nvSpPr>
        <p:spPr>
          <a:xfrm>
            <a:off x="928116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55480" y="4069080"/>
            <a:ext cx="3017520" cy="731520"/>
          </a:xfrm>
          <a:prstGeom prst="rect">
            <a:avLst/>
          </a:prstGeom>
          <a:noFill/>
        </p:spPr>
        <p:txBody>
          <a:bodyPr wrap="square" lIns="0" rIns="0" tIns="0" bIns="0" anchor="t">
            <a:spAutoFit/>
          </a:bodyPr>
          <a:lstStyle/>
          <a:p>
            <a:pPr algn="l"/>
            <a:r>
              <a:rPr sz="4400" b="1">
                <a:solidFill>
                  <a:srgbClr val="A8600A"/>
                </a:solidFill>
                <a:latin typeface="Arial"/>
              </a:rPr>
              <a:t>3</a:t>
            </a:r>
          </a:p>
        </p:txBody>
      </p:sp>
      <p:sp>
        <p:nvSpPr>
          <p:cNvPr id="13" name="TextBox 12"/>
          <p:cNvSpPr txBox="1"/>
          <p:nvPr/>
        </p:nvSpPr>
        <p:spPr>
          <a:xfrm>
            <a:off x="9555480"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Un modelo de recompensa aprende a predecir esa elección</a:t>
            </a:r>
          </a:p>
        </p:txBody>
      </p:sp>
      <p:sp>
        <p:nvSpPr>
          <p:cNvPr id="14" name="Rounded Rectangle 13"/>
          <p:cNvSpPr/>
          <p:nvPr/>
        </p:nvSpPr>
        <p:spPr>
          <a:xfrm>
            <a:off x="1312164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395960" y="4069080"/>
            <a:ext cx="3017520" cy="731520"/>
          </a:xfrm>
          <a:prstGeom prst="rect">
            <a:avLst/>
          </a:prstGeom>
          <a:noFill/>
        </p:spPr>
        <p:txBody>
          <a:bodyPr wrap="square" lIns="0" rIns="0" tIns="0" bIns="0" anchor="t">
            <a:spAutoFit/>
          </a:bodyPr>
          <a:lstStyle/>
          <a:p>
            <a:pPr algn="l"/>
            <a:r>
              <a:rPr sz="4400" b="1">
                <a:solidFill>
                  <a:srgbClr val="A8600A"/>
                </a:solidFill>
                <a:latin typeface="Arial"/>
              </a:rPr>
              <a:t>4</a:t>
            </a:r>
          </a:p>
        </p:txBody>
      </p:sp>
      <p:sp>
        <p:nvSpPr>
          <p:cNvPr id="16" name="TextBox 15"/>
          <p:cNvSpPr txBox="1"/>
          <p:nvPr/>
        </p:nvSpPr>
        <p:spPr>
          <a:xfrm>
            <a:off x="13395960"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El modelo se ajusta para ganar más recompensa</a:t>
            </a:r>
          </a:p>
        </p:txBody>
      </p:sp>
      <p:sp>
        <p:nvSpPr>
          <p:cNvPr id="17" name="TextBox 16"/>
          <p:cNvSpPr txBox="1"/>
          <p:nvPr/>
        </p:nvSpPr>
        <p:spPr>
          <a:xfrm>
            <a:off x="1600200" y="6537960"/>
            <a:ext cx="11887200" cy="822960"/>
          </a:xfrm>
          <a:prstGeom prst="rect">
            <a:avLst/>
          </a:prstGeom>
          <a:noFill/>
        </p:spPr>
        <p:txBody>
          <a:bodyPr wrap="square" lIns="0" rIns="0" tIns="0" bIns="0" anchor="t">
            <a:spAutoFit/>
          </a:bodyPr>
          <a:lstStyle/>
          <a:p>
            <a:pPr algn="l"/>
            <a:r>
              <a:rPr sz="2200" b="1">
                <a:solidFill>
                  <a:srgbClr val="A8600A"/>
                </a:solidFill>
                <a:latin typeface="Arial"/>
              </a:rPr>
              <a:t>Moldea utilidad, tono y rechazos. No garantiza la verdad: premia lo que a la gente le parece mejor.</a:t>
            </a:r>
          </a:p>
        </p:txBody>
      </p:sp>
      <p:sp>
        <p:nvSpPr>
          <p:cNvPr id="18" name="TextBox 1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20 · Christiano et al. (2017) · Ouyang et al. (2022) · DPO: Rafailov et al. (2023)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UN VERIFICADOR</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Con un verificador como juez, los modelos aprendieron a razonar paso a paso</a:t>
            </a:r>
          </a:p>
        </p:txBody>
      </p:sp>
      <p:pic>
        <p:nvPicPr>
          <p:cNvPr id="5" name="Picture 4" descr="S06.png"/>
          <p:cNvPicPr>
            <a:picLocks noChangeAspect="1"/>
          </p:cNvPicPr>
          <p:nvPr/>
        </p:nvPicPr>
        <p:blipFill>
          <a:blip r:embed="rId3"/>
          <a:stretch>
            <a:fillRect/>
          </a:stretch>
        </p:blipFill>
        <p:spPr>
          <a:xfrm>
            <a:off x="1600200" y="3886200"/>
            <a:ext cx="11582400" cy="4343400"/>
          </a:xfrm>
          <a:prstGeom prst="rect">
            <a:avLst/>
          </a:prstGeom>
        </p:spPr>
      </p:pic>
      <p:sp>
        <p:nvSpPr>
          <p:cNvPr id="6" name="TextBox 5"/>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21 · DeepSeek-AI (2025), DeepSeek-R1 · simulación de juguete, calculada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UN VERIFICADOR, O UNA RÚBRICA</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Pensar más compra precisión; y sin verificador, el juez puede ser una rúbrica</a:t>
            </a:r>
          </a:p>
        </p:txBody>
      </p:sp>
      <p:sp>
        <p:nvSpPr>
          <p:cNvPr id="5" name="Rounded Rectangle 4"/>
          <p:cNvSpPr/>
          <p:nvPr/>
        </p:nvSpPr>
        <p:spPr>
          <a:xfrm>
            <a:off x="1600200" y="3886200"/>
            <a:ext cx="7383779"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874519" y="4114800"/>
            <a:ext cx="683514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Pensar más</a:t>
            </a:r>
          </a:p>
          <a:p>
            <a:pPr algn="l">
              <a:spcAft>
                <a:spcPts val="800"/>
              </a:spcAft>
            </a:pPr>
            <a:r>
              <a:rPr sz="2000" b="0">
                <a:solidFill>
                  <a:srgbClr val="4A4F57"/>
                </a:solidFill>
                <a:latin typeface="Arial"/>
              </a:rPr>
              <a:t>Más tokens de razonamiento o más intentos con voto. Ayuda si el modelo ya es bueno en la tarea; si no, amplifica el error.</a:t>
            </a:r>
          </a:p>
        </p:txBody>
      </p:sp>
      <p:sp>
        <p:nvSpPr>
          <p:cNvPr id="7" name="Rounded Rectangle 6"/>
          <p:cNvSpPr/>
          <p:nvPr/>
        </p:nvSpPr>
        <p:spPr>
          <a:xfrm>
            <a:off x="9304019" y="3886200"/>
            <a:ext cx="7383779" cy="2926080"/>
          </a:xfrm>
          <a:prstGeom prst="roundRect">
            <a:avLst>
              <a:gd name="adj" fmla="val 6000"/>
            </a:avLst>
          </a:prstGeom>
          <a:solidFill>
            <a:srgbClr val="FDF1DF"/>
          </a:solid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578340" y="4114800"/>
            <a:ext cx="6835140" cy="2560320"/>
          </a:xfrm>
          <a:prstGeom prst="rect">
            <a:avLst/>
          </a:prstGeom>
          <a:noFill/>
        </p:spPr>
        <p:txBody>
          <a:bodyPr wrap="square" lIns="0" rIns="0" tIns="0" bIns="0" anchor="t">
            <a:spAutoFit/>
          </a:bodyPr>
          <a:lstStyle/>
          <a:p>
            <a:pPr algn="l">
              <a:spcAft>
                <a:spcPts val="800"/>
              </a:spcAft>
            </a:pPr>
            <a:r>
              <a:rPr sz="2400" b="1">
                <a:solidFill>
                  <a:srgbClr val="A8600A"/>
                </a:solidFill>
                <a:latin typeface="Arial"/>
              </a:rPr>
              <a:t>Sin respuesta única</a:t>
            </a:r>
          </a:p>
          <a:p>
            <a:pPr algn="l">
              <a:spcAft>
                <a:spcPts val="800"/>
              </a:spcAft>
            </a:pPr>
            <a:r>
              <a:rPr sz="2000" b="0">
                <a:solidFill>
                  <a:srgbClr val="4A4F57"/>
                </a:solidFill>
                <a:latin typeface="Arial"/>
              </a:rPr>
              <a:t>Un reporte de literatura no tiene verificador. DR Tulu entrena con rúbricas que evolucionan durante el entrenamiento, y le va mejor que con rúbricas fijas.</a:t>
            </a:r>
          </a:p>
        </p:txBody>
      </p:sp>
      <p:sp>
        <p:nvSpPr>
          <p:cNvPr id="9" name="TextBox 8"/>
          <p:cNvSpPr txBox="1"/>
          <p:nvPr/>
        </p:nvSpPr>
        <p:spPr>
          <a:xfrm>
            <a:off x="1600200" y="7178040"/>
            <a:ext cx="11887200" cy="822960"/>
          </a:xfrm>
          <a:prstGeom prst="rect">
            <a:avLst/>
          </a:prstGeom>
          <a:noFill/>
        </p:spPr>
        <p:txBody>
          <a:bodyPr wrap="square" lIns="0" rIns="0" tIns="0" bIns="0" anchor="t">
            <a:spAutoFit/>
          </a:bodyPr>
          <a:lstStyle/>
          <a:p>
            <a:pPr algn="l"/>
            <a:r>
              <a:rPr sz="2200" b="1">
                <a:solidFill>
                  <a:srgbClr val="A8600A"/>
                </a:solidFill>
                <a:latin typeface="Arial"/>
              </a:rPr>
              <a:t>El juez ya no solo evalúa: también entrena.</a:t>
            </a:r>
          </a:p>
        </p:txBody>
      </p:sp>
      <p:sp>
        <p:nvSpPr>
          <p:cNvPr id="10" name="TextBox 9"/>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22 · Snell et al. (2024) · Shao, Asai et al. (ICML 2026), DR Tulu · vía Asai (2026), CMU 11-768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1 · CÓMO FUNCIONAN</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Imágenes, audio y video también se vuelven tokens que lee el mismo transformer</a:t>
            </a:r>
          </a:p>
        </p:txBody>
      </p:sp>
      <p:pic>
        <p:nvPicPr>
          <p:cNvPr id="4" name="Picture 3" descr="S07.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23 · Dosovitskiy et al. (2021), ViT · imagen sintética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Casi todos probamos chatbots; muy pocos usamos agentes</a:t>
            </a:r>
          </a:p>
        </p:txBody>
      </p:sp>
      <p:cxnSp>
        <p:nvCxnSpPr>
          <p:cNvPr id="4" name="Connector 3"/>
          <p:cNvCxnSpPr/>
          <p:nvPr/>
        </p:nvCxnSpPr>
        <p:spPr>
          <a:xfrm>
            <a:off x="1600200" y="3886200"/>
            <a:ext cx="726948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600200" y="4114800"/>
            <a:ext cx="7269480" cy="1733550"/>
          </a:xfrm>
          <a:prstGeom prst="rect">
            <a:avLst/>
          </a:prstGeom>
          <a:noFill/>
        </p:spPr>
        <p:txBody>
          <a:bodyPr wrap="square" lIns="0" rIns="0" tIns="0" bIns="0" anchor="t">
            <a:spAutoFit/>
          </a:bodyPr>
          <a:lstStyle/>
          <a:p>
            <a:pPr algn="l">
              <a:lnSpc>
                <a:spcPct val="90000"/>
              </a:lnSpc>
            </a:pPr>
            <a:r>
              <a:rPr sz="13000" b="1">
                <a:solidFill>
                  <a:srgbClr val="073763"/>
                </a:solidFill>
                <a:latin typeface="Arial"/>
              </a:rPr>
              <a:t>81%</a:t>
            </a:r>
          </a:p>
        </p:txBody>
      </p:sp>
      <p:sp>
        <p:nvSpPr>
          <p:cNvPr id="6" name="TextBox 5"/>
          <p:cNvSpPr txBox="1"/>
          <p:nvPr/>
        </p:nvSpPr>
        <p:spPr>
          <a:xfrm>
            <a:off x="1600200" y="5939790"/>
            <a:ext cx="7269480" cy="1371600"/>
          </a:xfrm>
          <a:prstGeom prst="rect">
            <a:avLst/>
          </a:prstGeom>
          <a:noFill/>
        </p:spPr>
        <p:txBody>
          <a:bodyPr wrap="square" lIns="0" rIns="0" tIns="0" bIns="0" anchor="t">
            <a:spAutoFit/>
          </a:bodyPr>
          <a:lstStyle/>
          <a:p>
            <a:pPr algn="l"/>
            <a:r>
              <a:rPr sz="2400" b="0">
                <a:solidFill>
                  <a:srgbClr val="4A4F57"/>
                </a:solidFill>
                <a:latin typeface="Arial"/>
              </a:rPr>
              <a:t>probó chatbots de IA para investigar</a:t>
            </a:r>
          </a:p>
        </p:txBody>
      </p:sp>
      <p:cxnSp>
        <p:nvCxnSpPr>
          <p:cNvPr id="7" name="Connector 6"/>
          <p:cNvCxnSpPr/>
          <p:nvPr/>
        </p:nvCxnSpPr>
        <p:spPr>
          <a:xfrm>
            <a:off x="9418320" y="3886200"/>
            <a:ext cx="726948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418320" y="4114800"/>
            <a:ext cx="7269480" cy="1733550"/>
          </a:xfrm>
          <a:prstGeom prst="rect">
            <a:avLst/>
          </a:prstGeom>
          <a:noFill/>
        </p:spPr>
        <p:txBody>
          <a:bodyPr wrap="square" lIns="0" rIns="0" tIns="0" bIns="0" anchor="t">
            <a:spAutoFit/>
          </a:bodyPr>
          <a:lstStyle/>
          <a:p>
            <a:pPr algn="l">
              <a:lnSpc>
                <a:spcPct val="90000"/>
              </a:lnSpc>
            </a:pPr>
            <a:r>
              <a:rPr sz="13000" b="1">
                <a:solidFill>
                  <a:srgbClr val="A8600A"/>
                </a:solidFill>
                <a:latin typeface="Arial"/>
              </a:rPr>
              <a:t>20%</a:t>
            </a:r>
          </a:p>
        </p:txBody>
      </p:sp>
      <p:sp>
        <p:nvSpPr>
          <p:cNvPr id="9" name="TextBox 8"/>
          <p:cNvSpPr txBox="1"/>
          <p:nvPr/>
        </p:nvSpPr>
        <p:spPr>
          <a:xfrm>
            <a:off x="9418320" y="5939790"/>
            <a:ext cx="7269480" cy="1371600"/>
          </a:xfrm>
          <a:prstGeom prst="rect">
            <a:avLst/>
          </a:prstGeom>
          <a:noFill/>
        </p:spPr>
        <p:txBody>
          <a:bodyPr wrap="square" lIns="0" rIns="0" tIns="0" bIns="0" anchor="t">
            <a:spAutoFit/>
          </a:bodyPr>
          <a:lstStyle/>
          <a:p>
            <a:pPr algn="l"/>
            <a:r>
              <a:rPr sz="2400" b="0">
                <a:solidFill>
                  <a:srgbClr val="4A4F57"/>
                </a:solidFill>
                <a:latin typeface="Arial"/>
              </a:rPr>
              <a:t>usa agentes de código más de una vez por semana</a:t>
            </a:r>
          </a:p>
        </p:txBody>
      </p:sp>
      <p:sp>
        <p:nvSpPr>
          <p:cNvPr id="10" name="TextBox 9"/>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24 · Lyttelton, Massenkoff y Wilmers (2026), encuesta a 1,260 científicos sociales · muestra no representativa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Qué cambió: un LLM responde una vez; un agente actúa, mira el resultado y sigue</a:t>
            </a:r>
          </a:p>
        </p:txBody>
      </p:sp>
      <p:sp>
        <p:nvSpPr>
          <p:cNvPr id="4" name="Rounded Rectangle 3"/>
          <p:cNvSpPr/>
          <p:nvPr/>
        </p:nvSpPr>
        <p:spPr>
          <a:xfrm>
            <a:off x="1600200" y="3886200"/>
            <a:ext cx="7360920" cy="3566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114800"/>
            <a:ext cx="6812280" cy="320040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Chat</a:t>
            </a:r>
          </a:p>
          <a:p>
            <a:pPr algn="l">
              <a:spcAft>
                <a:spcPts val="800"/>
              </a:spcAft>
            </a:pPr>
            <a:r>
              <a:rPr sz="2100" b="0">
                <a:solidFill>
                  <a:srgbClr val="4A4F57"/>
                </a:solidFill>
                <a:latin typeface="Arial"/>
              </a:rPr>
              <a:t>•  Recibe una pregunta y da una respuesta</a:t>
            </a:r>
          </a:p>
          <a:p>
            <a:pPr algn="l">
              <a:spcAft>
                <a:spcPts val="800"/>
              </a:spcAft>
            </a:pPr>
            <a:r>
              <a:rPr sz="2100" b="0">
                <a:solidFill>
                  <a:srgbClr val="4A4F57"/>
                </a:solidFill>
                <a:latin typeface="Arial"/>
              </a:rPr>
              <a:t>•  Solo sabe lo que está en el contexto</a:t>
            </a:r>
          </a:p>
          <a:p>
            <a:pPr algn="l">
              <a:spcAft>
                <a:spcPts val="800"/>
              </a:spcAft>
            </a:pPr>
            <a:r>
              <a:rPr sz="2100" b="0">
                <a:solidFill>
                  <a:srgbClr val="4A4F57"/>
                </a:solidFill>
                <a:latin typeface="Arial"/>
              </a:rPr>
              <a:t>•  Tú corres el código y le pegas el error</a:t>
            </a:r>
          </a:p>
          <a:p>
            <a:pPr algn="l">
              <a:spcAft>
                <a:spcPts val="800"/>
              </a:spcAft>
            </a:pPr>
            <a:r>
              <a:rPr sz="2100" b="0">
                <a:solidFill>
                  <a:srgbClr val="4A4F57"/>
                </a:solidFill>
                <a:latin typeface="Arial"/>
              </a:rPr>
              <a:t>•  Termina cuando responde</a:t>
            </a:r>
          </a:p>
        </p:txBody>
      </p:sp>
      <p:sp>
        <p:nvSpPr>
          <p:cNvPr id="6" name="Rounded Rectangle 5"/>
          <p:cNvSpPr/>
          <p:nvPr/>
        </p:nvSpPr>
        <p:spPr>
          <a:xfrm>
            <a:off x="9326880" y="3886200"/>
            <a:ext cx="7360920" cy="3566160"/>
          </a:xfrm>
          <a:prstGeom prst="roundRect">
            <a:avLst>
              <a:gd name="adj" fmla="val 6000"/>
            </a:avLst>
          </a:prstGeom>
          <a:solidFill>
            <a:srgbClr val="FDF1DF"/>
          </a:solid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0" y="4114800"/>
            <a:ext cx="6812280" cy="3200400"/>
          </a:xfrm>
          <a:prstGeom prst="rect">
            <a:avLst/>
          </a:prstGeom>
          <a:noFill/>
        </p:spPr>
        <p:txBody>
          <a:bodyPr wrap="square" lIns="0" rIns="0" tIns="0" bIns="0" anchor="t">
            <a:spAutoFit/>
          </a:bodyPr>
          <a:lstStyle/>
          <a:p>
            <a:pPr algn="l">
              <a:spcAft>
                <a:spcPts val="800"/>
              </a:spcAft>
            </a:pPr>
            <a:r>
              <a:rPr sz="2400" b="1">
                <a:solidFill>
                  <a:srgbClr val="A8600A"/>
                </a:solidFill>
                <a:latin typeface="Arial"/>
              </a:rPr>
              <a:t>Agente</a:t>
            </a:r>
          </a:p>
          <a:p>
            <a:pPr algn="l">
              <a:spcAft>
                <a:spcPts val="800"/>
              </a:spcAft>
            </a:pPr>
            <a:r>
              <a:rPr sz="2100" b="0">
                <a:solidFill>
                  <a:srgbClr val="4A4F57"/>
                </a:solidFill>
                <a:latin typeface="Arial"/>
              </a:rPr>
              <a:t>•  Recibe una meta</a:t>
            </a:r>
          </a:p>
          <a:p>
            <a:pPr algn="l">
              <a:spcAft>
                <a:spcPts val="800"/>
              </a:spcAft>
            </a:pPr>
            <a:r>
              <a:rPr sz="2100" b="0">
                <a:solidFill>
                  <a:srgbClr val="4A4F57"/>
                </a:solidFill>
                <a:latin typeface="Arial"/>
              </a:rPr>
              <a:t>•  Busca, lee archivos y corre código por su cuenta</a:t>
            </a:r>
          </a:p>
          <a:p>
            <a:pPr algn="l">
              <a:spcAft>
                <a:spcPts val="800"/>
              </a:spcAft>
            </a:pPr>
            <a:r>
              <a:rPr sz="2100" b="0">
                <a:solidFill>
                  <a:srgbClr val="4A4F57"/>
                </a:solidFill>
                <a:latin typeface="Arial"/>
              </a:rPr>
              <a:t>•  Ve cada resultado y decide el paso siguiente</a:t>
            </a:r>
          </a:p>
          <a:p>
            <a:pPr algn="l">
              <a:spcAft>
                <a:spcPts val="800"/>
              </a:spcAft>
            </a:pPr>
            <a:r>
              <a:rPr sz="2100" b="0">
                <a:solidFill>
                  <a:srgbClr val="4A4F57"/>
                </a:solidFill>
                <a:latin typeface="Arial"/>
              </a:rPr>
              <a:t>•  Termina cuando la tarea está hecha</a:t>
            </a:r>
          </a:p>
        </p:txBody>
      </p:sp>
      <p:sp>
        <p:nvSpPr>
          <p:cNvPr id="8" name="TextBox 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25 · IA para la investigación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Tres cosas nuevas: herramientas, estado y muchos pasos</a:t>
            </a:r>
          </a:p>
        </p:txBody>
      </p:sp>
      <p:sp>
        <p:nvSpPr>
          <p:cNvPr id="4" name="Rounded Rectangle 3"/>
          <p:cNvSpPr/>
          <p:nvPr/>
        </p:nvSpPr>
        <p:spPr>
          <a:xfrm>
            <a:off x="160020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Herramientas</a:t>
            </a:r>
          </a:p>
          <a:p>
            <a:pPr algn="l">
              <a:spcAft>
                <a:spcPts val="800"/>
              </a:spcAft>
            </a:pPr>
            <a:r>
              <a:rPr sz="2000" b="0">
                <a:solidFill>
                  <a:srgbClr val="4A4F57"/>
                </a:solidFill>
                <a:latin typeface="Arial"/>
              </a:rPr>
              <a:t>Búsqueda, código, archivos, bases de datos. El modelo pide una acción y recibe el resultado.</a:t>
            </a:r>
          </a:p>
        </p:txBody>
      </p:sp>
      <p:sp>
        <p:nvSpPr>
          <p:cNvPr id="6" name="Rounded Rectangle 5"/>
          <p:cNvSpPr/>
          <p:nvPr/>
        </p:nvSpPr>
        <p:spPr>
          <a:xfrm>
            <a:off x="673608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10399"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Estado</a:t>
            </a:r>
          </a:p>
          <a:p>
            <a:pPr algn="l">
              <a:spcAft>
                <a:spcPts val="800"/>
              </a:spcAft>
            </a:pPr>
            <a:r>
              <a:rPr sz="2000" b="0">
                <a:solidFill>
                  <a:srgbClr val="4A4F57"/>
                </a:solidFill>
                <a:latin typeface="Arial"/>
              </a:rPr>
              <a:t>Un plan, notas y archivos que sobreviven entre pasos, fuera de la ventana de contexto.</a:t>
            </a:r>
          </a:p>
        </p:txBody>
      </p:sp>
      <p:sp>
        <p:nvSpPr>
          <p:cNvPr id="8" name="Rounded Rectangle 7"/>
          <p:cNvSpPr/>
          <p:nvPr/>
        </p:nvSpPr>
        <p:spPr>
          <a:xfrm>
            <a:off x="1187196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146280"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Muchos pasos</a:t>
            </a:r>
          </a:p>
          <a:p>
            <a:pPr algn="l">
              <a:spcAft>
                <a:spcPts val="800"/>
              </a:spcAft>
            </a:pPr>
            <a:r>
              <a:rPr sz="2000" b="0">
                <a:solidFill>
                  <a:srgbClr val="4A4F57"/>
                </a:solidFill>
                <a:latin typeface="Arial"/>
              </a:rPr>
              <a:t>Decenas o cientos de llamadas para una sola tarea, sin que tú intervengas en cada una.</a:t>
            </a:r>
          </a:p>
        </p:txBody>
      </p:sp>
      <p:sp>
        <p:nvSpPr>
          <p:cNvPr id="10" name="TextBox 9"/>
          <p:cNvSpPr txBox="1"/>
          <p:nvPr/>
        </p:nvSpPr>
        <p:spPr>
          <a:xfrm>
            <a:off x="1600200" y="7178040"/>
            <a:ext cx="11887200" cy="822960"/>
          </a:xfrm>
          <a:prstGeom prst="rect">
            <a:avLst/>
          </a:prstGeom>
          <a:noFill/>
        </p:spPr>
        <p:txBody>
          <a:bodyPr wrap="square" lIns="0" rIns="0" tIns="0" bIns="0" anchor="t">
            <a:spAutoFit/>
          </a:bodyPr>
          <a:lstStyle/>
          <a:p>
            <a:pPr algn="l"/>
            <a:r>
              <a:rPr sz="2200" b="1">
                <a:solidFill>
                  <a:srgbClr val="A8600A"/>
                </a:solidFill>
                <a:latin typeface="Arial"/>
              </a:rPr>
              <a:t>El mismo modelo de la Parte 1. Lo nuevo está alrededor: eso es el harness de la Parte 3.</a:t>
            </a:r>
          </a:p>
        </p:txBody>
      </p:sp>
      <p:sp>
        <p:nvSpPr>
          <p:cNvPr id="11" name="TextBox 10"/>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26 · IA para la investigación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Una herramienta es texto: el modelo escribe la llamada y el programa la ejecuta</a:t>
            </a:r>
          </a:p>
        </p:txBody>
      </p:sp>
      <p:sp>
        <p:nvSpPr>
          <p:cNvPr id="4" name="Rounded Rectangle 3"/>
          <p:cNvSpPr/>
          <p:nvPr/>
        </p:nvSpPr>
        <p:spPr>
          <a:xfrm>
            <a:off x="1600200" y="3886200"/>
            <a:ext cx="9326880" cy="4389120"/>
          </a:xfrm>
          <a:prstGeom prst="roundRect">
            <a:avLst>
              <a:gd name="adj" fmla="val 4000"/>
            </a:avLst>
          </a:prstGeom>
          <a:solidFill>
            <a:srgbClr val="0F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920240" y="4160520"/>
            <a:ext cx="8778240" cy="3931920"/>
          </a:xfrm>
          <a:prstGeom prst="rect">
            <a:avLst/>
          </a:prstGeom>
          <a:noFill/>
        </p:spPr>
        <p:txBody>
          <a:bodyPr wrap="square" lIns="0" rIns="0" tIns="0" bIns="0" anchor="t">
            <a:spAutoFit/>
          </a:bodyPr>
          <a:lstStyle/>
          <a:p>
            <a:pPr algn="l">
              <a:lnSpc>
                <a:spcPct val="105000"/>
              </a:lnSpc>
            </a:pPr>
            <a:r>
              <a:rPr sz="1700" b="0">
                <a:solidFill>
                  <a:srgbClr val="8A96A8"/>
                </a:solidFill>
                <a:latin typeface="Courier New"/>
              </a:rPr>
              <a:t>usuario  </a:t>
            </a:r>
            <a:r>
              <a:rPr sz="1700" b="0">
                <a:solidFill>
                  <a:srgbClr val="DFE6EE"/>
                </a:solidFill>
                <a:latin typeface="Courier New"/>
              </a:rPr>
              <a:t>¿Qué controladores usan los exoesqueletos de rodilla tras un ACV?</a:t>
            </a:r>
          </a:p>
          <a:p>
            <a:pPr algn="l">
              <a:lnSpc>
                <a:spcPct val="105000"/>
              </a:lnSpc>
            </a:pPr>
            <a:r>
              <a:rPr sz="1700" b="0">
                <a:solidFill>
                  <a:srgbClr val="DFE6EE"/>
                </a:solidFill>
                <a:latin typeface="Courier New"/>
              </a:rPr>
              <a:t> </a:t>
            </a:r>
          </a:p>
          <a:p>
            <a:pPr algn="l">
              <a:lnSpc>
                <a:spcPct val="105000"/>
              </a:lnSpc>
            </a:pPr>
            <a:r>
              <a:rPr sz="1700" b="0">
                <a:solidFill>
                  <a:srgbClr val="8A96A8"/>
                </a:solidFill>
                <a:latin typeface="Courier New"/>
              </a:rPr>
              <a:t>modelo   </a:t>
            </a:r>
            <a:r>
              <a:rPr sz="1700" b="0">
                <a:solidFill>
                  <a:srgbClr val="5FA8D3"/>
                </a:solidFill>
                <a:latin typeface="Courier New"/>
              </a:rPr>
              <a:t>&lt;pensar&gt; Necesito ensayos con pacientes, no simulaciones &lt;/pensar&gt;</a:t>
            </a:r>
          </a:p>
          <a:p>
            <a:pPr algn="l">
              <a:lnSpc>
                <a:spcPct val="105000"/>
              </a:lnSpc>
            </a:pPr>
            <a:r>
              <a:rPr sz="1700" b="0">
                <a:solidFill>
                  <a:srgbClr val="8A96A8"/>
                </a:solidFill>
                <a:latin typeface="Courier New"/>
              </a:rPr>
              <a:t>modelo   </a:t>
            </a:r>
            <a:r>
              <a:rPr sz="1700" b="0">
                <a:solidFill>
                  <a:srgbClr val="5FA8D3"/>
                </a:solidFill>
                <a:latin typeface="Courier New"/>
              </a:rPr>
              <a:t>&lt;buscar&gt; "exoesqueleto rodilla ACV control ensayo" &lt;/buscar&gt;</a:t>
            </a:r>
          </a:p>
          <a:p>
            <a:pPr algn="l">
              <a:lnSpc>
                <a:spcPct val="105000"/>
              </a:lnSpc>
            </a:pPr>
            <a:r>
              <a:rPr sz="1700" b="0">
                <a:solidFill>
                  <a:srgbClr val="DFE6EE"/>
                </a:solidFill>
                <a:latin typeface="Courier New"/>
              </a:rPr>
              <a:t> </a:t>
            </a:r>
          </a:p>
          <a:p>
            <a:pPr algn="l">
              <a:lnSpc>
                <a:spcPct val="105000"/>
              </a:lnSpc>
            </a:pPr>
            <a:r>
              <a:rPr sz="1700" b="0">
                <a:solidFill>
                  <a:srgbClr val="8A96A8"/>
                </a:solidFill>
                <a:latin typeface="Courier New"/>
              </a:rPr>
              <a:t>programa </a:t>
            </a:r>
            <a:r>
              <a:rPr sz="1700" b="0">
                <a:solidFill>
                  <a:srgbClr val="8A96A8"/>
                </a:solidFill>
                <a:latin typeface="Courier New"/>
              </a:rPr>
              <a:t>[1] Ensayo con 24 pacientes, control por impedancia…</a:t>
            </a:r>
          </a:p>
          <a:p>
            <a:pPr algn="l">
              <a:lnSpc>
                <a:spcPct val="105000"/>
              </a:lnSpc>
            </a:pPr>
            <a:r>
              <a:rPr sz="1700" b="0">
                <a:solidFill>
                  <a:srgbClr val="8A96A8"/>
                </a:solidFill>
                <a:latin typeface="Courier New"/>
              </a:rPr>
              <a:t>programa </a:t>
            </a:r>
            <a:r>
              <a:rPr sz="1700" b="0">
                <a:solidFill>
                  <a:srgbClr val="8A96A8"/>
                </a:solidFill>
                <a:latin typeface="Courier New"/>
              </a:rPr>
              <a:t>[2] Simulación musculoesquelética, sin pacientes…</a:t>
            </a:r>
          </a:p>
          <a:p>
            <a:pPr algn="l">
              <a:lnSpc>
                <a:spcPct val="105000"/>
              </a:lnSpc>
            </a:pPr>
            <a:r>
              <a:rPr sz="1700" b="0">
                <a:solidFill>
                  <a:srgbClr val="DFE6EE"/>
                </a:solidFill>
                <a:latin typeface="Courier New"/>
              </a:rPr>
              <a:t> </a:t>
            </a:r>
          </a:p>
          <a:p>
            <a:pPr algn="l">
              <a:lnSpc>
                <a:spcPct val="105000"/>
              </a:lnSpc>
            </a:pPr>
            <a:r>
              <a:rPr sz="1700" b="0">
                <a:solidFill>
                  <a:srgbClr val="8A96A8"/>
                </a:solidFill>
                <a:latin typeface="Courier New"/>
              </a:rPr>
              <a:t>modelo   </a:t>
            </a:r>
            <a:r>
              <a:rPr sz="1700" b="0">
                <a:solidFill>
                  <a:srgbClr val="5FA8D3"/>
                </a:solidFill>
                <a:latin typeface="Courier New"/>
              </a:rPr>
              <a:t>&lt;pensar&gt; [2] no tiene pacientes: lo descarto. Abro [1] &lt;/pensar&gt;</a:t>
            </a:r>
          </a:p>
          <a:p>
            <a:pPr algn="l">
              <a:lnSpc>
                <a:spcPct val="105000"/>
              </a:lnSpc>
            </a:pPr>
            <a:r>
              <a:rPr sz="1700" b="0">
                <a:solidFill>
                  <a:srgbClr val="8A96A8"/>
                </a:solidFill>
                <a:latin typeface="Courier New"/>
              </a:rPr>
              <a:t>modelo   </a:t>
            </a:r>
            <a:r>
              <a:rPr sz="1700" b="0">
                <a:solidFill>
                  <a:srgbClr val="5FA8D3"/>
                </a:solidFill>
                <a:latin typeface="Courier New"/>
              </a:rPr>
              <a:t>&lt;abrir&gt; [1] &lt;/abrir&gt;</a:t>
            </a:r>
          </a:p>
        </p:txBody>
      </p:sp>
      <p:sp>
        <p:nvSpPr>
          <p:cNvPr id="6" name="Rounded Rectangle 5"/>
          <p:cNvSpPr/>
          <p:nvPr/>
        </p:nvSpPr>
        <p:spPr>
          <a:xfrm>
            <a:off x="11247119" y="3886200"/>
            <a:ext cx="5440680" cy="43891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521440" y="4160520"/>
            <a:ext cx="4892040" cy="3931920"/>
          </a:xfrm>
          <a:prstGeom prst="rect">
            <a:avLst/>
          </a:prstGeom>
          <a:noFill/>
        </p:spPr>
        <p:txBody>
          <a:bodyPr wrap="square" lIns="0" rIns="0" tIns="0" bIns="0" anchor="t">
            <a:spAutoFit/>
          </a:bodyPr>
          <a:lstStyle/>
          <a:p>
            <a:pPr algn="l">
              <a:spcAft>
                <a:spcPts val="600"/>
              </a:spcAft>
            </a:pPr>
            <a:r>
              <a:rPr sz="2100" b="1">
                <a:solidFill>
                  <a:srgbClr val="A8600A"/>
                </a:solidFill>
                <a:latin typeface="Arial"/>
              </a:rPr>
              <a:t>Azul</a:t>
            </a:r>
          </a:p>
          <a:p>
            <a:pPr algn="l">
              <a:spcAft>
                <a:spcPts val="600"/>
              </a:spcAft>
            </a:pPr>
            <a:r>
              <a:rPr sz="1800" b="0">
                <a:solidFill>
                  <a:srgbClr val="4A4F57"/>
                </a:solidFill>
                <a:latin typeface="Arial"/>
              </a:rPr>
              <a:t>lo escribe el modelo</a:t>
            </a:r>
          </a:p>
          <a:p>
            <a:pPr algn="l">
              <a:spcAft>
                <a:spcPts val="600"/>
              </a:spcAft>
            </a:pPr>
            <a:r>
              <a:rPr sz="2100" b="1">
                <a:solidFill>
                  <a:srgbClr val="A8600A"/>
                </a:solidFill>
                <a:latin typeface="Arial"/>
              </a:rPr>
              <a:t>Gris</a:t>
            </a:r>
          </a:p>
          <a:p>
            <a:pPr algn="l">
              <a:spcAft>
                <a:spcPts val="600"/>
              </a:spcAft>
            </a:pPr>
            <a:r>
              <a:rPr sz="1800" b="0">
                <a:solidFill>
                  <a:srgbClr val="4A4F57"/>
                </a:solidFill>
                <a:latin typeface="Arial"/>
              </a:rPr>
              <a:t>lo pone el programa: la pregunta y los resultados</a:t>
            </a:r>
          </a:p>
          <a:p>
            <a:pPr algn="l">
              <a:spcAft>
                <a:spcPts val="600"/>
              </a:spcAft>
            </a:pPr>
            <a:r>
              <a:rPr sz="2100" b="1">
                <a:solidFill>
                  <a:srgbClr val="A8600A"/>
                </a:solidFill>
                <a:latin typeface="Arial"/>
              </a:rPr>
              <a:t>El juez</a:t>
            </a:r>
          </a:p>
          <a:p>
            <a:pPr algn="l">
              <a:spcAft>
                <a:spcPts val="600"/>
              </a:spcAft>
            </a:pPr>
            <a:r>
              <a:rPr sz="1800" b="0">
                <a:solidFill>
                  <a:srgbClr val="4A4F57"/>
                </a:solidFill>
                <a:latin typeface="Arial"/>
              </a:rPr>
              <a:t>cada resultado decide el siguiente paso</a:t>
            </a:r>
          </a:p>
        </p:txBody>
      </p:sp>
      <p:sp>
        <p:nvSpPr>
          <p:cNvPr id="8" name="TextBox 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27 · Patrón ReAct: Yao et al. (2023) · traza ilustrativa · formato según Asai (2026), CMU 11-768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LAS HERRAMIENTAS</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Un agente cierra el ciclo con el mundo: las herramientas le responden</a:t>
            </a:r>
          </a:p>
        </p:txBody>
      </p:sp>
      <p:pic>
        <p:nvPicPr>
          <p:cNvPr id="5" name="Picture 4" descr="S09.png"/>
          <p:cNvPicPr>
            <a:picLocks noChangeAspect="1"/>
          </p:cNvPicPr>
          <p:nvPr/>
        </p:nvPicPr>
        <p:blipFill>
          <a:blip r:embed="rId3"/>
          <a:stretch>
            <a:fillRect/>
          </a:stretch>
        </p:blipFill>
        <p:spPr>
          <a:xfrm>
            <a:off x="1600200" y="3886200"/>
            <a:ext cx="11582400" cy="4343400"/>
          </a:xfrm>
          <a:prstGeom prst="rect">
            <a:avLst/>
          </a:prstGeom>
        </p:spPr>
      </p:pic>
      <p:sp>
        <p:nvSpPr>
          <p:cNvPr id="6" name="TextBox 5"/>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28 · Yao et al. (2023), ReAct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Por qué ahora: los modelos se entrenan para usar herramientas, no solo para conversar</a:t>
            </a:r>
          </a:p>
        </p:txBody>
      </p:sp>
      <p:cxnSp>
        <p:nvCxnSpPr>
          <p:cNvPr id="4" name="Connector 3"/>
          <p:cNvCxnSpPr/>
          <p:nvPr/>
        </p:nvCxnSpPr>
        <p:spPr>
          <a:xfrm>
            <a:off x="1600200" y="4069080"/>
            <a:ext cx="349758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600200" y="4297680"/>
            <a:ext cx="3497580" cy="822960"/>
          </a:xfrm>
          <a:prstGeom prst="rect">
            <a:avLst/>
          </a:prstGeom>
          <a:noFill/>
        </p:spPr>
        <p:txBody>
          <a:bodyPr wrap="square" lIns="0" rIns="0" tIns="0" bIns="0" anchor="t">
            <a:spAutoFit/>
          </a:bodyPr>
          <a:lstStyle/>
          <a:p>
            <a:pPr algn="l"/>
            <a:r>
              <a:rPr sz="4000" b="1">
                <a:solidFill>
                  <a:srgbClr val="073763"/>
                </a:solidFill>
                <a:latin typeface="Arial"/>
              </a:rPr>
              <a:t>2022</a:t>
            </a:r>
          </a:p>
        </p:txBody>
      </p:sp>
      <p:sp>
        <p:nvSpPr>
          <p:cNvPr id="6" name="TextBox 5"/>
          <p:cNvSpPr txBox="1"/>
          <p:nvPr/>
        </p:nvSpPr>
        <p:spPr>
          <a:xfrm>
            <a:off x="1600200" y="5212080"/>
            <a:ext cx="3497580" cy="2194560"/>
          </a:xfrm>
          <a:prstGeom prst="rect">
            <a:avLst/>
          </a:prstGeom>
          <a:noFill/>
        </p:spPr>
        <p:txBody>
          <a:bodyPr wrap="square" lIns="0" rIns="0" tIns="0" bIns="0" anchor="t">
            <a:spAutoFit/>
          </a:bodyPr>
          <a:lstStyle/>
          <a:p>
            <a:pPr algn="l"/>
            <a:r>
              <a:rPr sz="2100" b="0">
                <a:solidFill>
                  <a:srgbClr val="4A4F57"/>
                </a:solidFill>
                <a:latin typeface="Arial"/>
              </a:rPr>
              <a:t>ReAct: pedirle al modelo que alterne razonar y actuar</a:t>
            </a:r>
          </a:p>
        </p:txBody>
      </p:sp>
      <p:cxnSp>
        <p:nvCxnSpPr>
          <p:cNvPr id="7" name="Connector 6"/>
          <p:cNvCxnSpPr/>
          <p:nvPr/>
        </p:nvCxnSpPr>
        <p:spPr>
          <a:xfrm>
            <a:off x="5463540" y="4069080"/>
            <a:ext cx="349758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63540" y="4297680"/>
            <a:ext cx="3497580" cy="822960"/>
          </a:xfrm>
          <a:prstGeom prst="rect">
            <a:avLst/>
          </a:prstGeom>
          <a:noFill/>
        </p:spPr>
        <p:txBody>
          <a:bodyPr wrap="square" lIns="0" rIns="0" tIns="0" bIns="0" anchor="t">
            <a:spAutoFit/>
          </a:bodyPr>
          <a:lstStyle/>
          <a:p>
            <a:pPr algn="l"/>
            <a:r>
              <a:rPr sz="4000" b="1">
                <a:solidFill>
                  <a:srgbClr val="073763"/>
                </a:solidFill>
                <a:latin typeface="Arial"/>
              </a:rPr>
              <a:t>2023</a:t>
            </a:r>
          </a:p>
        </p:txBody>
      </p:sp>
      <p:sp>
        <p:nvSpPr>
          <p:cNvPr id="9" name="TextBox 8"/>
          <p:cNvSpPr txBox="1"/>
          <p:nvPr/>
        </p:nvSpPr>
        <p:spPr>
          <a:xfrm>
            <a:off x="5463540" y="5212080"/>
            <a:ext cx="3497580" cy="2194560"/>
          </a:xfrm>
          <a:prstGeom prst="rect">
            <a:avLst/>
          </a:prstGeom>
          <a:noFill/>
        </p:spPr>
        <p:txBody>
          <a:bodyPr wrap="square" lIns="0" rIns="0" tIns="0" bIns="0" anchor="t">
            <a:spAutoFit/>
          </a:bodyPr>
          <a:lstStyle/>
          <a:p>
            <a:pPr algn="l"/>
            <a:r>
              <a:rPr sz="2100" b="0">
                <a:solidFill>
                  <a:srgbClr val="4A4F57"/>
                </a:solidFill>
                <a:latin typeface="Arial"/>
              </a:rPr>
              <a:t>Toolformer y las llamadas a funciones: el modelo aprende el formato</a:t>
            </a:r>
          </a:p>
        </p:txBody>
      </p:sp>
      <p:cxnSp>
        <p:nvCxnSpPr>
          <p:cNvPr id="10" name="Connector 9"/>
          <p:cNvCxnSpPr/>
          <p:nvPr/>
        </p:nvCxnSpPr>
        <p:spPr>
          <a:xfrm>
            <a:off x="9326880" y="4069080"/>
            <a:ext cx="349758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326880" y="4297680"/>
            <a:ext cx="3497580" cy="822960"/>
          </a:xfrm>
          <a:prstGeom prst="rect">
            <a:avLst/>
          </a:prstGeom>
          <a:noFill/>
        </p:spPr>
        <p:txBody>
          <a:bodyPr wrap="square" lIns="0" rIns="0" tIns="0" bIns="0" anchor="t">
            <a:spAutoFit/>
          </a:bodyPr>
          <a:lstStyle/>
          <a:p>
            <a:pPr algn="l"/>
            <a:r>
              <a:rPr sz="4000" b="1">
                <a:solidFill>
                  <a:srgbClr val="073763"/>
                </a:solidFill>
                <a:latin typeface="Arial"/>
              </a:rPr>
              <a:t>2024–25</a:t>
            </a:r>
          </a:p>
        </p:txBody>
      </p:sp>
      <p:sp>
        <p:nvSpPr>
          <p:cNvPr id="12" name="TextBox 11"/>
          <p:cNvSpPr txBox="1"/>
          <p:nvPr/>
        </p:nvSpPr>
        <p:spPr>
          <a:xfrm>
            <a:off x="9326880" y="5212080"/>
            <a:ext cx="3497580" cy="2194560"/>
          </a:xfrm>
          <a:prstGeom prst="rect">
            <a:avLst/>
          </a:prstGeom>
          <a:noFill/>
        </p:spPr>
        <p:txBody>
          <a:bodyPr wrap="square" lIns="0" rIns="0" tIns="0" bIns="0" anchor="t">
            <a:spAutoFit/>
          </a:bodyPr>
          <a:lstStyle/>
          <a:p>
            <a:pPr algn="l"/>
            <a:r>
              <a:rPr sz="2100" b="0">
                <a:solidFill>
                  <a:srgbClr val="4A4F57"/>
                </a:solidFill>
                <a:latin typeface="Arial"/>
              </a:rPr>
              <a:t>Aprendizaje por refuerzo sobre tareas de agente completas</a:t>
            </a:r>
          </a:p>
        </p:txBody>
      </p:sp>
      <p:cxnSp>
        <p:nvCxnSpPr>
          <p:cNvPr id="13" name="Connector 12"/>
          <p:cNvCxnSpPr/>
          <p:nvPr/>
        </p:nvCxnSpPr>
        <p:spPr>
          <a:xfrm>
            <a:off x="13190220" y="4069080"/>
            <a:ext cx="349758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3190220" y="4297680"/>
            <a:ext cx="3497580" cy="822960"/>
          </a:xfrm>
          <a:prstGeom prst="rect">
            <a:avLst/>
          </a:prstGeom>
          <a:noFill/>
        </p:spPr>
        <p:txBody>
          <a:bodyPr wrap="square" lIns="0" rIns="0" tIns="0" bIns="0" anchor="t">
            <a:spAutoFit/>
          </a:bodyPr>
          <a:lstStyle/>
          <a:p>
            <a:pPr algn="l"/>
            <a:r>
              <a:rPr sz="4000" b="1">
                <a:solidFill>
                  <a:srgbClr val="A8600A"/>
                </a:solidFill>
                <a:latin typeface="Arial"/>
              </a:rPr>
              <a:t>2025</a:t>
            </a:r>
          </a:p>
        </p:txBody>
      </p:sp>
      <p:sp>
        <p:nvSpPr>
          <p:cNvPr id="15" name="TextBox 14"/>
          <p:cNvSpPr txBox="1"/>
          <p:nvPr/>
        </p:nvSpPr>
        <p:spPr>
          <a:xfrm>
            <a:off x="13190220" y="5212080"/>
            <a:ext cx="3497580" cy="2194560"/>
          </a:xfrm>
          <a:prstGeom prst="rect">
            <a:avLst/>
          </a:prstGeom>
          <a:noFill/>
        </p:spPr>
        <p:txBody>
          <a:bodyPr wrap="square" lIns="0" rIns="0" tIns="0" bIns="0" anchor="t">
            <a:spAutoFit/>
          </a:bodyPr>
          <a:lstStyle/>
          <a:p>
            <a:pPr algn="l"/>
            <a:r>
              <a:rPr sz="2100" b="0">
                <a:solidFill>
                  <a:srgbClr val="4A4F57"/>
                </a:solidFill>
                <a:latin typeface="Arial"/>
              </a:rPr>
              <a:t>La duración de las tareas que completan se duplica cada ~7 meses</a:t>
            </a:r>
          </a:p>
        </p:txBody>
      </p:sp>
      <p:sp>
        <p:nvSpPr>
          <p:cNvPr id="16" name="TextBox 15"/>
          <p:cNvSpPr txBox="1"/>
          <p:nvPr/>
        </p:nvSpPr>
        <p:spPr>
          <a:xfrm>
            <a:off x="1600200" y="8732520"/>
            <a:ext cx="12344400" cy="411480"/>
          </a:xfrm>
          <a:prstGeom prst="rect">
            <a:avLst/>
          </a:prstGeom>
          <a:noFill/>
        </p:spPr>
        <p:txBody>
          <a:bodyPr wrap="square" lIns="0" rIns="0" tIns="0" bIns="0" anchor="t">
            <a:spAutoFit/>
          </a:bodyPr>
          <a:lstStyle/>
          <a:p>
            <a:pPr algn="l"/>
            <a:r>
              <a:rPr sz="1500" b="0">
                <a:solidFill>
                  <a:srgbClr val="757070"/>
                </a:solidFill>
                <a:latin typeface="Arial"/>
              </a:rPr>
              <a:t>29 · Yao et al. (2023) · Schick et al. (2023) · Kwa et al. (2025), METR, Measuring AI Ability to Complete Long Tasks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Deep research: preguntas que necesitan muchas búsquedas y una síntesis con fuentes</a:t>
            </a:r>
          </a:p>
        </p:txBody>
      </p:sp>
      <p:sp>
        <p:nvSpPr>
          <p:cNvPr id="4" name="Rounded Rectangle 3"/>
          <p:cNvSpPr/>
          <p:nvPr/>
        </p:nvSpPr>
        <p:spPr>
          <a:xfrm>
            <a:off x="1600200" y="3886200"/>
            <a:ext cx="7360920" cy="3566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114800"/>
            <a:ext cx="6812280" cy="320040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Una búsqueda basta</a:t>
            </a:r>
          </a:p>
          <a:p>
            <a:pPr algn="l">
              <a:spcAft>
                <a:spcPts val="800"/>
              </a:spcAft>
            </a:pPr>
            <a:r>
              <a:rPr sz="2100" b="0">
                <a:solidFill>
                  <a:srgbClr val="4A4F57"/>
                </a:solidFill>
                <a:latin typeface="Arial"/>
              </a:rPr>
              <a:t>•  ¿Cuál es la oficina de Akari Asai en CMU?</a:t>
            </a:r>
          </a:p>
          <a:p>
            <a:pPr algn="l">
              <a:spcAft>
                <a:spcPts val="800"/>
              </a:spcAft>
            </a:pPr>
            <a:r>
              <a:rPr sz="2100" b="0">
                <a:solidFill>
                  <a:srgbClr val="4A4F57"/>
                </a:solidFill>
                <a:latin typeface="Arial"/>
              </a:rPr>
              <a:t>•  buscar → leer → responder</a:t>
            </a:r>
          </a:p>
        </p:txBody>
      </p:sp>
      <p:sp>
        <p:nvSpPr>
          <p:cNvPr id="6" name="Rounded Rectangle 5"/>
          <p:cNvSpPr/>
          <p:nvPr/>
        </p:nvSpPr>
        <p:spPr>
          <a:xfrm>
            <a:off x="9326880" y="3886200"/>
            <a:ext cx="7360920" cy="3566160"/>
          </a:xfrm>
          <a:prstGeom prst="roundRect">
            <a:avLst>
              <a:gd name="adj" fmla="val 6000"/>
            </a:avLst>
          </a:prstGeom>
          <a:solidFill>
            <a:srgbClr val="FDF1DF"/>
          </a:solid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0" y="4114800"/>
            <a:ext cx="6812280" cy="3200400"/>
          </a:xfrm>
          <a:prstGeom prst="rect">
            <a:avLst/>
          </a:prstGeom>
          <a:noFill/>
        </p:spPr>
        <p:txBody>
          <a:bodyPr wrap="square" lIns="0" rIns="0" tIns="0" bIns="0" anchor="t">
            <a:spAutoFit/>
          </a:bodyPr>
          <a:lstStyle/>
          <a:p>
            <a:pPr algn="l">
              <a:spcAft>
                <a:spcPts val="800"/>
              </a:spcAft>
            </a:pPr>
            <a:r>
              <a:rPr sz="2400" b="1">
                <a:solidFill>
                  <a:srgbClr val="A8600A"/>
                </a:solidFill>
                <a:latin typeface="Arial"/>
              </a:rPr>
              <a:t>Muchas búsquedas</a:t>
            </a:r>
          </a:p>
          <a:p>
            <a:pPr algn="l">
              <a:spcAft>
                <a:spcPts val="800"/>
              </a:spcAft>
            </a:pPr>
            <a:r>
              <a:rPr sz="2100" b="0">
                <a:solidFill>
                  <a:srgbClr val="4A4F57"/>
                </a:solidFill>
                <a:latin typeface="Arial"/>
              </a:rPr>
              <a:t>•  ¿Pueden los agentes sintetizar literatura científica tan bien como expertos?</a:t>
            </a:r>
          </a:p>
          <a:p>
            <a:pPr algn="l">
              <a:spcAft>
                <a:spcPts val="800"/>
              </a:spcAft>
            </a:pPr>
            <a:r>
              <a:rPr sz="2100" b="0">
                <a:solidFill>
                  <a:srgbClr val="4A4F57"/>
                </a:solidFill>
                <a:latin typeface="Arial"/>
              </a:rPr>
              <a:t>•  planear → buscar → reflexionar → buscar de nuevo → responder con citas</a:t>
            </a:r>
          </a:p>
        </p:txBody>
      </p:sp>
      <p:sp>
        <p:nvSpPr>
          <p:cNvPr id="8" name="TextBox 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30 · Asai (2026), Deep Research Agents, CMU 11-768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Por dentro: un agente líder reparte la búsqueda entre subagentes</a:t>
            </a:r>
          </a:p>
        </p:txBody>
      </p:sp>
      <p:pic>
        <p:nvPicPr>
          <p:cNvPr id="4" name="Picture 3" descr="F10.png"/>
          <p:cNvPicPr>
            <a:picLocks noChangeAspect="1"/>
          </p:cNvPicPr>
          <p:nvPr/>
        </p:nvPicPr>
        <p:blipFill>
          <a:blip r:embed="rId3"/>
          <a:stretch>
            <a:fillRect/>
          </a:stretch>
        </p:blipFill>
        <p:spPr>
          <a:xfrm>
            <a:off x="1600200" y="3794760"/>
            <a:ext cx="11521440" cy="2640330"/>
          </a:xfrm>
          <a:prstGeom prst="rect">
            <a:avLst/>
          </a:prstGeom>
        </p:spPr>
      </p:pic>
      <p:sp>
        <p:nvSpPr>
          <p:cNvPr id="5" name="TextBox 4"/>
          <p:cNvSpPr txBox="1"/>
          <p:nvPr/>
        </p:nvSpPr>
        <p:spPr>
          <a:xfrm>
            <a:off x="1600200" y="6629400"/>
            <a:ext cx="3840480" cy="822960"/>
          </a:xfrm>
          <a:prstGeom prst="rect">
            <a:avLst/>
          </a:prstGeom>
          <a:noFill/>
        </p:spPr>
        <p:txBody>
          <a:bodyPr wrap="square" lIns="0" rIns="0" tIns="0" bIns="0" anchor="t">
            <a:spAutoFit/>
          </a:bodyPr>
          <a:lstStyle/>
          <a:p>
            <a:pPr algn="l"/>
            <a:r>
              <a:rPr sz="5600" b="1">
                <a:solidFill>
                  <a:srgbClr val="A8600A"/>
                </a:solidFill>
                <a:latin typeface="Arial"/>
              </a:rPr>
              <a:t>+90.2%</a:t>
            </a:r>
          </a:p>
        </p:txBody>
      </p:sp>
      <p:sp>
        <p:nvSpPr>
          <p:cNvPr id="6" name="TextBox 5"/>
          <p:cNvSpPr txBox="1"/>
          <p:nvPr/>
        </p:nvSpPr>
        <p:spPr>
          <a:xfrm>
            <a:off x="1600200" y="7452360"/>
            <a:ext cx="3840480" cy="822960"/>
          </a:xfrm>
          <a:prstGeom prst="rect">
            <a:avLst/>
          </a:prstGeom>
          <a:noFill/>
        </p:spPr>
        <p:txBody>
          <a:bodyPr wrap="square" lIns="0" rIns="0" tIns="0" bIns="0" anchor="t">
            <a:spAutoFit/>
          </a:bodyPr>
          <a:lstStyle/>
          <a:p>
            <a:pPr algn="l"/>
            <a:r>
              <a:rPr sz="1900" b="0">
                <a:solidFill>
                  <a:srgbClr val="4A4F57"/>
                </a:solidFill>
                <a:latin typeface="Arial"/>
              </a:rPr>
              <a:t>mejor que un solo agente en su evaluación interna</a:t>
            </a:r>
          </a:p>
        </p:txBody>
      </p:sp>
      <p:sp>
        <p:nvSpPr>
          <p:cNvPr id="7" name="TextBox 6"/>
          <p:cNvSpPr txBox="1"/>
          <p:nvPr/>
        </p:nvSpPr>
        <p:spPr>
          <a:xfrm>
            <a:off x="5669280" y="6629400"/>
            <a:ext cx="3840480" cy="822960"/>
          </a:xfrm>
          <a:prstGeom prst="rect">
            <a:avLst/>
          </a:prstGeom>
          <a:noFill/>
        </p:spPr>
        <p:txBody>
          <a:bodyPr wrap="square" lIns="0" rIns="0" tIns="0" bIns="0" anchor="t">
            <a:spAutoFit/>
          </a:bodyPr>
          <a:lstStyle/>
          <a:p>
            <a:pPr algn="l"/>
            <a:r>
              <a:rPr sz="5600" b="1">
                <a:solidFill>
                  <a:srgbClr val="073763"/>
                </a:solidFill>
                <a:latin typeface="Arial"/>
              </a:rPr>
              <a:t>~15×</a:t>
            </a:r>
          </a:p>
        </p:txBody>
      </p:sp>
      <p:sp>
        <p:nvSpPr>
          <p:cNvPr id="8" name="TextBox 7"/>
          <p:cNvSpPr txBox="1"/>
          <p:nvPr/>
        </p:nvSpPr>
        <p:spPr>
          <a:xfrm>
            <a:off x="5669280" y="7452360"/>
            <a:ext cx="3840480" cy="822960"/>
          </a:xfrm>
          <a:prstGeom prst="rect">
            <a:avLst/>
          </a:prstGeom>
          <a:noFill/>
        </p:spPr>
        <p:txBody>
          <a:bodyPr wrap="square" lIns="0" rIns="0" tIns="0" bIns="0" anchor="t">
            <a:spAutoFit/>
          </a:bodyPr>
          <a:lstStyle/>
          <a:p>
            <a:pPr algn="l"/>
            <a:r>
              <a:rPr sz="1900" b="0">
                <a:solidFill>
                  <a:srgbClr val="4A4F57"/>
                </a:solidFill>
                <a:latin typeface="Arial"/>
              </a:rPr>
              <a:t>más tokens que una conversación de chat</a:t>
            </a:r>
          </a:p>
        </p:txBody>
      </p:sp>
      <p:sp>
        <p:nvSpPr>
          <p:cNvPr id="9" name="TextBox 8"/>
          <p:cNvSpPr txBox="1"/>
          <p:nvPr/>
        </p:nvSpPr>
        <p:spPr>
          <a:xfrm>
            <a:off x="9738360" y="6629400"/>
            <a:ext cx="3840480" cy="822960"/>
          </a:xfrm>
          <a:prstGeom prst="rect">
            <a:avLst/>
          </a:prstGeom>
          <a:noFill/>
        </p:spPr>
        <p:txBody>
          <a:bodyPr wrap="square" lIns="0" rIns="0" tIns="0" bIns="0" anchor="t">
            <a:spAutoFit/>
          </a:bodyPr>
          <a:lstStyle/>
          <a:p>
            <a:pPr algn="l"/>
            <a:r>
              <a:rPr sz="5600" b="1">
                <a:solidFill>
                  <a:srgbClr val="073763"/>
                </a:solidFill>
                <a:latin typeface="Arial"/>
              </a:rPr>
              <a:t>80%</a:t>
            </a:r>
          </a:p>
        </p:txBody>
      </p:sp>
      <p:sp>
        <p:nvSpPr>
          <p:cNvPr id="10" name="TextBox 9"/>
          <p:cNvSpPr txBox="1"/>
          <p:nvPr/>
        </p:nvSpPr>
        <p:spPr>
          <a:xfrm>
            <a:off x="9738360" y="7452360"/>
            <a:ext cx="3840480" cy="822960"/>
          </a:xfrm>
          <a:prstGeom prst="rect">
            <a:avLst/>
          </a:prstGeom>
          <a:noFill/>
        </p:spPr>
        <p:txBody>
          <a:bodyPr wrap="square" lIns="0" rIns="0" tIns="0" bIns="0" anchor="t">
            <a:spAutoFit/>
          </a:bodyPr>
          <a:lstStyle/>
          <a:p>
            <a:pPr algn="l"/>
            <a:r>
              <a:rPr sz="1900" b="0">
                <a:solidFill>
                  <a:srgbClr val="4A4F57"/>
                </a:solidFill>
                <a:latin typeface="Arial"/>
              </a:rPr>
              <a:t>del desempeño lo explica solo el uso de tokens</a:t>
            </a:r>
          </a:p>
        </p:txBody>
      </p:sp>
      <p:sp>
        <p:nvSpPr>
          <p:cNvPr id="11" name="TextBox 10"/>
          <p:cNvSpPr txBox="1"/>
          <p:nvPr/>
        </p:nvSpPr>
        <p:spPr>
          <a:xfrm>
            <a:off x="1600200" y="8732520"/>
            <a:ext cx="10515600" cy="411480"/>
          </a:xfrm>
          <a:prstGeom prst="rect">
            <a:avLst/>
          </a:prstGeom>
          <a:noFill/>
        </p:spPr>
        <p:txBody>
          <a:bodyPr wrap="square" lIns="0" rIns="0" tIns="0" bIns="0" anchor="t">
            <a:spAutoFit/>
          </a:bodyPr>
          <a:lstStyle/>
          <a:p>
            <a:pPr algn="l"/>
            <a:r>
              <a:rPr sz="1500" b="0">
                <a:solidFill>
                  <a:srgbClr val="757070"/>
                </a:solidFill>
                <a:latin typeface="Arial"/>
              </a:rPr>
              <a:t>31 · Hadfield et al. (2025), How we built our multi-agent research system, Anthropic</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Cómo se mide: BrowseComp, preguntas hechas para obligar a buscar mucho</a:t>
            </a:r>
          </a:p>
        </p:txBody>
      </p:sp>
      <p:pic>
        <p:nvPicPr>
          <p:cNvPr id="4" name="Picture 3" descr="F32.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32 · Wei et al. (2025), BrowseComp, OpenAI · vía Asai (2026), CMU 11-768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LA RESPUESTA CORRECTA, O UNA RÚBRICA</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Un agente de deep research se entrena con las mismas tres etapas, ahora con herramientas</a:t>
            </a:r>
          </a:p>
        </p:txBody>
      </p:sp>
      <p:sp>
        <p:nvSpPr>
          <p:cNvPr id="5" name="Rounded Rectangle 4"/>
          <p:cNvSpPr/>
          <p:nvPr/>
        </p:nvSpPr>
        <p:spPr>
          <a:xfrm>
            <a:off x="160020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874519"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1 · Preentrenamiento agéntico</a:t>
            </a:r>
          </a:p>
          <a:p>
            <a:pPr algn="l">
              <a:spcAft>
                <a:spcPts val="800"/>
              </a:spcAft>
            </a:pPr>
            <a:r>
              <a:rPr sz="2000" b="0">
                <a:solidFill>
                  <a:srgbClr val="4A4F57"/>
                </a:solidFill>
                <a:latin typeface="Arial"/>
              </a:rPr>
              <a:t>Trayectorias de agente mezcladas con texto general, para que el modelo base ya sepa buscar.</a:t>
            </a:r>
          </a:p>
        </p:txBody>
      </p:sp>
      <p:sp>
        <p:nvSpPr>
          <p:cNvPr id="7" name="Rounded Rectangle 6"/>
          <p:cNvSpPr/>
          <p:nvPr/>
        </p:nvSpPr>
        <p:spPr>
          <a:xfrm>
            <a:off x="673608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10399"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2 · Ajuste fino</a:t>
            </a:r>
          </a:p>
          <a:p>
            <a:pPr algn="l">
              <a:spcAft>
                <a:spcPts val="800"/>
              </a:spcAft>
            </a:pPr>
            <a:r>
              <a:rPr sz="2000" b="0">
                <a:solidFill>
                  <a:srgbClr val="4A4F57"/>
                </a:solidFill>
                <a:latin typeface="Arial"/>
              </a:rPr>
              <a:t>Imitar trayectorias de un modelo maestro, filtradas: solo las que llegan bien y con buen formato.</a:t>
            </a:r>
          </a:p>
        </p:txBody>
      </p:sp>
      <p:sp>
        <p:nvSpPr>
          <p:cNvPr id="9" name="Rounded Rectangle 8"/>
          <p:cNvSpPr/>
          <p:nvPr/>
        </p:nvSpPr>
        <p:spPr>
          <a:xfrm>
            <a:off x="11871960" y="3886200"/>
            <a:ext cx="4815840" cy="2926080"/>
          </a:xfrm>
          <a:prstGeom prst="roundRect">
            <a:avLst>
              <a:gd name="adj" fmla="val 6000"/>
            </a:avLst>
          </a:prstGeom>
          <a:solidFill>
            <a:srgbClr val="FDF1DF"/>
          </a:solid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146280" y="4114800"/>
            <a:ext cx="4267200" cy="2560320"/>
          </a:xfrm>
          <a:prstGeom prst="rect">
            <a:avLst/>
          </a:prstGeom>
          <a:noFill/>
        </p:spPr>
        <p:txBody>
          <a:bodyPr wrap="square" lIns="0" rIns="0" tIns="0" bIns="0" anchor="t">
            <a:spAutoFit/>
          </a:bodyPr>
          <a:lstStyle/>
          <a:p>
            <a:pPr algn="l">
              <a:spcAft>
                <a:spcPts val="800"/>
              </a:spcAft>
            </a:pPr>
            <a:r>
              <a:rPr sz="2400" b="1">
                <a:solidFill>
                  <a:srgbClr val="A8600A"/>
                </a:solidFill>
                <a:latin typeface="Arial"/>
              </a:rPr>
              <a:t>3 · Refuerzo</a:t>
            </a:r>
          </a:p>
          <a:p>
            <a:pPr algn="l">
              <a:spcAft>
                <a:spcPts val="800"/>
              </a:spcAft>
            </a:pPr>
            <a:r>
              <a:rPr sz="2000" b="1">
                <a:solidFill>
                  <a:srgbClr val="A8600A"/>
                </a:solidFill>
                <a:latin typeface="Arial"/>
              </a:rPr>
              <a:t>el juez</a:t>
            </a:r>
          </a:p>
          <a:p>
            <a:pPr algn="l">
              <a:spcAft>
                <a:spcPts val="800"/>
              </a:spcAft>
            </a:pPr>
            <a:r>
              <a:rPr sz="2000" b="0">
                <a:solidFill>
                  <a:srgbClr val="4A4F57"/>
                </a:solidFill>
                <a:latin typeface="Arial"/>
              </a:rPr>
              <a:t>Recompensa por respuesta correcta; para reportes abiertos, rúbricas que evolucionan (DR Tulu).</a:t>
            </a:r>
          </a:p>
        </p:txBody>
      </p:sp>
      <p:sp>
        <p:nvSpPr>
          <p:cNvPr id="11" name="TextBox 10"/>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33 · Tongyi DeepResearch (2025) · Search-R1 (COLM 2025) · DR Tulu (ICML 2026) · vía Asai (2026)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2 · DE LLM A AGENTE</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Para buscar, el agente usa embeddings: la pregunta y los documentos como vectores</a:t>
            </a:r>
          </a:p>
        </p:txBody>
      </p:sp>
      <p:sp>
        <p:nvSpPr>
          <p:cNvPr id="4" name="Rounded Rectangle 3"/>
          <p:cNvSpPr/>
          <p:nvPr/>
        </p:nvSpPr>
        <p:spPr>
          <a:xfrm>
            <a:off x="160020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069080"/>
            <a:ext cx="3017520" cy="731520"/>
          </a:xfrm>
          <a:prstGeom prst="rect">
            <a:avLst/>
          </a:prstGeom>
          <a:noFill/>
        </p:spPr>
        <p:txBody>
          <a:bodyPr wrap="square" lIns="0" rIns="0" tIns="0" bIns="0" anchor="t">
            <a:spAutoFit/>
          </a:bodyPr>
          <a:lstStyle/>
          <a:p>
            <a:pPr algn="l"/>
            <a:r>
              <a:rPr sz="4400" b="1">
                <a:solidFill>
                  <a:srgbClr val="A8600A"/>
                </a:solidFill>
                <a:latin typeface="Arial"/>
              </a:rPr>
              <a:t>1</a:t>
            </a:r>
          </a:p>
        </p:txBody>
      </p:sp>
      <p:sp>
        <p:nvSpPr>
          <p:cNvPr id="6" name="TextBox 5"/>
          <p:cNvSpPr txBox="1"/>
          <p:nvPr/>
        </p:nvSpPr>
        <p:spPr>
          <a:xfrm>
            <a:off x="1874519"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Cada documento se convierte en un vector y se guarda en un índice</a:t>
            </a:r>
          </a:p>
        </p:txBody>
      </p:sp>
      <p:sp>
        <p:nvSpPr>
          <p:cNvPr id="7" name="Rounded Rectangle 6"/>
          <p:cNvSpPr/>
          <p:nvPr/>
        </p:nvSpPr>
        <p:spPr>
          <a:xfrm>
            <a:off x="544068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15000" y="4069080"/>
            <a:ext cx="3017520" cy="731520"/>
          </a:xfrm>
          <a:prstGeom prst="rect">
            <a:avLst/>
          </a:prstGeom>
          <a:noFill/>
        </p:spPr>
        <p:txBody>
          <a:bodyPr wrap="square" lIns="0" rIns="0" tIns="0" bIns="0" anchor="t">
            <a:spAutoFit/>
          </a:bodyPr>
          <a:lstStyle/>
          <a:p>
            <a:pPr algn="l"/>
            <a:r>
              <a:rPr sz="4400" b="1">
                <a:solidFill>
                  <a:srgbClr val="A8600A"/>
                </a:solidFill>
                <a:latin typeface="Arial"/>
              </a:rPr>
              <a:t>2</a:t>
            </a:r>
          </a:p>
        </p:txBody>
      </p:sp>
      <p:sp>
        <p:nvSpPr>
          <p:cNvPr id="9" name="TextBox 8"/>
          <p:cNvSpPr txBox="1"/>
          <p:nvPr/>
        </p:nvSpPr>
        <p:spPr>
          <a:xfrm>
            <a:off x="5715000"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La consulta del agente también se convierte en vector</a:t>
            </a:r>
          </a:p>
        </p:txBody>
      </p:sp>
      <p:sp>
        <p:nvSpPr>
          <p:cNvPr id="10" name="Rounded Rectangle 9"/>
          <p:cNvSpPr/>
          <p:nvPr/>
        </p:nvSpPr>
        <p:spPr>
          <a:xfrm>
            <a:off x="928116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55480" y="4069080"/>
            <a:ext cx="3017520" cy="731520"/>
          </a:xfrm>
          <a:prstGeom prst="rect">
            <a:avLst/>
          </a:prstGeom>
          <a:noFill/>
        </p:spPr>
        <p:txBody>
          <a:bodyPr wrap="square" lIns="0" rIns="0" tIns="0" bIns="0" anchor="t">
            <a:spAutoFit/>
          </a:bodyPr>
          <a:lstStyle/>
          <a:p>
            <a:pPr algn="l"/>
            <a:r>
              <a:rPr sz="4400" b="1">
                <a:solidFill>
                  <a:srgbClr val="A8600A"/>
                </a:solidFill>
                <a:latin typeface="Arial"/>
              </a:rPr>
              <a:t>3</a:t>
            </a:r>
          </a:p>
        </p:txBody>
      </p:sp>
      <p:sp>
        <p:nvSpPr>
          <p:cNvPr id="12" name="TextBox 11"/>
          <p:cNvSpPr txBox="1"/>
          <p:nvPr/>
        </p:nvSpPr>
        <p:spPr>
          <a:xfrm>
            <a:off x="9555480"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Se devuelven los documentos más cercanos</a:t>
            </a:r>
          </a:p>
        </p:txBody>
      </p:sp>
      <p:sp>
        <p:nvSpPr>
          <p:cNvPr id="13" name="Rounded Rectangle 12"/>
          <p:cNvSpPr/>
          <p:nvPr/>
        </p:nvSpPr>
        <p:spPr>
          <a:xfrm>
            <a:off x="1312164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395960" y="4069080"/>
            <a:ext cx="3017520" cy="731520"/>
          </a:xfrm>
          <a:prstGeom prst="rect">
            <a:avLst/>
          </a:prstGeom>
          <a:noFill/>
        </p:spPr>
        <p:txBody>
          <a:bodyPr wrap="square" lIns="0" rIns="0" tIns="0" bIns="0" anchor="t">
            <a:spAutoFit/>
          </a:bodyPr>
          <a:lstStyle/>
          <a:p>
            <a:pPr algn="l"/>
            <a:r>
              <a:rPr sz="4400" b="1">
                <a:solidFill>
                  <a:srgbClr val="A8600A"/>
                </a:solidFill>
                <a:latin typeface="Arial"/>
              </a:rPr>
              <a:t>4</a:t>
            </a:r>
          </a:p>
        </p:txBody>
      </p:sp>
      <p:sp>
        <p:nvSpPr>
          <p:cNvPr id="15" name="TextBox 14"/>
          <p:cNvSpPr txBox="1"/>
          <p:nvPr/>
        </p:nvSpPr>
        <p:spPr>
          <a:xfrm>
            <a:off x="13395960"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El agente los lee y decide si basta</a:t>
            </a:r>
          </a:p>
        </p:txBody>
      </p:sp>
      <p:sp>
        <p:nvSpPr>
          <p:cNvPr id="16" name="TextBox 15"/>
          <p:cNvSpPr txBox="1"/>
          <p:nvPr/>
        </p:nvSpPr>
        <p:spPr>
          <a:xfrm>
            <a:off x="1600200" y="6537960"/>
            <a:ext cx="11887200" cy="822960"/>
          </a:xfrm>
          <a:prstGeom prst="rect">
            <a:avLst/>
          </a:prstGeom>
          <a:noFill/>
        </p:spPr>
        <p:txBody>
          <a:bodyPr wrap="square" lIns="0" rIns="0" tIns="0" bIns="0" anchor="t">
            <a:spAutoFit/>
          </a:bodyPr>
          <a:lstStyle/>
          <a:p>
            <a:pPr algn="l"/>
            <a:r>
              <a:rPr sz="2200" b="1">
                <a:solidFill>
                  <a:srgbClr val="A8600A"/>
                </a:solidFill>
                <a:latin typeface="Arial"/>
              </a:rPr>
              <a:t>Los mismos embeddings de la Parte 1. Darle al buscador el razonamiento del agente, y no solo la consulta, encuentra más con menos búsquedas (AgentIR).</a:t>
            </a:r>
          </a:p>
        </p:txBody>
      </p:sp>
      <p:sp>
        <p:nvSpPr>
          <p:cNvPr id="17" name="TextBox 16"/>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34 · Karpukhin et al. (2020), DPR · Chen et al. (COLM 2026), AgentIR · vía Asai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3 · EL HARNESS</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El harness junta todo lo anterior: modelo, contexto, herramientas, reglas y jueces</a:t>
            </a:r>
          </a:p>
        </p:txBody>
      </p:sp>
      <p:pic>
        <p:nvPicPr>
          <p:cNvPr id="4" name="Picture 3" descr="F11.png"/>
          <p:cNvPicPr>
            <a:picLocks noChangeAspect="1"/>
          </p:cNvPicPr>
          <p:nvPr/>
        </p:nvPicPr>
        <p:blipFill>
          <a:blip r:embed="rId3"/>
          <a:stretch>
            <a:fillRect/>
          </a:stretch>
        </p:blipFill>
        <p:spPr>
          <a:xfrm>
            <a:off x="1600200" y="3886200"/>
            <a:ext cx="11582400" cy="4343400"/>
          </a:xfrm>
          <a:prstGeom prst="rect">
            <a:avLst/>
          </a:prstGeom>
        </p:spPr>
      </p:pic>
      <p:sp>
        <p:nvSpPr>
          <p:cNvPr id="5" name="TextBox 4"/>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35 · Lopopolo (2026), OpenAI · Böckeler (2026), Thoughtworks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3 · EL HARNESS</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TÚ, EN REGLAS</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Instrucciones: un CLAUDE.md que el agente lee al empezar cada sesión</a:t>
            </a:r>
          </a:p>
        </p:txBody>
      </p:sp>
      <p:sp>
        <p:nvSpPr>
          <p:cNvPr id="5" name="Rounded Rectangle 4"/>
          <p:cNvSpPr/>
          <p:nvPr/>
        </p:nvSpPr>
        <p:spPr>
          <a:xfrm>
            <a:off x="1600200" y="3886200"/>
            <a:ext cx="9326880" cy="4389120"/>
          </a:xfrm>
          <a:prstGeom prst="roundRect">
            <a:avLst>
              <a:gd name="adj" fmla="val 4000"/>
            </a:avLst>
          </a:prstGeom>
          <a:solidFill>
            <a:srgbClr val="0F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20240" y="4160520"/>
            <a:ext cx="8778240" cy="3931920"/>
          </a:xfrm>
          <a:prstGeom prst="rect">
            <a:avLst/>
          </a:prstGeom>
          <a:noFill/>
        </p:spPr>
        <p:txBody>
          <a:bodyPr wrap="square" lIns="0" rIns="0" tIns="0" bIns="0" anchor="t">
            <a:spAutoFit/>
          </a:bodyPr>
          <a:lstStyle/>
          <a:p>
            <a:pPr algn="l">
              <a:lnSpc>
                <a:spcPct val="105000"/>
              </a:lnSpc>
            </a:pPr>
            <a:r>
              <a:rPr sz="1500" b="0">
                <a:solidFill>
                  <a:srgbClr val="F2A541"/>
                </a:solidFill>
                <a:latin typeface="Courier New"/>
              </a:rPr>
              <a:t># Laboratorio de biomecánica: marcha y exoesqueletos</a:t>
            </a:r>
          </a:p>
          <a:p>
            <a:pPr algn="l">
              <a:lnSpc>
                <a:spcPct val="105000"/>
              </a:lnSpc>
            </a:pPr>
            <a:r>
              <a:rPr sz="1500" b="0">
                <a:solidFill>
                  <a:srgbClr val="DFE6EE"/>
                </a:solidFill>
                <a:latin typeface="Courier New"/>
              </a:rPr>
              <a:t> </a:t>
            </a:r>
          </a:p>
          <a:p>
            <a:pPr algn="l">
              <a:lnSpc>
                <a:spcPct val="105000"/>
              </a:lnSpc>
            </a:pPr>
            <a:r>
              <a:rPr sz="1500" b="0">
                <a:solidFill>
                  <a:srgbClr val="F2A541"/>
                </a:solidFill>
                <a:latin typeface="Courier New"/>
              </a:rPr>
              <a:t>## Contexto</a:t>
            </a:r>
          </a:p>
          <a:p>
            <a:pPr algn="l">
              <a:lnSpc>
                <a:spcPct val="105000"/>
              </a:lnSpc>
            </a:pPr>
            <a:r>
              <a:rPr sz="1500" b="0">
                <a:solidFill>
                  <a:srgbClr val="DFE6EE"/>
                </a:solidFill>
                <a:latin typeface="Courier New"/>
              </a:rPr>
              <a:t>- Datos de captura (Vicon, IMU) en data/raw/: solo lectura</a:t>
            </a:r>
          </a:p>
          <a:p>
            <a:pPr algn="l">
              <a:lnSpc>
                <a:spcPct val="105000"/>
              </a:lnSpc>
            </a:pPr>
            <a:r>
              <a:rPr sz="1500" b="0">
                <a:solidFill>
                  <a:srgbClr val="DFE6EE"/>
                </a:solidFill>
                <a:latin typeface="Courier New"/>
              </a:rPr>
              <a:t>- Análisis en src/ con Python 3.11</a:t>
            </a:r>
          </a:p>
          <a:p>
            <a:pPr algn="l">
              <a:lnSpc>
                <a:spcPct val="105000"/>
              </a:lnSpc>
            </a:pPr>
            <a:r>
              <a:rPr sz="1500" b="0">
                <a:solidFill>
                  <a:srgbClr val="DFE6EE"/>
                </a:solidFill>
                <a:latin typeface="Courier New"/>
              </a:rPr>
              <a:t> </a:t>
            </a:r>
          </a:p>
          <a:p>
            <a:pPr algn="l">
              <a:lnSpc>
                <a:spcPct val="105000"/>
              </a:lnSpc>
            </a:pPr>
            <a:r>
              <a:rPr sz="1500" b="0">
                <a:solidFill>
                  <a:srgbClr val="F2A541"/>
                </a:solidFill>
                <a:latin typeface="Courier New"/>
              </a:rPr>
              <a:t>## Reglas</a:t>
            </a:r>
          </a:p>
          <a:p>
            <a:pPr algn="l">
              <a:lnSpc>
                <a:spcPct val="105000"/>
              </a:lnSpc>
            </a:pPr>
            <a:r>
              <a:rPr sz="1500" b="0">
                <a:solidFill>
                  <a:srgbClr val="DFE6EE"/>
                </a:solidFill>
                <a:latin typeface="Courier New"/>
              </a:rPr>
              <a:t>- Toda cifra lleva su fuente: archivo, tabla o DOI</a:t>
            </a:r>
          </a:p>
          <a:p>
            <a:pPr algn="l">
              <a:lnSpc>
                <a:spcPct val="105000"/>
              </a:lnSpc>
            </a:pPr>
            <a:r>
              <a:rPr sz="1500" b="0">
                <a:solidFill>
                  <a:srgbClr val="DFE6EE"/>
                </a:solidFill>
                <a:latin typeface="Courier New"/>
              </a:rPr>
              <a:t>- Si no encuentras una cita, dilo; nunca la inventes</a:t>
            </a:r>
          </a:p>
          <a:p>
            <a:pPr algn="l">
              <a:lnSpc>
                <a:spcPct val="105000"/>
              </a:lnSpc>
            </a:pPr>
            <a:r>
              <a:rPr sz="1500" b="0">
                <a:solidFill>
                  <a:srgbClr val="DFE6EE"/>
                </a:solidFill>
                <a:latin typeface="Courier New"/>
              </a:rPr>
              <a:t>- Antes de dar por terminado un cambio, corre pytest</a:t>
            </a:r>
          </a:p>
          <a:p>
            <a:pPr algn="l">
              <a:lnSpc>
                <a:spcPct val="105000"/>
              </a:lnSpc>
            </a:pPr>
            <a:r>
              <a:rPr sz="1500" b="0">
                <a:solidFill>
                  <a:srgbClr val="DFE6EE"/>
                </a:solidFill>
                <a:latin typeface="Courier New"/>
              </a:rPr>
              <a:t> </a:t>
            </a:r>
          </a:p>
          <a:p>
            <a:pPr algn="l">
              <a:lnSpc>
                <a:spcPct val="105000"/>
              </a:lnSpc>
            </a:pPr>
            <a:r>
              <a:rPr sz="1500" b="0">
                <a:solidFill>
                  <a:srgbClr val="F2A541"/>
                </a:solidFill>
                <a:latin typeface="Courier New"/>
              </a:rPr>
              <a:t>## Al terminar</a:t>
            </a:r>
          </a:p>
          <a:p>
            <a:pPr algn="l">
              <a:lnSpc>
                <a:spcPct val="105000"/>
              </a:lnSpc>
            </a:pPr>
            <a:r>
              <a:rPr sz="1500" b="0">
                <a:solidFill>
                  <a:srgbClr val="DFE6EE"/>
                </a:solidFill>
                <a:latin typeface="Courier New"/>
              </a:rPr>
              <a:t>- Resume qué cambiaste y qué no pudiste verificar</a:t>
            </a:r>
          </a:p>
        </p:txBody>
      </p:sp>
      <p:sp>
        <p:nvSpPr>
          <p:cNvPr id="7" name="Rounded Rectangle 6"/>
          <p:cNvSpPr/>
          <p:nvPr/>
        </p:nvSpPr>
        <p:spPr>
          <a:xfrm>
            <a:off x="11247119" y="3886200"/>
            <a:ext cx="5440680" cy="43891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521440" y="4160520"/>
            <a:ext cx="4892040" cy="3931920"/>
          </a:xfrm>
          <a:prstGeom prst="rect">
            <a:avLst/>
          </a:prstGeom>
          <a:noFill/>
        </p:spPr>
        <p:txBody>
          <a:bodyPr wrap="square" lIns="0" rIns="0" tIns="0" bIns="0" anchor="t">
            <a:spAutoFit/>
          </a:bodyPr>
          <a:lstStyle/>
          <a:p>
            <a:pPr algn="l">
              <a:spcAft>
                <a:spcPts val="600"/>
              </a:spcAft>
            </a:pPr>
            <a:r>
              <a:rPr sz="2100" b="1">
                <a:solidFill>
                  <a:srgbClr val="A8600A"/>
                </a:solidFill>
                <a:latin typeface="Arial"/>
              </a:rPr>
              <a:t>Se carga siempre</a:t>
            </a:r>
          </a:p>
          <a:p>
            <a:pPr algn="l">
              <a:spcAft>
                <a:spcPts val="600"/>
              </a:spcAft>
            </a:pPr>
            <a:r>
              <a:rPr sz="1800" b="0">
                <a:solidFill>
                  <a:srgbClr val="4A4F57"/>
                </a:solidFill>
                <a:latin typeface="Arial"/>
              </a:rPr>
              <a:t>Al inicio de cada sesión, antes de tu primer mensaje</a:t>
            </a:r>
          </a:p>
          <a:p>
            <a:pPr algn="l">
              <a:spcAft>
                <a:spcPts val="600"/>
              </a:spcAft>
            </a:pPr>
            <a:r>
              <a:rPr sz="2100" b="1">
                <a:solidFill>
                  <a:srgbClr val="A8600A"/>
                </a:solidFill>
                <a:latin typeface="Arial"/>
              </a:rPr>
              <a:t>Corto</a:t>
            </a:r>
          </a:p>
          <a:p>
            <a:pPr algn="l">
              <a:spcAft>
                <a:spcPts val="600"/>
              </a:spcAft>
            </a:pPr>
            <a:r>
              <a:rPr sz="1800" b="0">
                <a:solidFill>
                  <a:srgbClr val="4A4F57"/>
                </a:solidFill>
                <a:latin typeface="Arial"/>
              </a:rPr>
              <a:t>Un mapa, no un manual: OpenAI usa unas 100 líneas</a:t>
            </a:r>
          </a:p>
          <a:p>
            <a:pPr algn="l">
              <a:spcAft>
                <a:spcPts val="600"/>
              </a:spcAft>
            </a:pPr>
            <a:r>
              <a:rPr sz="2100" b="1">
                <a:solidFill>
                  <a:srgbClr val="A8600A"/>
                </a:solidFill>
                <a:latin typeface="Arial"/>
              </a:rPr>
              <a:t>Es tu criterio</a:t>
            </a:r>
          </a:p>
          <a:p>
            <a:pPr algn="l">
              <a:spcAft>
                <a:spcPts val="600"/>
              </a:spcAft>
            </a:pPr>
            <a:r>
              <a:rPr sz="1800" b="0">
                <a:solidFill>
                  <a:srgbClr val="4A4F57"/>
                </a:solidFill>
                <a:latin typeface="Arial"/>
              </a:rPr>
              <a:t>Lo que repetirías en cada conversación, escrito una vez</a:t>
            </a:r>
          </a:p>
        </p:txBody>
      </p:sp>
      <p:sp>
        <p:nvSpPr>
          <p:cNvPr id="9" name="TextBox 8"/>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36 · Anthropic (2025), Claude Code: memoria y CLAUDE.md · Lopopolo (2026), OpenAI · ejemplo propio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3 · EL HARNESS</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Contexto: lo que el agente tiene a la vista, y hay que elegir qué entra</a:t>
            </a:r>
          </a:p>
        </p:txBody>
      </p:sp>
      <p:sp>
        <p:nvSpPr>
          <p:cNvPr id="4" name="Rounded Rectangle 3"/>
          <p:cNvSpPr/>
          <p:nvPr/>
        </p:nvSpPr>
        <p:spPr>
          <a:xfrm>
            <a:off x="160020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Entra siempre</a:t>
            </a:r>
          </a:p>
          <a:p>
            <a:pPr algn="l">
              <a:spcAft>
                <a:spcPts val="800"/>
              </a:spcAft>
            </a:pPr>
            <a:r>
              <a:rPr sz="2000" b="0">
                <a:solidFill>
                  <a:srgbClr val="4A4F57"/>
                </a:solidFill>
                <a:latin typeface="Arial"/>
              </a:rPr>
              <a:t>Instrucciones del sistema, CLAUDE.md y la descripción de cada skill.</a:t>
            </a:r>
          </a:p>
        </p:txBody>
      </p:sp>
      <p:sp>
        <p:nvSpPr>
          <p:cNvPr id="6" name="Rounded Rectangle 5"/>
          <p:cNvSpPr/>
          <p:nvPr/>
        </p:nvSpPr>
        <p:spPr>
          <a:xfrm>
            <a:off x="673608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10399"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Entra al trabajar</a:t>
            </a:r>
          </a:p>
          <a:p>
            <a:pPr algn="l">
              <a:spcAft>
                <a:spcPts val="800"/>
              </a:spcAft>
            </a:pPr>
            <a:r>
              <a:rPr sz="2000" b="0">
                <a:solidFill>
                  <a:srgbClr val="4A4F57"/>
                </a:solidFill>
                <a:latin typeface="Arial"/>
              </a:rPr>
              <a:t>Tus mensajes, los archivos que abre y los resultados de cada herramienta.</a:t>
            </a:r>
          </a:p>
        </p:txBody>
      </p:sp>
      <p:sp>
        <p:nvSpPr>
          <p:cNvPr id="8" name="Rounded Rectangle 7"/>
          <p:cNvSpPr/>
          <p:nvPr/>
        </p:nvSpPr>
        <p:spPr>
          <a:xfrm>
            <a:off x="11871960" y="3886200"/>
            <a:ext cx="4815840" cy="2926080"/>
          </a:xfrm>
          <a:prstGeom prst="roundRect">
            <a:avLst>
              <a:gd name="adj" fmla="val 6000"/>
            </a:avLst>
          </a:prstGeom>
          <a:solidFill>
            <a:srgbClr val="FDF1DF"/>
          </a:solid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146280" y="4114800"/>
            <a:ext cx="4267200" cy="2560320"/>
          </a:xfrm>
          <a:prstGeom prst="rect">
            <a:avLst/>
          </a:prstGeom>
          <a:noFill/>
        </p:spPr>
        <p:txBody>
          <a:bodyPr wrap="square" lIns="0" rIns="0" tIns="0" bIns="0" anchor="t">
            <a:spAutoFit/>
          </a:bodyPr>
          <a:lstStyle/>
          <a:p>
            <a:pPr algn="l">
              <a:spcAft>
                <a:spcPts val="800"/>
              </a:spcAft>
            </a:pPr>
            <a:r>
              <a:rPr sz="2400" b="1">
                <a:solidFill>
                  <a:srgbClr val="A8600A"/>
                </a:solidFill>
                <a:latin typeface="Arial"/>
              </a:rPr>
              <a:t>Cuando se llena</a:t>
            </a:r>
          </a:p>
          <a:p>
            <a:pPr algn="l">
              <a:spcAft>
                <a:spcPts val="800"/>
              </a:spcAft>
            </a:pPr>
            <a:r>
              <a:rPr sz="2000" b="0">
                <a:solidFill>
                  <a:srgbClr val="4A4F57"/>
                </a:solidFill>
                <a:latin typeface="Arial"/>
              </a:rPr>
              <a:t>El agente resume lo anterior, o reparte el trabajo en subagentes con su propia ventana.</a:t>
            </a:r>
          </a:p>
        </p:txBody>
      </p:sp>
      <p:sp>
        <p:nvSpPr>
          <p:cNvPr id="10" name="TextBox 9"/>
          <p:cNvSpPr txBox="1"/>
          <p:nvPr/>
        </p:nvSpPr>
        <p:spPr>
          <a:xfrm>
            <a:off x="1600200" y="7178040"/>
            <a:ext cx="11887200" cy="822960"/>
          </a:xfrm>
          <a:prstGeom prst="rect">
            <a:avLst/>
          </a:prstGeom>
          <a:noFill/>
        </p:spPr>
        <p:txBody>
          <a:bodyPr wrap="square" lIns="0" rIns="0" tIns="0" bIns="0" anchor="t">
            <a:spAutoFit/>
          </a:bodyPr>
          <a:lstStyle/>
          <a:p>
            <a:pPr algn="l"/>
            <a:r>
              <a:rPr sz="2200" b="1">
                <a:solidFill>
                  <a:srgbClr val="A8600A"/>
                </a:solidFill>
                <a:latin typeface="Arial"/>
              </a:rPr>
              <a:t>Más contexto no siempre es mejor: lo irrelevante distrae. Dale lo justo, y dile dónde buscar lo demás.</a:t>
            </a:r>
          </a:p>
        </p:txBody>
      </p:sp>
      <p:sp>
        <p:nvSpPr>
          <p:cNvPr id="11" name="TextBox 10"/>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37 · Anthropic (2025), Effective context engineering for AI agents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3 · EL HARNESS</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Herramientas y permisos: qué puede hacer el agente, y qué no sin preguntarte</a:t>
            </a:r>
          </a:p>
        </p:txBody>
      </p:sp>
      <p:sp>
        <p:nvSpPr>
          <p:cNvPr id="4" name="Rounded Rectangle 3"/>
          <p:cNvSpPr/>
          <p:nvPr/>
        </p:nvSpPr>
        <p:spPr>
          <a:xfrm>
            <a:off x="1600200" y="3886200"/>
            <a:ext cx="9326880" cy="4389120"/>
          </a:xfrm>
          <a:prstGeom prst="roundRect">
            <a:avLst>
              <a:gd name="adj" fmla="val 4000"/>
            </a:avLst>
          </a:prstGeom>
          <a:solidFill>
            <a:srgbClr val="0F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920240" y="4160520"/>
            <a:ext cx="8778240" cy="3931920"/>
          </a:xfrm>
          <a:prstGeom prst="rect">
            <a:avLst/>
          </a:prstGeom>
          <a:noFill/>
        </p:spPr>
        <p:txBody>
          <a:bodyPr wrap="square" lIns="0" rIns="0" tIns="0" bIns="0" anchor="t">
            <a:spAutoFit/>
          </a:bodyPr>
          <a:lstStyle/>
          <a:p>
            <a:pPr algn="l">
              <a:lnSpc>
                <a:spcPct val="105000"/>
              </a:lnSpc>
            </a:pPr>
            <a:r>
              <a:rPr sz="1700" b="0">
                <a:solidFill>
                  <a:srgbClr val="8A96A8"/>
                </a:solidFill>
                <a:latin typeface="Courier New"/>
              </a:rPr>
              <a:t>.claude/settings.json</a:t>
            </a:r>
          </a:p>
          <a:p>
            <a:pPr algn="l">
              <a:lnSpc>
                <a:spcPct val="105000"/>
              </a:lnSpc>
            </a:pPr>
            <a:r>
              <a:rPr sz="1700" b="0">
                <a:solidFill>
                  <a:srgbClr val="DFE6EE"/>
                </a:solidFill>
                <a:latin typeface="Courier New"/>
              </a:rPr>
              <a:t>{</a:t>
            </a:r>
          </a:p>
          <a:p>
            <a:pPr algn="l">
              <a:lnSpc>
                <a:spcPct val="105000"/>
              </a:lnSpc>
            </a:pPr>
            <a:r>
              <a:rPr sz="1700" b="0">
                <a:solidFill>
                  <a:srgbClr val="F2A541"/>
                </a:solidFill>
                <a:latin typeface="Courier New"/>
              </a:rPr>
              <a:t>  "permissions"</a:t>
            </a:r>
            <a:r>
              <a:rPr sz="1700" b="0">
                <a:solidFill>
                  <a:srgbClr val="DFE6EE"/>
                </a:solidFill>
                <a:latin typeface="Courier New"/>
              </a:rPr>
              <a:t>: {</a:t>
            </a:r>
          </a:p>
          <a:p>
            <a:pPr algn="l">
              <a:lnSpc>
                <a:spcPct val="105000"/>
              </a:lnSpc>
            </a:pPr>
            <a:r>
              <a:rPr sz="1700" b="0">
                <a:solidFill>
                  <a:srgbClr val="F2A541"/>
                </a:solidFill>
                <a:latin typeface="Courier New"/>
              </a:rPr>
              <a:t>    "allow"</a:t>
            </a:r>
            <a:r>
              <a:rPr sz="1700" b="0">
                <a:solidFill>
                  <a:srgbClr val="DFE6EE"/>
                </a:solidFill>
                <a:latin typeface="Courier New"/>
              </a:rPr>
              <a:t>: ["WebSearch", "Read", "Bash(pytest:*)"],</a:t>
            </a:r>
          </a:p>
          <a:p>
            <a:pPr algn="l">
              <a:lnSpc>
                <a:spcPct val="105000"/>
              </a:lnSpc>
            </a:pPr>
            <a:r>
              <a:rPr sz="1700" b="0">
                <a:solidFill>
                  <a:srgbClr val="F2A541"/>
                </a:solidFill>
                <a:latin typeface="Courier New"/>
              </a:rPr>
              <a:t>    "deny"</a:t>
            </a:r>
            <a:r>
              <a:rPr sz="1700" b="0">
                <a:solidFill>
                  <a:srgbClr val="DFE6EE"/>
                </a:solidFill>
                <a:latin typeface="Courier New"/>
              </a:rPr>
              <a:t>:  ["Bash(rm:*)", "Read(./data/pacientes/**)"]</a:t>
            </a:r>
          </a:p>
          <a:p>
            <a:pPr algn="l">
              <a:lnSpc>
                <a:spcPct val="105000"/>
              </a:lnSpc>
            </a:pPr>
            <a:r>
              <a:rPr sz="1700" b="0">
                <a:solidFill>
                  <a:srgbClr val="DFE6EE"/>
                </a:solidFill>
                <a:latin typeface="Courier New"/>
              </a:rPr>
              <a:t>  }</a:t>
            </a:r>
          </a:p>
          <a:p>
            <a:pPr algn="l">
              <a:lnSpc>
                <a:spcPct val="105000"/>
              </a:lnSpc>
            </a:pPr>
            <a:r>
              <a:rPr sz="1700" b="0">
                <a:solidFill>
                  <a:srgbClr val="DFE6EE"/>
                </a:solidFill>
                <a:latin typeface="Courier New"/>
              </a:rPr>
              <a:t>}</a:t>
            </a:r>
          </a:p>
        </p:txBody>
      </p:sp>
      <p:sp>
        <p:nvSpPr>
          <p:cNvPr id="6" name="Rounded Rectangle 5"/>
          <p:cNvSpPr/>
          <p:nvPr/>
        </p:nvSpPr>
        <p:spPr>
          <a:xfrm>
            <a:off x="11247119" y="3886200"/>
            <a:ext cx="5440680" cy="43891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521440" y="4160520"/>
            <a:ext cx="4892040" cy="3931920"/>
          </a:xfrm>
          <a:prstGeom prst="rect">
            <a:avLst/>
          </a:prstGeom>
          <a:noFill/>
        </p:spPr>
        <p:txBody>
          <a:bodyPr wrap="square" lIns="0" rIns="0" tIns="0" bIns="0" anchor="t">
            <a:spAutoFit/>
          </a:bodyPr>
          <a:lstStyle/>
          <a:p>
            <a:pPr algn="l">
              <a:spcAft>
                <a:spcPts val="600"/>
              </a:spcAft>
            </a:pPr>
            <a:r>
              <a:rPr sz="2100" b="1">
                <a:solidFill>
                  <a:srgbClr val="A8600A"/>
                </a:solidFill>
                <a:latin typeface="Arial"/>
              </a:rPr>
              <a:t>Herramientas</a:t>
            </a:r>
          </a:p>
          <a:p>
            <a:pPr algn="l">
              <a:spcAft>
                <a:spcPts val="600"/>
              </a:spcAft>
            </a:pPr>
            <a:r>
              <a:rPr sz="1800" b="0">
                <a:solidFill>
                  <a:srgbClr val="4A4F57"/>
                </a:solidFill>
                <a:latin typeface="Arial"/>
              </a:rPr>
              <a:t>Búsqueda, código y archivos vienen incluidos; MCP conecta otras: Zotero, una base de datos, tu correo</a:t>
            </a:r>
          </a:p>
          <a:p>
            <a:pPr algn="l">
              <a:spcAft>
                <a:spcPts val="600"/>
              </a:spcAft>
            </a:pPr>
            <a:r>
              <a:rPr sz="2100" b="1">
                <a:solidFill>
                  <a:srgbClr val="A8600A"/>
                </a:solidFill>
                <a:latin typeface="Arial"/>
              </a:rPr>
              <a:t>allow</a:t>
            </a:r>
          </a:p>
          <a:p>
            <a:pPr algn="l">
              <a:spcAft>
                <a:spcPts val="600"/>
              </a:spcAft>
            </a:pPr>
            <a:r>
              <a:rPr sz="1800" b="0">
                <a:solidFill>
                  <a:srgbClr val="4A4F57"/>
                </a:solidFill>
                <a:latin typeface="Arial"/>
              </a:rPr>
              <a:t>lo hace sin preguntar</a:t>
            </a:r>
          </a:p>
          <a:p>
            <a:pPr algn="l">
              <a:spcAft>
                <a:spcPts val="600"/>
              </a:spcAft>
            </a:pPr>
            <a:r>
              <a:rPr sz="2100" b="1">
                <a:solidFill>
                  <a:srgbClr val="A8600A"/>
                </a:solidFill>
                <a:latin typeface="Arial"/>
              </a:rPr>
              <a:t>deny</a:t>
            </a:r>
          </a:p>
          <a:p>
            <a:pPr algn="l">
              <a:spcAft>
                <a:spcPts val="600"/>
              </a:spcAft>
            </a:pPr>
            <a:r>
              <a:rPr sz="1800" b="0">
                <a:solidFill>
                  <a:srgbClr val="4A4F57"/>
                </a:solidFill>
                <a:latin typeface="Arial"/>
              </a:rPr>
              <a:t>no lo hace nunca: aquí van los datos de pacientes</a:t>
            </a:r>
          </a:p>
        </p:txBody>
      </p:sp>
      <p:sp>
        <p:nvSpPr>
          <p:cNvPr id="8" name="TextBox 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38 · Anthropic (2025), Claude Code: configuración de permisos · Model Context Protocol (2024)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3 · EL HARNESS</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Un skill es una carpeta con instrucciones que el agente abre solo cuando la necesita</a:t>
            </a:r>
          </a:p>
        </p:txBody>
      </p:sp>
      <p:sp>
        <p:nvSpPr>
          <p:cNvPr id="4" name="Rounded Rectangle 3"/>
          <p:cNvSpPr/>
          <p:nvPr/>
        </p:nvSpPr>
        <p:spPr>
          <a:xfrm>
            <a:off x="1600200" y="3886200"/>
            <a:ext cx="9326880" cy="4389120"/>
          </a:xfrm>
          <a:prstGeom prst="roundRect">
            <a:avLst>
              <a:gd name="adj" fmla="val 4000"/>
            </a:avLst>
          </a:prstGeom>
          <a:solidFill>
            <a:srgbClr val="0F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920240" y="4160520"/>
            <a:ext cx="8778240" cy="3931920"/>
          </a:xfrm>
          <a:prstGeom prst="rect">
            <a:avLst/>
          </a:prstGeom>
          <a:noFill/>
        </p:spPr>
        <p:txBody>
          <a:bodyPr wrap="square" lIns="0" rIns="0" tIns="0" bIns="0" anchor="t">
            <a:spAutoFit/>
          </a:bodyPr>
          <a:lstStyle/>
          <a:p>
            <a:pPr algn="l">
              <a:lnSpc>
                <a:spcPct val="105000"/>
              </a:lnSpc>
            </a:pPr>
            <a:r>
              <a:rPr sz="1700" b="0">
                <a:solidFill>
                  <a:srgbClr val="DFE6EE"/>
                </a:solidFill>
                <a:latin typeface="Courier New"/>
              </a:rPr>
              <a:t>revisar-figura/</a:t>
            </a:r>
          </a:p>
          <a:p>
            <a:pPr algn="l">
              <a:lnSpc>
                <a:spcPct val="105000"/>
              </a:lnSpc>
            </a:pPr>
            <a:r>
              <a:rPr sz="1700" b="0">
                <a:solidFill>
                  <a:srgbClr val="8A96A8"/>
                </a:solidFill>
                <a:latin typeface="Courier New"/>
              </a:rPr>
              <a:t>├── </a:t>
            </a:r>
            <a:r>
              <a:rPr sz="1700" b="0">
                <a:solidFill>
                  <a:srgbClr val="F2A541"/>
                </a:solidFill>
                <a:latin typeface="Courier New"/>
              </a:rPr>
              <a:t>SKILL.md</a:t>
            </a:r>
            <a:r>
              <a:rPr sz="1700" b="0">
                <a:solidFill>
                  <a:srgbClr val="8A96A8"/>
                </a:solidFill>
                <a:latin typeface="Courier New"/>
              </a:rPr>
              <a:t>          instrucciones y cuándo usarlas</a:t>
            </a:r>
          </a:p>
          <a:p>
            <a:pPr algn="l">
              <a:lnSpc>
                <a:spcPct val="105000"/>
              </a:lnSpc>
            </a:pPr>
            <a:r>
              <a:rPr sz="1700" b="0">
                <a:solidFill>
                  <a:srgbClr val="8A96A8"/>
                </a:solidFill>
                <a:latin typeface="Courier New"/>
              </a:rPr>
              <a:t>├── </a:t>
            </a:r>
            <a:r>
              <a:rPr sz="1700" b="0">
                <a:solidFill>
                  <a:srgbClr val="DFE6EE"/>
                </a:solidFill>
                <a:latin typeface="Courier New"/>
              </a:rPr>
              <a:t>checklist.md</a:t>
            </a:r>
            <a:r>
              <a:rPr sz="1700" b="0">
                <a:solidFill>
                  <a:srgbClr val="8A96A8"/>
                </a:solidFill>
                <a:latin typeface="Courier New"/>
              </a:rPr>
              <a:t>      referencia: qué revisar</a:t>
            </a:r>
          </a:p>
          <a:p>
            <a:pPr algn="l">
              <a:lnSpc>
                <a:spcPct val="105000"/>
              </a:lnSpc>
            </a:pPr>
            <a:r>
              <a:rPr sz="1700" b="0">
                <a:solidFill>
                  <a:srgbClr val="8A96A8"/>
                </a:solidFill>
                <a:latin typeface="Courier New"/>
              </a:rPr>
              <a:t>└── </a:t>
            </a:r>
            <a:r>
              <a:rPr sz="1700" b="0">
                <a:solidFill>
                  <a:srgbClr val="DFE6EE"/>
                </a:solidFill>
                <a:latin typeface="Courier New"/>
              </a:rPr>
              <a:t>scripts/</a:t>
            </a:r>
          </a:p>
          <a:p>
            <a:pPr algn="l">
              <a:lnSpc>
                <a:spcPct val="105000"/>
              </a:lnSpc>
            </a:pPr>
            <a:r>
              <a:rPr sz="1700" b="0">
                <a:solidFill>
                  <a:srgbClr val="8A96A8"/>
                </a:solidFill>
                <a:latin typeface="Courier New"/>
              </a:rPr>
              <a:t>    └── </a:t>
            </a:r>
            <a:r>
              <a:rPr sz="1700" b="0">
                <a:solidFill>
                  <a:srgbClr val="DFE6EE"/>
                </a:solidFill>
                <a:latin typeface="Courier New"/>
              </a:rPr>
              <a:t>contraste.py</a:t>
            </a:r>
            <a:r>
              <a:rPr sz="1700" b="0">
                <a:solidFill>
                  <a:srgbClr val="8A96A8"/>
                </a:solidFill>
                <a:latin typeface="Courier New"/>
              </a:rPr>
              <a:t>   lo mecánico, como código</a:t>
            </a:r>
          </a:p>
        </p:txBody>
      </p:sp>
      <p:sp>
        <p:nvSpPr>
          <p:cNvPr id="6" name="Rounded Rectangle 5"/>
          <p:cNvSpPr/>
          <p:nvPr/>
        </p:nvSpPr>
        <p:spPr>
          <a:xfrm>
            <a:off x="11247119" y="3886200"/>
            <a:ext cx="5440680" cy="43891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521440" y="4160520"/>
            <a:ext cx="4892040" cy="3931920"/>
          </a:xfrm>
          <a:prstGeom prst="rect">
            <a:avLst/>
          </a:prstGeom>
          <a:noFill/>
        </p:spPr>
        <p:txBody>
          <a:bodyPr wrap="square" lIns="0" rIns="0" tIns="0" bIns="0" anchor="t">
            <a:spAutoFit/>
          </a:bodyPr>
          <a:lstStyle/>
          <a:p>
            <a:pPr algn="l">
              <a:spcAft>
                <a:spcPts val="600"/>
              </a:spcAft>
            </a:pPr>
            <a:r>
              <a:rPr sz="2100" b="1">
                <a:solidFill>
                  <a:srgbClr val="A8600A"/>
                </a:solidFill>
                <a:latin typeface="Arial"/>
              </a:rPr>
              <a:t>Es texto</a:t>
            </a:r>
          </a:p>
          <a:p>
            <a:pPr algn="l">
              <a:spcAft>
                <a:spcPts val="600"/>
              </a:spcAft>
            </a:pPr>
            <a:r>
              <a:rPr sz="1800" b="0">
                <a:solidFill>
                  <a:srgbClr val="4A4F57"/>
                </a:solidFill>
                <a:latin typeface="Arial"/>
              </a:rPr>
              <a:t>Se lee, se edita y se versiona en git como cualquier código</a:t>
            </a:r>
          </a:p>
          <a:p>
            <a:pPr algn="l">
              <a:spcAft>
                <a:spcPts val="600"/>
              </a:spcAft>
            </a:pPr>
            <a:r>
              <a:rPr sz="2100" b="1">
                <a:solidFill>
                  <a:srgbClr val="A8600A"/>
                </a:solidFill>
                <a:latin typeface="Arial"/>
              </a:rPr>
              <a:t>Es portátil</a:t>
            </a:r>
          </a:p>
          <a:p>
            <a:pPr algn="l">
              <a:spcAft>
                <a:spcPts val="600"/>
              </a:spcAft>
            </a:pPr>
            <a:r>
              <a:rPr sz="1800" b="0">
                <a:solidFill>
                  <a:srgbClr val="4A4F57"/>
                </a:solidFill>
                <a:latin typeface="Arial"/>
              </a:rPr>
              <a:t>Estándar abierto desde diciembre de 2025: no depende de una sola herramienta</a:t>
            </a:r>
          </a:p>
          <a:p>
            <a:pPr algn="l">
              <a:spcAft>
                <a:spcPts val="600"/>
              </a:spcAft>
            </a:pPr>
            <a:r>
              <a:rPr sz="2100" b="1">
                <a:solidFill>
                  <a:srgbClr val="A8600A"/>
                </a:solidFill>
                <a:latin typeface="Arial"/>
              </a:rPr>
              <a:t>Ejemplo</a:t>
            </a:r>
          </a:p>
          <a:p>
            <a:pPr algn="l">
              <a:spcAft>
                <a:spcPts val="600"/>
              </a:spcAft>
            </a:pPr>
            <a:r>
              <a:rPr sz="1800" b="0">
                <a:solidFill>
                  <a:srgbClr val="4A4F57"/>
                </a:solidFill>
                <a:latin typeface="Arial"/>
              </a:rPr>
              <a:t>revisar-figura: revisar una figura científica antes de enviarla</a:t>
            </a:r>
          </a:p>
        </p:txBody>
      </p:sp>
      <p:sp>
        <p:nvSpPr>
          <p:cNvPr id="8" name="TextBox 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39 · Zhang, Lazuka y Murag (2025), Anthropic · estándar abierto: agentskills.io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3 · EL HARNESS</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Carga progresiva: el agente lee cada parte del skill solo cuando la necesita</a:t>
            </a:r>
          </a:p>
        </p:txBody>
      </p:sp>
      <p:sp>
        <p:nvSpPr>
          <p:cNvPr id="4" name="Rounded Rectangle 3"/>
          <p:cNvSpPr/>
          <p:nvPr/>
        </p:nvSpPr>
        <p:spPr>
          <a:xfrm>
            <a:off x="160020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069080"/>
            <a:ext cx="3017520" cy="731520"/>
          </a:xfrm>
          <a:prstGeom prst="rect">
            <a:avLst/>
          </a:prstGeom>
          <a:noFill/>
        </p:spPr>
        <p:txBody>
          <a:bodyPr wrap="square" lIns="0" rIns="0" tIns="0" bIns="0" anchor="t">
            <a:spAutoFit/>
          </a:bodyPr>
          <a:lstStyle/>
          <a:p>
            <a:pPr algn="l"/>
            <a:r>
              <a:rPr sz="4400" b="1">
                <a:solidFill>
                  <a:srgbClr val="A8600A"/>
                </a:solidFill>
                <a:latin typeface="Arial"/>
              </a:rPr>
              <a:t>1</a:t>
            </a:r>
          </a:p>
        </p:txBody>
      </p:sp>
      <p:sp>
        <p:nvSpPr>
          <p:cNvPr id="6" name="TextBox 5"/>
          <p:cNvSpPr txBox="1"/>
          <p:nvPr/>
        </p:nvSpPr>
        <p:spPr>
          <a:xfrm>
            <a:off x="1874519"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Al iniciar: solo el nombre y la descripción de cada skill</a:t>
            </a:r>
          </a:p>
        </p:txBody>
      </p:sp>
      <p:sp>
        <p:nvSpPr>
          <p:cNvPr id="7" name="Rounded Rectangle 6"/>
          <p:cNvSpPr/>
          <p:nvPr/>
        </p:nvSpPr>
        <p:spPr>
          <a:xfrm>
            <a:off x="544068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15000" y="4069080"/>
            <a:ext cx="3017520" cy="731520"/>
          </a:xfrm>
          <a:prstGeom prst="rect">
            <a:avLst/>
          </a:prstGeom>
          <a:noFill/>
        </p:spPr>
        <p:txBody>
          <a:bodyPr wrap="square" lIns="0" rIns="0" tIns="0" bIns="0" anchor="t">
            <a:spAutoFit/>
          </a:bodyPr>
          <a:lstStyle/>
          <a:p>
            <a:pPr algn="l"/>
            <a:r>
              <a:rPr sz="4400" b="1">
                <a:solidFill>
                  <a:srgbClr val="A8600A"/>
                </a:solidFill>
                <a:latin typeface="Arial"/>
              </a:rPr>
              <a:t>2</a:t>
            </a:r>
          </a:p>
        </p:txBody>
      </p:sp>
      <p:sp>
        <p:nvSpPr>
          <p:cNvPr id="9" name="TextBox 8"/>
          <p:cNvSpPr txBox="1"/>
          <p:nvPr/>
        </p:nvSpPr>
        <p:spPr>
          <a:xfrm>
            <a:off x="5715000"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Si la tarea coincide: el SKILL.md completo</a:t>
            </a:r>
          </a:p>
        </p:txBody>
      </p:sp>
      <p:sp>
        <p:nvSpPr>
          <p:cNvPr id="10" name="Rounded Rectangle 9"/>
          <p:cNvSpPr/>
          <p:nvPr/>
        </p:nvSpPr>
        <p:spPr>
          <a:xfrm>
            <a:off x="928116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55480" y="4069080"/>
            <a:ext cx="3017520" cy="731520"/>
          </a:xfrm>
          <a:prstGeom prst="rect">
            <a:avLst/>
          </a:prstGeom>
          <a:noFill/>
        </p:spPr>
        <p:txBody>
          <a:bodyPr wrap="square" lIns="0" rIns="0" tIns="0" bIns="0" anchor="t">
            <a:spAutoFit/>
          </a:bodyPr>
          <a:lstStyle/>
          <a:p>
            <a:pPr algn="l"/>
            <a:r>
              <a:rPr sz="4400" b="1">
                <a:solidFill>
                  <a:srgbClr val="A8600A"/>
                </a:solidFill>
                <a:latin typeface="Arial"/>
              </a:rPr>
              <a:t>3</a:t>
            </a:r>
          </a:p>
        </p:txBody>
      </p:sp>
      <p:sp>
        <p:nvSpPr>
          <p:cNvPr id="12" name="TextBox 11"/>
          <p:cNvSpPr txBox="1"/>
          <p:nvPr/>
        </p:nvSpPr>
        <p:spPr>
          <a:xfrm>
            <a:off x="9555480"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Si hace falta: los archivos de referencia</a:t>
            </a:r>
          </a:p>
        </p:txBody>
      </p:sp>
      <p:sp>
        <p:nvSpPr>
          <p:cNvPr id="13" name="Rounded Rectangle 12"/>
          <p:cNvSpPr/>
          <p:nvPr/>
        </p:nvSpPr>
        <p:spPr>
          <a:xfrm>
            <a:off x="13121640" y="3886200"/>
            <a:ext cx="3566160"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395960" y="4069080"/>
            <a:ext cx="3017520" cy="731520"/>
          </a:xfrm>
          <a:prstGeom prst="rect">
            <a:avLst/>
          </a:prstGeom>
          <a:noFill/>
        </p:spPr>
        <p:txBody>
          <a:bodyPr wrap="square" lIns="0" rIns="0" tIns="0" bIns="0" anchor="t">
            <a:spAutoFit/>
          </a:bodyPr>
          <a:lstStyle/>
          <a:p>
            <a:pPr algn="l"/>
            <a:r>
              <a:rPr sz="4400" b="1">
                <a:solidFill>
                  <a:srgbClr val="A8600A"/>
                </a:solidFill>
                <a:latin typeface="Arial"/>
              </a:rPr>
              <a:t>4</a:t>
            </a:r>
          </a:p>
        </p:txBody>
      </p:sp>
      <p:sp>
        <p:nvSpPr>
          <p:cNvPr id="15" name="TextBox 14"/>
          <p:cNvSpPr txBox="1"/>
          <p:nvPr/>
        </p:nvSpPr>
        <p:spPr>
          <a:xfrm>
            <a:off x="13395960" y="4800600"/>
            <a:ext cx="3017520" cy="1371600"/>
          </a:xfrm>
          <a:prstGeom prst="rect">
            <a:avLst/>
          </a:prstGeom>
          <a:noFill/>
        </p:spPr>
        <p:txBody>
          <a:bodyPr wrap="square" lIns="0" rIns="0" tIns="0" bIns="0" anchor="t">
            <a:spAutoFit/>
          </a:bodyPr>
          <a:lstStyle/>
          <a:p>
            <a:pPr algn="l"/>
            <a:r>
              <a:rPr sz="2200" b="0">
                <a:solidFill>
                  <a:srgbClr val="073763"/>
                </a:solidFill>
                <a:latin typeface="Arial"/>
              </a:rPr>
              <a:t>Los scripts corren sin entrar al contexto</a:t>
            </a:r>
          </a:p>
        </p:txBody>
      </p:sp>
      <p:sp>
        <p:nvSpPr>
          <p:cNvPr id="16" name="TextBox 15"/>
          <p:cNvSpPr txBox="1"/>
          <p:nvPr/>
        </p:nvSpPr>
        <p:spPr>
          <a:xfrm>
            <a:off x="1600200" y="6537960"/>
            <a:ext cx="11887200" cy="822960"/>
          </a:xfrm>
          <a:prstGeom prst="rect">
            <a:avLst/>
          </a:prstGeom>
          <a:noFill/>
        </p:spPr>
        <p:txBody>
          <a:bodyPr wrap="square" lIns="0" rIns="0" tIns="0" bIns="0" anchor="t">
            <a:spAutoFit/>
          </a:bodyPr>
          <a:lstStyle/>
          <a:p>
            <a:pPr algn="l"/>
            <a:r>
              <a:rPr sz="2200" b="1">
                <a:solidFill>
                  <a:srgbClr val="A8600A"/>
                </a:solidFill>
                <a:latin typeface="Arial"/>
              </a:rPr>
              <a:t>Por eso puedes tener decenas de skills instalados sin llenar la ventana de contexto.</a:t>
            </a:r>
          </a:p>
        </p:txBody>
      </p:sp>
      <p:sp>
        <p:nvSpPr>
          <p:cNvPr id="17" name="TextBox 16"/>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40 · Zhang, Lazuka y Murag (2025), Equipping agents for the real world with Agent Skills, Anthropic</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3 · EL HARNESS</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Anatomía de un SKILL.md: la descripción decide cuándo se activa</a:t>
            </a:r>
          </a:p>
        </p:txBody>
      </p:sp>
      <p:sp>
        <p:nvSpPr>
          <p:cNvPr id="4" name="Rounded Rectangle 3"/>
          <p:cNvSpPr/>
          <p:nvPr/>
        </p:nvSpPr>
        <p:spPr>
          <a:xfrm>
            <a:off x="1600200" y="3886200"/>
            <a:ext cx="9326880" cy="4389120"/>
          </a:xfrm>
          <a:prstGeom prst="roundRect">
            <a:avLst>
              <a:gd name="adj" fmla="val 4000"/>
            </a:avLst>
          </a:prstGeom>
          <a:solidFill>
            <a:srgbClr val="0F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920240" y="4160520"/>
            <a:ext cx="8778240" cy="3931920"/>
          </a:xfrm>
          <a:prstGeom prst="rect">
            <a:avLst/>
          </a:prstGeom>
          <a:noFill/>
        </p:spPr>
        <p:txBody>
          <a:bodyPr wrap="square" lIns="0" rIns="0" tIns="0" bIns="0" anchor="t">
            <a:spAutoFit/>
          </a:bodyPr>
          <a:lstStyle/>
          <a:p>
            <a:pPr algn="l">
              <a:lnSpc>
                <a:spcPct val="105000"/>
              </a:lnSpc>
            </a:pPr>
            <a:r>
              <a:rPr sz="1500" b="0">
                <a:solidFill>
                  <a:srgbClr val="8A96A8"/>
                </a:solidFill>
                <a:latin typeface="Courier New"/>
              </a:rPr>
              <a:t>---</a:t>
            </a:r>
          </a:p>
          <a:p>
            <a:pPr algn="l">
              <a:lnSpc>
                <a:spcPct val="105000"/>
              </a:lnSpc>
            </a:pPr>
            <a:r>
              <a:rPr sz="1500" b="0">
                <a:solidFill>
                  <a:srgbClr val="F2A541"/>
                </a:solidFill>
                <a:latin typeface="Courier New"/>
              </a:rPr>
              <a:t>name:</a:t>
            </a:r>
            <a:r>
              <a:rPr sz="1500" b="0">
                <a:solidFill>
                  <a:srgbClr val="DFE6EE"/>
                </a:solidFill>
                <a:latin typeface="Courier New"/>
              </a:rPr>
              <a:t> revisar-figura</a:t>
            </a:r>
          </a:p>
          <a:p>
            <a:pPr algn="l">
              <a:lnSpc>
                <a:spcPct val="105000"/>
              </a:lnSpc>
            </a:pPr>
            <a:r>
              <a:rPr sz="1500" b="0">
                <a:solidFill>
                  <a:srgbClr val="F2A541"/>
                </a:solidFill>
                <a:latin typeface="Courier New"/>
              </a:rPr>
              <a:t>description:</a:t>
            </a:r>
            <a:r>
              <a:rPr sz="1500" b="0">
                <a:solidFill>
                  <a:srgbClr val="DFE6EE"/>
                </a:solidFill>
                <a:latin typeface="Courier New"/>
              </a:rPr>
              <a:t> Revisa una figura científica (ejes, unidades,</a:t>
            </a:r>
          </a:p>
          <a:p>
            <a:pPr algn="l">
              <a:lnSpc>
                <a:spcPct val="105000"/>
              </a:lnSpc>
            </a:pPr>
            <a:r>
              <a:rPr sz="1500" b="0">
                <a:solidFill>
                  <a:srgbClr val="DFE6EE"/>
                </a:solidFill>
                <a:latin typeface="Courier New"/>
              </a:rPr>
              <a:t>  color, leyenda) antes de enviarla. Úsalo cuando el usuario</a:t>
            </a:r>
          </a:p>
          <a:p>
            <a:pPr algn="l">
              <a:lnSpc>
                <a:spcPct val="105000"/>
              </a:lnSpc>
            </a:pPr>
            <a:r>
              <a:rPr sz="1500" b="0">
                <a:solidFill>
                  <a:srgbClr val="DFE6EE"/>
                </a:solidFill>
                <a:latin typeface="Courier New"/>
              </a:rPr>
              <a:t>  pida revisar o mejorar una figura.</a:t>
            </a:r>
          </a:p>
          <a:p>
            <a:pPr algn="l">
              <a:lnSpc>
                <a:spcPct val="105000"/>
              </a:lnSpc>
            </a:pPr>
            <a:r>
              <a:rPr sz="1500" b="0">
                <a:solidFill>
                  <a:srgbClr val="8A96A8"/>
                </a:solidFill>
                <a:latin typeface="Courier New"/>
              </a:rPr>
              <a:t>---</a:t>
            </a:r>
          </a:p>
          <a:p>
            <a:pPr algn="l">
              <a:lnSpc>
                <a:spcPct val="105000"/>
              </a:lnSpc>
            </a:pPr>
            <a:r>
              <a:rPr sz="1500" b="0">
                <a:solidFill>
                  <a:srgbClr val="F2A541"/>
                </a:solidFill>
                <a:latin typeface="Courier New"/>
              </a:rPr>
              <a:t># Revisar figura</a:t>
            </a:r>
          </a:p>
          <a:p>
            <a:pPr algn="l">
              <a:lnSpc>
                <a:spcPct val="105000"/>
              </a:lnSpc>
            </a:pPr>
            <a:r>
              <a:rPr sz="1500" b="0">
                <a:solidFill>
                  <a:srgbClr val="DFE6EE"/>
                </a:solidFill>
                <a:latin typeface="Courier New"/>
              </a:rPr>
              <a:t>1. Abre la imagen y el script que la generó.</a:t>
            </a:r>
          </a:p>
          <a:p>
            <a:pPr algn="l">
              <a:lnSpc>
                <a:spcPct val="105000"/>
              </a:lnSpc>
            </a:pPr>
            <a:r>
              <a:rPr sz="1500" b="0">
                <a:solidFill>
                  <a:srgbClr val="DFE6EE"/>
                </a:solidFill>
                <a:latin typeface="Courier New"/>
              </a:rPr>
              <a:t>2. Recorre checklist.md: unidades en los ejes, legible en gris…</a:t>
            </a:r>
          </a:p>
          <a:p>
            <a:pPr algn="l">
              <a:lnSpc>
                <a:spcPct val="105000"/>
              </a:lnSpc>
            </a:pPr>
            <a:r>
              <a:rPr sz="1500" b="0">
                <a:solidFill>
                  <a:srgbClr val="DFE6EE"/>
                </a:solidFill>
                <a:latin typeface="Courier New"/>
              </a:rPr>
              <a:t>3. Corre scripts/contraste.py para el contraste de color.</a:t>
            </a:r>
          </a:p>
          <a:p>
            <a:pPr algn="l">
              <a:lnSpc>
                <a:spcPct val="105000"/>
              </a:lnSpc>
            </a:pPr>
            <a:r>
              <a:rPr sz="1500" b="0">
                <a:solidFill>
                  <a:srgbClr val="DFE6EE"/>
                </a:solidFill>
                <a:latin typeface="Courier New"/>
              </a:rPr>
              <a:t>4. Entrega los problemas, del más grave al menos grave.</a:t>
            </a:r>
          </a:p>
        </p:txBody>
      </p:sp>
      <p:sp>
        <p:nvSpPr>
          <p:cNvPr id="6" name="Rounded Rectangle 5"/>
          <p:cNvSpPr/>
          <p:nvPr/>
        </p:nvSpPr>
        <p:spPr>
          <a:xfrm>
            <a:off x="11247119" y="3886200"/>
            <a:ext cx="5440680" cy="43891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521440" y="4160520"/>
            <a:ext cx="4892040" cy="3931920"/>
          </a:xfrm>
          <a:prstGeom prst="rect">
            <a:avLst/>
          </a:prstGeom>
          <a:noFill/>
        </p:spPr>
        <p:txBody>
          <a:bodyPr wrap="square" lIns="0" rIns="0" tIns="0" bIns="0" anchor="t">
            <a:spAutoFit/>
          </a:bodyPr>
          <a:lstStyle/>
          <a:p>
            <a:pPr algn="l">
              <a:spcAft>
                <a:spcPts val="600"/>
              </a:spcAft>
            </a:pPr>
            <a:r>
              <a:rPr sz="2100" b="1">
                <a:solidFill>
                  <a:srgbClr val="A8600A"/>
                </a:solidFill>
                <a:latin typeface="Arial"/>
              </a:rPr>
              <a:t>name</a:t>
            </a:r>
          </a:p>
          <a:p>
            <a:pPr algn="l">
              <a:spcAft>
                <a:spcPts val="600"/>
              </a:spcAft>
            </a:pPr>
            <a:r>
              <a:rPr sz="1800" b="0">
                <a:solidFill>
                  <a:srgbClr val="4A4F57"/>
                </a:solidFill>
                <a:latin typeface="Arial"/>
              </a:rPr>
              <a:t>el identificador del skill</a:t>
            </a:r>
          </a:p>
          <a:p>
            <a:pPr algn="l">
              <a:spcAft>
                <a:spcPts val="600"/>
              </a:spcAft>
            </a:pPr>
            <a:r>
              <a:rPr sz="2100" b="1">
                <a:solidFill>
                  <a:srgbClr val="A8600A"/>
                </a:solidFill>
                <a:latin typeface="Arial"/>
              </a:rPr>
              <a:t>description</a:t>
            </a:r>
          </a:p>
          <a:p>
            <a:pPr algn="l">
              <a:spcAft>
                <a:spcPts val="600"/>
              </a:spcAft>
            </a:pPr>
            <a:r>
              <a:rPr sz="1800" b="0">
                <a:solidFill>
                  <a:srgbClr val="4A4F57"/>
                </a:solidFill>
                <a:latin typeface="Arial"/>
              </a:rPr>
              <a:t>lo único que el agente ve al principio: si es vaga, nunca se activa</a:t>
            </a:r>
          </a:p>
          <a:p>
            <a:pPr algn="l">
              <a:spcAft>
                <a:spcPts val="600"/>
              </a:spcAft>
            </a:pPr>
            <a:r>
              <a:rPr sz="2100" b="1">
                <a:solidFill>
                  <a:srgbClr val="A8600A"/>
                </a:solidFill>
                <a:latin typeface="Arial"/>
              </a:rPr>
              <a:t>cuerpo</a:t>
            </a:r>
          </a:p>
          <a:p>
            <a:pPr algn="l">
              <a:spcAft>
                <a:spcPts val="600"/>
              </a:spcAft>
            </a:pPr>
            <a:r>
              <a:rPr sz="1800" b="0">
                <a:solidFill>
                  <a:srgbClr val="4A4F57"/>
                </a:solidFill>
                <a:latin typeface="Arial"/>
              </a:rPr>
              <a:t>los pasos, como se los explicarías a un estudiante</a:t>
            </a:r>
          </a:p>
        </p:txBody>
      </p:sp>
      <p:sp>
        <p:nvSpPr>
          <p:cNvPr id="8" name="TextBox 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41 · Zhang, Lazuka y Murag (2025), Anthropic</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3 · EL HARNESS</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Crear un skill: de una tarea repetida a una instrucción reutilizable</a:t>
            </a:r>
          </a:p>
        </p:txBody>
      </p:sp>
      <p:sp>
        <p:nvSpPr>
          <p:cNvPr id="4" name="Rounded Rectangle 3"/>
          <p:cNvSpPr/>
          <p:nvPr/>
        </p:nvSpPr>
        <p:spPr>
          <a:xfrm>
            <a:off x="1600200" y="3886200"/>
            <a:ext cx="2798064"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069080"/>
            <a:ext cx="2249424" cy="731520"/>
          </a:xfrm>
          <a:prstGeom prst="rect">
            <a:avLst/>
          </a:prstGeom>
          <a:noFill/>
        </p:spPr>
        <p:txBody>
          <a:bodyPr wrap="square" lIns="0" rIns="0" tIns="0" bIns="0" anchor="t">
            <a:spAutoFit/>
          </a:bodyPr>
          <a:lstStyle/>
          <a:p>
            <a:pPr algn="l"/>
            <a:r>
              <a:rPr sz="4400" b="1">
                <a:solidFill>
                  <a:srgbClr val="A8600A"/>
                </a:solidFill>
                <a:latin typeface="Arial"/>
              </a:rPr>
              <a:t>1</a:t>
            </a:r>
          </a:p>
        </p:txBody>
      </p:sp>
      <p:sp>
        <p:nvSpPr>
          <p:cNvPr id="6" name="TextBox 5"/>
          <p:cNvSpPr txBox="1"/>
          <p:nvPr/>
        </p:nvSpPr>
        <p:spPr>
          <a:xfrm>
            <a:off x="1874519" y="4800600"/>
            <a:ext cx="2249424" cy="1371600"/>
          </a:xfrm>
          <a:prstGeom prst="rect">
            <a:avLst/>
          </a:prstGeom>
          <a:noFill/>
        </p:spPr>
        <p:txBody>
          <a:bodyPr wrap="square" lIns="0" rIns="0" tIns="0" bIns="0" anchor="t">
            <a:spAutoFit/>
          </a:bodyPr>
          <a:lstStyle/>
          <a:p>
            <a:pPr algn="l"/>
            <a:r>
              <a:rPr sz="2100" b="0">
                <a:solidFill>
                  <a:srgbClr val="073763"/>
                </a:solidFill>
                <a:latin typeface="Arial"/>
              </a:rPr>
              <a:t>Elige algo que ya hiciste tres veces</a:t>
            </a:r>
          </a:p>
        </p:txBody>
      </p:sp>
      <p:sp>
        <p:nvSpPr>
          <p:cNvPr id="7" name="Rounded Rectangle 6"/>
          <p:cNvSpPr/>
          <p:nvPr/>
        </p:nvSpPr>
        <p:spPr>
          <a:xfrm>
            <a:off x="4672583" y="3886200"/>
            <a:ext cx="2798064"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46903" y="4069080"/>
            <a:ext cx="2249424" cy="731520"/>
          </a:xfrm>
          <a:prstGeom prst="rect">
            <a:avLst/>
          </a:prstGeom>
          <a:noFill/>
        </p:spPr>
        <p:txBody>
          <a:bodyPr wrap="square" lIns="0" rIns="0" tIns="0" bIns="0" anchor="t">
            <a:spAutoFit/>
          </a:bodyPr>
          <a:lstStyle/>
          <a:p>
            <a:pPr algn="l"/>
            <a:r>
              <a:rPr sz="4400" b="1">
                <a:solidFill>
                  <a:srgbClr val="A8600A"/>
                </a:solidFill>
                <a:latin typeface="Arial"/>
              </a:rPr>
              <a:t>2</a:t>
            </a:r>
          </a:p>
        </p:txBody>
      </p:sp>
      <p:sp>
        <p:nvSpPr>
          <p:cNvPr id="9" name="TextBox 8"/>
          <p:cNvSpPr txBox="1"/>
          <p:nvPr/>
        </p:nvSpPr>
        <p:spPr>
          <a:xfrm>
            <a:off x="4946903" y="4800600"/>
            <a:ext cx="2249424" cy="1371600"/>
          </a:xfrm>
          <a:prstGeom prst="rect">
            <a:avLst/>
          </a:prstGeom>
          <a:noFill/>
        </p:spPr>
        <p:txBody>
          <a:bodyPr wrap="square" lIns="0" rIns="0" tIns="0" bIns="0" anchor="t">
            <a:spAutoFit/>
          </a:bodyPr>
          <a:lstStyle/>
          <a:p>
            <a:pPr algn="l"/>
            <a:r>
              <a:rPr sz="2100" b="0">
                <a:solidFill>
                  <a:srgbClr val="073763"/>
                </a:solidFill>
                <a:latin typeface="Arial"/>
              </a:rPr>
              <a:t>Escribe los pasos y los errores típicos</a:t>
            </a:r>
          </a:p>
        </p:txBody>
      </p:sp>
      <p:sp>
        <p:nvSpPr>
          <p:cNvPr id="10" name="Rounded Rectangle 9"/>
          <p:cNvSpPr/>
          <p:nvPr/>
        </p:nvSpPr>
        <p:spPr>
          <a:xfrm>
            <a:off x="7744967" y="3886200"/>
            <a:ext cx="2798064"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19288" y="4069080"/>
            <a:ext cx="2249424" cy="731520"/>
          </a:xfrm>
          <a:prstGeom prst="rect">
            <a:avLst/>
          </a:prstGeom>
          <a:noFill/>
        </p:spPr>
        <p:txBody>
          <a:bodyPr wrap="square" lIns="0" rIns="0" tIns="0" bIns="0" anchor="t">
            <a:spAutoFit/>
          </a:bodyPr>
          <a:lstStyle/>
          <a:p>
            <a:pPr algn="l"/>
            <a:r>
              <a:rPr sz="4400" b="1">
                <a:solidFill>
                  <a:srgbClr val="A8600A"/>
                </a:solidFill>
                <a:latin typeface="Arial"/>
              </a:rPr>
              <a:t>3</a:t>
            </a:r>
          </a:p>
        </p:txBody>
      </p:sp>
      <p:sp>
        <p:nvSpPr>
          <p:cNvPr id="12" name="TextBox 11"/>
          <p:cNvSpPr txBox="1"/>
          <p:nvPr/>
        </p:nvSpPr>
        <p:spPr>
          <a:xfrm>
            <a:off x="8019288" y="4800600"/>
            <a:ext cx="2249424" cy="1371600"/>
          </a:xfrm>
          <a:prstGeom prst="rect">
            <a:avLst/>
          </a:prstGeom>
          <a:noFill/>
        </p:spPr>
        <p:txBody>
          <a:bodyPr wrap="square" lIns="0" rIns="0" tIns="0" bIns="0" anchor="t">
            <a:spAutoFit/>
          </a:bodyPr>
          <a:lstStyle/>
          <a:p>
            <a:pPr algn="l"/>
            <a:r>
              <a:rPr sz="2100" b="0">
                <a:solidFill>
                  <a:srgbClr val="073763"/>
                </a:solidFill>
                <a:latin typeface="Arial"/>
              </a:rPr>
              <a:t>Describe cuándo usarlo: eso lo activa</a:t>
            </a:r>
          </a:p>
        </p:txBody>
      </p:sp>
      <p:sp>
        <p:nvSpPr>
          <p:cNvPr id="13" name="Rounded Rectangle 12"/>
          <p:cNvSpPr/>
          <p:nvPr/>
        </p:nvSpPr>
        <p:spPr>
          <a:xfrm>
            <a:off x="10817352" y="3886200"/>
            <a:ext cx="2798064"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091672" y="4069080"/>
            <a:ext cx="2249424" cy="731520"/>
          </a:xfrm>
          <a:prstGeom prst="rect">
            <a:avLst/>
          </a:prstGeom>
          <a:noFill/>
        </p:spPr>
        <p:txBody>
          <a:bodyPr wrap="square" lIns="0" rIns="0" tIns="0" bIns="0" anchor="t">
            <a:spAutoFit/>
          </a:bodyPr>
          <a:lstStyle/>
          <a:p>
            <a:pPr algn="l"/>
            <a:r>
              <a:rPr sz="4400" b="1">
                <a:solidFill>
                  <a:srgbClr val="A8600A"/>
                </a:solidFill>
                <a:latin typeface="Arial"/>
              </a:rPr>
              <a:t>4</a:t>
            </a:r>
          </a:p>
        </p:txBody>
      </p:sp>
      <p:sp>
        <p:nvSpPr>
          <p:cNvPr id="15" name="TextBox 14"/>
          <p:cNvSpPr txBox="1"/>
          <p:nvPr/>
        </p:nvSpPr>
        <p:spPr>
          <a:xfrm>
            <a:off x="11091672" y="4800600"/>
            <a:ext cx="2249424" cy="1371600"/>
          </a:xfrm>
          <a:prstGeom prst="rect">
            <a:avLst/>
          </a:prstGeom>
          <a:noFill/>
        </p:spPr>
        <p:txBody>
          <a:bodyPr wrap="square" lIns="0" rIns="0" tIns="0" bIns="0" anchor="t">
            <a:spAutoFit/>
          </a:bodyPr>
          <a:lstStyle/>
          <a:p>
            <a:pPr algn="l"/>
            <a:r>
              <a:rPr sz="2100" b="0">
                <a:solidFill>
                  <a:srgbClr val="073763"/>
                </a:solidFill>
                <a:latin typeface="Arial"/>
              </a:rPr>
              <a:t>Pasa lo mecánico a un script</a:t>
            </a:r>
          </a:p>
        </p:txBody>
      </p:sp>
      <p:sp>
        <p:nvSpPr>
          <p:cNvPr id="16" name="Rounded Rectangle 15"/>
          <p:cNvSpPr/>
          <p:nvPr/>
        </p:nvSpPr>
        <p:spPr>
          <a:xfrm>
            <a:off x="13889736" y="3886200"/>
            <a:ext cx="2798064" cy="23774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164056" y="4069080"/>
            <a:ext cx="2249424" cy="731520"/>
          </a:xfrm>
          <a:prstGeom prst="rect">
            <a:avLst/>
          </a:prstGeom>
          <a:noFill/>
        </p:spPr>
        <p:txBody>
          <a:bodyPr wrap="square" lIns="0" rIns="0" tIns="0" bIns="0" anchor="t">
            <a:spAutoFit/>
          </a:bodyPr>
          <a:lstStyle/>
          <a:p>
            <a:pPr algn="l"/>
            <a:r>
              <a:rPr sz="4400" b="1">
                <a:solidFill>
                  <a:srgbClr val="A8600A"/>
                </a:solidFill>
                <a:latin typeface="Arial"/>
              </a:rPr>
              <a:t>5</a:t>
            </a:r>
          </a:p>
        </p:txBody>
      </p:sp>
      <p:sp>
        <p:nvSpPr>
          <p:cNvPr id="18" name="TextBox 17"/>
          <p:cNvSpPr txBox="1"/>
          <p:nvPr/>
        </p:nvSpPr>
        <p:spPr>
          <a:xfrm>
            <a:off x="14164056" y="4800600"/>
            <a:ext cx="2249424" cy="1371600"/>
          </a:xfrm>
          <a:prstGeom prst="rect">
            <a:avLst/>
          </a:prstGeom>
          <a:noFill/>
        </p:spPr>
        <p:txBody>
          <a:bodyPr wrap="square" lIns="0" rIns="0" tIns="0" bIns="0" anchor="t">
            <a:spAutoFit/>
          </a:bodyPr>
          <a:lstStyle/>
          <a:p>
            <a:pPr algn="l"/>
            <a:r>
              <a:rPr sz="2100" b="0">
                <a:solidFill>
                  <a:srgbClr val="073763"/>
                </a:solidFill>
                <a:latin typeface="Arial"/>
              </a:rPr>
              <a:t>Pruébalo en tres casos reales e itera</a:t>
            </a:r>
          </a:p>
        </p:txBody>
      </p:sp>
      <p:sp>
        <p:nvSpPr>
          <p:cNvPr id="19" name="Rounded Rectangle 18"/>
          <p:cNvSpPr/>
          <p:nvPr/>
        </p:nvSpPr>
        <p:spPr>
          <a:xfrm>
            <a:off x="1600200" y="6537960"/>
            <a:ext cx="12710160" cy="731520"/>
          </a:xfrm>
          <a:prstGeom prst="roundRect">
            <a:avLst>
              <a:gd name="adj" fmla="val 12000"/>
            </a:avLst>
          </a:prstGeom>
          <a:solidFill>
            <a:srgbClr val="0F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920240" y="6537960"/>
            <a:ext cx="12161520" cy="731520"/>
          </a:xfrm>
          <a:prstGeom prst="rect">
            <a:avLst/>
          </a:prstGeom>
          <a:noFill/>
        </p:spPr>
        <p:txBody>
          <a:bodyPr wrap="square" lIns="0" rIns="0" tIns="0" bIns="0" anchor="ctr">
            <a:spAutoFit/>
          </a:bodyPr>
          <a:lstStyle/>
          <a:p>
            <a:pPr algn="l"/>
            <a:r>
              <a:rPr sz="1800" b="0">
                <a:solidFill>
                  <a:srgbClr val="DFE6EE"/>
                </a:solidFill>
                <a:latin typeface="Courier New"/>
              </a:rPr>
              <a:t>Demo · «Crea un skill revisar-figura con estos pasos y pruébalo con esta figura»</a:t>
            </a:r>
          </a:p>
        </p:txBody>
      </p:sp>
      <p:sp>
        <p:nvSpPr>
          <p:cNvPr id="21" name="TextBox 20"/>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42 · Buenas prácticas: Zhang, Lazuka y Murag (2025), Anthropic</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3 · EL HARNESS</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No empieces de cero: ya hay skills para investigar</a:t>
            </a:r>
          </a:p>
        </p:txBody>
      </p:sp>
      <p:sp>
        <p:nvSpPr>
          <p:cNvPr id="4" name="Rounded Rectangle 3"/>
          <p:cNvSpPr/>
          <p:nvPr/>
        </p:nvSpPr>
        <p:spPr>
          <a:xfrm>
            <a:off x="160020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Revisar papers</a:t>
            </a:r>
          </a:p>
          <a:p>
            <a:pPr algn="l">
              <a:spcAft>
                <a:spcPts val="800"/>
              </a:spcAft>
            </a:pPr>
            <a:r>
              <a:rPr sz="2000" b="0">
                <a:solidFill>
                  <a:srgbClr val="4A4F57"/>
                </a:solidFill>
                <a:latin typeface="Arial"/>
              </a:rPr>
              <a:t>/review-paper de Bäckman: varios agentes revisores escriben un reporte de árbitro en 10 a 15 minutos (licencia MIT)</a:t>
            </a:r>
          </a:p>
        </p:txBody>
      </p:sp>
      <p:sp>
        <p:nvSpPr>
          <p:cNvPr id="6" name="Rounded Rectangle 5"/>
          <p:cNvSpPr/>
          <p:nvPr/>
        </p:nvSpPr>
        <p:spPr>
          <a:xfrm>
            <a:off x="673608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10399"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Ciencias de la vida</a:t>
            </a:r>
          </a:p>
          <a:p>
            <a:pPr algn="l">
              <a:spcAft>
                <a:spcPts val="800"/>
              </a:spcAft>
            </a:pPr>
            <a:r>
              <a:rPr sz="2000" b="0">
                <a:solidFill>
                  <a:srgbClr val="4A4F57"/>
                </a:solidFill>
                <a:latin typeface="Arial"/>
              </a:rPr>
              <a:t>claude-scientific-skills de K-Dense: conecta al agente con bases como PubMed, ChEMBL y UniProt</a:t>
            </a:r>
          </a:p>
        </p:txBody>
      </p:sp>
      <p:sp>
        <p:nvSpPr>
          <p:cNvPr id="8" name="Rounded Rectangle 7"/>
          <p:cNvSpPr/>
          <p:nvPr/>
        </p:nvSpPr>
        <p:spPr>
          <a:xfrm>
            <a:off x="11871960" y="3886200"/>
            <a:ext cx="4815840" cy="29260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146280" y="4114800"/>
            <a:ext cx="4267200" cy="256032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Experimentos</a:t>
            </a:r>
          </a:p>
          <a:p>
            <a:pPr algn="l">
              <a:spcAft>
                <a:spcPts val="800"/>
              </a:spcAft>
            </a:pPr>
            <a:r>
              <a:rPr sz="2000" b="0">
                <a:solidFill>
                  <a:srgbClr val="4A4F57"/>
                </a:solidFill>
                <a:latin typeface="Arial"/>
              </a:rPr>
              <a:t>autoresearch empaquetado como skill: el ciclo de proponer, correr y evaluar para cualquier métrica</a:t>
            </a:r>
          </a:p>
        </p:txBody>
      </p:sp>
      <p:sp>
        <p:nvSpPr>
          <p:cNvPr id="10" name="Rounded Rectangle 9"/>
          <p:cNvSpPr/>
          <p:nvPr/>
        </p:nvSpPr>
        <p:spPr>
          <a:xfrm>
            <a:off x="1600200" y="7178040"/>
            <a:ext cx="11887200" cy="868680"/>
          </a:xfrm>
          <a:prstGeom prst="roundRect">
            <a:avLst>
              <a:gd name="adj" fmla="val 10000"/>
            </a:avLst>
          </a:prstGeom>
          <a:solidFill>
            <a:srgbClr val="FB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874519" y="7178040"/>
            <a:ext cx="11338560" cy="868680"/>
          </a:xfrm>
          <a:prstGeom prst="rect">
            <a:avLst/>
          </a:prstGeom>
          <a:noFill/>
        </p:spPr>
        <p:txBody>
          <a:bodyPr wrap="square" lIns="0" rIns="0" tIns="0" bIns="0" anchor="ctr">
            <a:spAutoFit/>
          </a:bodyPr>
          <a:lstStyle/>
          <a:p>
            <a:pPr algn="l"/>
            <a:r>
              <a:rPr sz="1800" b="0">
                <a:solidFill>
                  <a:srgbClr val="8A3B26"/>
                </a:solidFill>
                <a:latin typeface="Arial"/>
              </a:rPr>
              <a:t>Instala solo de fuentes confiables y léelos antes: un skill puede ordenarle al agente acciones que no quieres.</a:t>
            </a:r>
          </a:p>
        </p:txBody>
      </p:sp>
      <p:sp>
        <p:nvSpPr>
          <p:cNvPr id="12" name="TextBox 11"/>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43 · github.com/claesbackman/AI-research-feedback · github.com/WecoAI/awesome-autoresearch</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3 · EL HARNESS</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TÚ, EN REGLAS Y CHECKS</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La última pieza, la evaluación: harness engineering es diseñar el juez</a:t>
            </a:r>
          </a:p>
        </p:txBody>
      </p:sp>
      <p:sp>
        <p:nvSpPr>
          <p:cNvPr id="5" name="Rounded Rectangle 4"/>
          <p:cNvSpPr/>
          <p:nvPr/>
        </p:nvSpPr>
        <p:spPr>
          <a:xfrm>
            <a:off x="1600200" y="3886200"/>
            <a:ext cx="7383779"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874519" y="4114800"/>
            <a:ext cx="6835140" cy="1051560"/>
          </a:xfrm>
          <a:prstGeom prst="rect">
            <a:avLst/>
          </a:prstGeom>
          <a:noFill/>
        </p:spPr>
        <p:txBody>
          <a:bodyPr wrap="square" lIns="0" rIns="0" tIns="0" bIns="0" anchor="t">
            <a:spAutoFit/>
          </a:bodyPr>
          <a:lstStyle/>
          <a:p>
            <a:pPr algn="l">
              <a:spcAft>
                <a:spcPts val="800"/>
              </a:spcAft>
            </a:pPr>
            <a:r>
              <a:rPr sz="2200" b="1">
                <a:solidFill>
                  <a:srgbClr val="073763"/>
                </a:solidFill>
                <a:latin typeface="Arial"/>
              </a:rPr>
              <a:t>Un mapa, no un manual</a:t>
            </a:r>
          </a:p>
          <a:p>
            <a:pPr algn="l">
              <a:spcAft>
                <a:spcPts val="800"/>
              </a:spcAft>
            </a:pPr>
            <a:r>
              <a:rPr sz="1800" b="0">
                <a:solidFill>
                  <a:srgbClr val="4A4F57"/>
                </a:solidFill>
                <a:latin typeface="Arial"/>
              </a:rPr>
              <a:t>Un CLAUDE.md o AGENTS.md corto que apunta a lo demás</a:t>
            </a:r>
          </a:p>
        </p:txBody>
      </p:sp>
      <p:sp>
        <p:nvSpPr>
          <p:cNvPr id="7" name="Rounded Rectangle 6"/>
          <p:cNvSpPr/>
          <p:nvPr/>
        </p:nvSpPr>
        <p:spPr>
          <a:xfrm>
            <a:off x="9304019" y="3886200"/>
            <a:ext cx="7383779"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578340" y="4114800"/>
            <a:ext cx="6835140" cy="1051560"/>
          </a:xfrm>
          <a:prstGeom prst="rect">
            <a:avLst/>
          </a:prstGeom>
          <a:noFill/>
        </p:spPr>
        <p:txBody>
          <a:bodyPr wrap="square" lIns="0" rIns="0" tIns="0" bIns="0" anchor="t">
            <a:spAutoFit/>
          </a:bodyPr>
          <a:lstStyle/>
          <a:p>
            <a:pPr algn="l">
              <a:spcAft>
                <a:spcPts val="800"/>
              </a:spcAft>
            </a:pPr>
            <a:r>
              <a:rPr sz="2200" b="1">
                <a:solidFill>
                  <a:srgbClr val="073763"/>
                </a:solidFill>
                <a:latin typeface="Arial"/>
              </a:rPr>
              <a:t>Restricciones mecánicas</a:t>
            </a:r>
          </a:p>
          <a:p>
            <a:pPr algn="l">
              <a:spcAft>
                <a:spcPts val="800"/>
              </a:spcAft>
            </a:pPr>
            <a:r>
              <a:rPr sz="1800" b="0">
                <a:solidFill>
                  <a:srgbClr val="4A4F57"/>
                </a:solidFill>
                <a:latin typeface="Arial"/>
              </a:rPr>
              <a:t>Tests y linters que el agente no puede saltarse</a:t>
            </a:r>
          </a:p>
        </p:txBody>
      </p:sp>
      <p:sp>
        <p:nvSpPr>
          <p:cNvPr id="9" name="Rounded Rectangle 8"/>
          <p:cNvSpPr/>
          <p:nvPr/>
        </p:nvSpPr>
        <p:spPr>
          <a:xfrm>
            <a:off x="1600200" y="5532120"/>
            <a:ext cx="7383779"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874519" y="5760720"/>
            <a:ext cx="6835140" cy="1051560"/>
          </a:xfrm>
          <a:prstGeom prst="rect">
            <a:avLst/>
          </a:prstGeom>
          <a:noFill/>
        </p:spPr>
        <p:txBody>
          <a:bodyPr wrap="square" lIns="0" rIns="0" tIns="0" bIns="0" anchor="t">
            <a:spAutoFit/>
          </a:bodyPr>
          <a:lstStyle/>
          <a:p>
            <a:pPr algn="l">
              <a:spcAft>
                <a:spcPts val="800"/>
              </a:spcAft>
            </a:pPr>
            <a:r>
              <a:rPr sz="2200" b="1">
                <a:solidFill>
                  <a:srgbClr val="073763"/>
                </a:solidFill>
                <a:latin typeface="Arial"/>
              </a:rPr>
              <a:t>Evaluar el comportamiento</a:t>
            </a:r>
          </a:p>
          <a:p>
            <a:pPr algn="l">
              <a:spcAft>
                <a:spcPts val="800"/>
              </a:spcAft>
            </a:pPr>
            <a:r>
              <a:rPr sz="1800" b="0">
                <a:solidFill>
                  <a:srgbClr val="4A4F57"/>
                </a:solidFill>
                <a:latin typeface="Arial"/>
              </a:rPr>
              <a:t>¿Corrió el validador? ¿Preguntó antes de asumir?</a:t>
            </a:r>
          </a:p>
        </p:txBody>
      </p:sp>
      <p:sp>
        <p:nvSpPr>
          <p:cNvPr id="11" name="Rounded Rectangle 10"/>
          <p:cNvSpPr/>
          <p:nvPr/>
        </p:nvSpPr>
        <p:spPr>
          <a:xfrm>
            <a:off x="9304019" y="5532120"/>
            <a:ext cx="7383779"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78340" y="5760720"/>
            <a:ext cx="6835140" cy="1051560"/>
          </a:xfrm>
          <a:prstGeom prst="rect">
            <a:avLst/>
          </a:prstGeom>
          <a:noFill/>
        </p:spPr>
        <p:txBody>
          <a:bodyPr wrap="square" lIns="0" rIns="0" tIns="0" bIns="0" anchor="t">
            <a:spAutoFit/>
          </a:bodyPr>
          <a:lstStyle/>
          <a:p>
            <a:pPr algn="l">
              <a:spcAft>
                <a:spcPts val="800"/>
              </a:spcAft>
            </a:pPr>
            <a:r>
              <a:rPr sz="2200" b="1">
                <a:solidFill>
                  <a:srgbClr val="073763"/>
                </a:solidFill>
                <a:latin typeface="Arial"/>
              </a:rPr>
              <a:t>Un revisor independiente</a:t>
            </a:r>
          </a:p>
          <a:p>
            <a:pPr algn="l">
              <a:spcAft>
                <a:spcPts val="800"/>
              </a:spcAft>
            </a:pPr>
            <a:r>
              <a:rPr sz="1800" b="0">
                <a:solidFill>
                  <a:srgbClr val="4A4F57"/>
                </a:solidFill>
                <a:latin typeface="Arial"/>
              </a:rPr>
              <a:t>Otro agente, u otro modelo, ataca el resultado</a:t>
            </a:r>
          </a:p>
        </p:txBody>
      </p:sp>
      <p:sp>
        <p:nvSpPr>
          <p:cNvPr id="13" name="TextBox 12"/>
          <p:cNvSpPr txBox="1"/>
          <p:nvPr/>
        </p:nvSpPr>
        <p:spPr>
          <a:xfrm>
            <a:off x="1600200" y="7315200"/>
            <a:ext cx="11887200" cy="822960"/>
          </a:xfrm>
          <a:prstGeom prst="rect">
            <a:avLst/>
          </a:prstGeom>
          <a:noFill/>
        </p:spPr>
        <p:txBody>
          <a:bodyPr wrap="square" lIns="0" rIns="0" tIns="0" bIns="0" anchor="t">
            <a:spAutoFit/>
          </a:bodyPr>
          <a:lstStyle/>
          <a:p>
            <a:pPr algn="l"/>
            <a:r>
              <a:rPr sz="2200" b="1">
                <a:solidFill>
                  <a:srgbClr val="A8600A"/>
                </a:solidFill>
                <a:latin typeface="Arial"/>
              </a:rPr>
              <a:t>En autoresearch, el harness es el experimento: program.md + train.py + una métrica.</a:t>
            </a:r>
          </a:p>
        </p:txBody>
      </p:sp>
      <p:sp>
        <p:nvSpPr>
          <p:cNvPr id="14" name="TextBox 13"/>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44 · Lopopolo (2026), OpenAI · Mullen y Gunderman (2026), Google · Hadfield et al. (2025), Anthropic</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4 · IA QUE INVESTIGA</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TU MÉTRICA</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En autoresearch, tu métrica es el juez y el agente hace el resto</a:t>
            </a:r>
          </a:p>
        </p:txBody>
      </p:sp>
      <p:pic>
        <p:nvPicPr>
          <p:cNvPr id="5" name="Picture 4" descr="S16.png"/>
          <p:cNvPicPr>
            <a:picLocks noChangeAspect="1"/>
          </p:cNvPicPr>
          <p:nvPr/>
        </p:nvPicPr>
        <p:blipFill>
          <a:blip r:embed="rId3"/>
          <a:stretch>
            <a:fillRect/>
          </a:stretch>
        </p:blipFill>
        <p:spPr>
          <a:xfrm>
            <a:off x="1600200" y="3886200"/>
            <a:ext cx="11582400" cy="4343400"/>
          </a:xfrm>
          <a:prstGeom prst="rect">
            <a:avLst/>
          </a:prstGeom>
        </p:spPr>
      </p:pic>
      <p:sp>
        <p:nvSpPr>
          <p:cNvPr id="6" name="TextBox 5"/>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45 · github.com/karpathy/autoresearch</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4 · IA QUE INVESTIGA</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Tú escribes program.md; el agente escribe train.py</a:t>
            </a:r>
          </a:p>
        </p:txBody>
      </p:sp>
      <p:sp>
        <p:nvSpPr>
          <p:cNvPr id="4" name="Rounded Rectangle 3"/>
          <p:cNvSpPr/>
          <p:nvPr/>
        </p:nvSpPr>
        <p:spPr>
          <a:xfrm>
            <a:off x="1600200" y="3886200"/>
            <a:ext cx="9326880" cy="4389120"/>
          </a:xfrm>
          <a:prstGeom prst="roundRect">
            <a:avLst>
              <a:gd name="adj" fmla="val 4000"/>
            </a:avLst>
          </a:prstGeom>
          <a:solidFill>
            <a:srgbClr val="0F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920240" y="4160520"/>
            <a:ext cx="8778240" cy="3931920"/>
          </a:xfrm>
          <a:prstGeom prst="rect">
            <a:avLst/>
          </a:prstGeom>
          <a:noFill/>
        </p:spPr>
        <p:txBody>
          <a:bodyPr wrap="square" lIns="0" rIns="0" tIns="0" bIns="0" anchor="t">
            <a:spAutoFit/>
          </a:bodyPr>
          <a:lstStyle/>
          <a:p>
            <a:pPr algn="l">
              <a:lnSpc>
                <a:spcPct val="105000"/>
              </a:lnSpc>
            </a:pPr>
            <a:r>
              <a:rPr sz="1700" b="0">
                <a:solidFill>
                  <a:srgbClr val="F2A541"/>
                </a:solidFill>
                <a:latin typeface="Courier New"/>
              </a:rPr>
              <a:t># program.md (resumen)</a:t>
            </a:r>
          </a:p>
          <a:p>
            <a:pPr algn="l">
              <a:lnSpc>
                <a:spcPct val="105000"/>
              </a:lnSpc>
            </a:pPr>
            <a:r>
              <a:rPr sz="1700" b="0">
                <a:solidFill>
                  <a:srgbClr val="DFE6EE"/>
                </a:solidFill>
                <a:latin typeface="Courier New"/>
              </a:rPr>
              <a:t> </a:t>
            </a:r>
          </a:p>
          <a:p>
            <a:pPr algn="l">
              <a:lnSpc>
                <a:spcPct val="105000"/>
              </a:lnSpc>
            </a:pPr>
            <a:r>
              <a:rPr sz="1700" b="0">
                <a:solidFill>
                  <a:srgbClr val="DFE6EE"/>
                </a:solidFill>
                <a:latin typeface="Courier New"/>
              </a:rPr>
              <a:t>Meta: bajar val_bpb en el conjunto de validación.</a:t>
            </a:r>
          </a:p>
          <a:p>
            <a:pPr algn="l">
              <a:lnSpc>
                <a:spcPct val="105000"/>
              </a:lnSpc>
            </a:pPr>
            <a:r>
              <a:rPr sz="1700" b="0">
                <a:solidFill>
                  <a:srgbClr val="DFE6EE"/>
                </a:solidFill>
                <a:latin typeface="Courier New"/>
              </a:rPr>
              <a:t>Solo puedes editar train.py.</a:t>
            </a:r>
          </a:p>
          <a:p>
            <a:pPr algn="l">
              <a:lnSpc>
                <a:spcPct val="105000"/>
              </a:lnSpc>
            </a:pPr>
            <a:r>
              <a:rPr sz="1700" b="0">
                <a:solidFill>
                  <a:srgbClr val="DFE6EE"/>
                </a:solidFill>
                <a:latin typeface="Courier New"/>
              </a:rPr>
              <a:t>Cada experimento entrena 5 minutos, ni uno más.</a:t>
            </a:r>
          </a:p>
          <a:p>
            <a:pPr algn="l">
              <a:lnSpc>
                <a:spcPct val="105000"/>
              </a:lnSpc>
            </a:pPr>
            <a:r>
              <a:rPr sz="1700" b="0">
                <a:solidFill>
                  <a:srgbClr val="DFE6EE"/>
                </a:solidFill>
                <a:latin typeface="Courier New"/>
              </a:rPr>
              <a:t>Si mejora, haz commit. Si no, vuelve al commit anterior.</a:t>
            </a:r>
          </a:p>
          <a:p>
            <a:pPr algn="l">
              <a:lnSpc>
                <a:spcPct val="105000"/>
              </a:lnSpc>
            </a:pPr>
            <a:r>
              <a:rPr sz="1700" b="0">
                <a:solidFill>
                  <a:srgbClr val="DFE6EE"/>
                </a:solidFill>
                <a:latin typeface="Courier New"/>
              </a:rPr>
              <a:t>Anota cada intento en results.tsv.</a:t>
            </a:r>
          </a:p>
          <a:p>
            <a:pPr algn="l">
              <a:lnSpc>
                <a:spcPct val="105000"/>
              </a:lnSpc>
            </a:pPr>
            <a:r>
              <a:rPr sz="1700" b="0">
                <a:solidFill>
                  <a:srgbClr val="DFE6EE"/>
                </a:solidFill>
                <a:latin typeface="Courier New"/>
              </a:rPr>
              <a:t>No pares: sigue proponiendo hasta que te detengan.</a:t>
            </a:r>
          </a:p>
        </p:txBody>
      </p:sp>
      <p:sp>
        <p:nvSpPr>
          <p:cNvPr id="6" name="Rounded Rectangle 5"/>
          <p:cNvSpPr/>
          <p:nvPr/>
        </p:nvSpPr>
        <p:spPr>
          <a:xfrm>
            <a:off x="11247119" y="3886200"/>
            <a:ext cx="5440680" cy="43891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521440" y="4160520"/>
            <a:ext cx="4892040" cy="3931920"/>
          </a:xfrm>
          <a:prstGeom prst="rect">
            <a:avLst/>
          </a:prstGeom>
          <a:noFill/>
        </p:spPr>
        <p:txBody>
          <a:bodyPr wrap="square" lIns="0" rIns="0" tIns="0" bIns="0" anchor="t">
            <a:spAutoFit/>
          </a:bodyPr>
          <a:lstStyle/>
          <a:p>
            <a:pPr algn="l">
              <a:spcAft>
                <a:spcPts val="600"/>
              </a:spcAft>
            </a:pPr>
            <a:r>
              <a:rPr sz="2100" b="1">
                <a:solidFill>
                  <a:srgbClr val="A8600A"/>
                </a:solidFill>
                <a:latin typeface="Arial"/>
              </a:rPr>
              <a:t>La métrica</a:t>
            </a:r>
          </a:p>
          <a:p>
            <a:pPr algn="l">
              <a:spcAft>
                <a:spcPts val="600"/>
              </a:spcAft>
            </a:pPr>
            <a:r>
              <a:rPr sz="1800" b="0">
                <a:solidFill>
                  <a:srgbClr val="4A4F57"/>
                </a:solidFill>
                <a:latin typeface="Arial"/>
              </a:rPr>
              <a:t>es el juez: el agente no la puede cambiar</a:t>
            </a:r>
          </a:p>
          <a:p>
            <a:pPr algn="l">
              <a:spcAft>
                <a:spcPts val="600"/>
              </a:spcAft>
            </a:pPr>
            <a:r>
              <a:rPr sz="2100" b="1">
                <a:solidFill>
                  <a:srgbClr val="A8600A"/>
                </a:solidFill>
                <a:latin typeface="Arial"/>
              </a:rPr>
              <a:t>El tiempo fijo</a:t>
            </a:r>
          </a:p>
          <a:p>
            <a:pPr algn="l">
              <a:spcAft>
                <a:spcPts val="600"/>
              </a:spcAft>
            </a:pPr>
            <a:r>
              <a:rPr sz="1800" b="0">
                <a:solidFill>
                  <a:srgbClr val="4A4F57"/>
                </a:solidFill>
                <a:latin typeface="Arial"/>
              </a:rPr>
              <a:t>hace comparables todas las corridas</a:t>
            </a:r>
          </a:p>
          <a:p>
            <a:pPr algn="l">
              <a:spcAft>
                <a:spcPts val="600"/>
              </a:spcAft>
            </a:pPr>
            <a:r>
              <a:rPr sz="2100" b="1">
                <a:solidFill>
                  <a:srgbClr val="A8600A"/>
                </a:solidFill>
                <a:latin typeface="Arial"/>
              </a:rPr>
              <a:t>Git</a:t>
            </a:r>
          </a:p>
          <a:p>
            <a:pPr algn="l">
              <a:spcAft>
                <a:spcPts val="600"/>
              </a:spcAft>
            </a:pPr>
            <a:r>
              <a:rPr sz="1800" b="0">
                <a:solidFill>
                  <a:srgbClr val="4A4F57"/>
                </a:solidFill>
                <a:latin typeface="Arial"/>
              </a:rPr>
              <a:t>es la memoria: cada mejora queda guardada</a:t>
            </a:r>
          </a:p>
        </p:txBody>
      </p:sp>
      <p:sp>
        <p:nvSpPr>
          <p:cNvPr id="8" name="TextBox 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46 · github.com/karpathy/autoresearch · resumen propio, no el texto literal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4 · IA QUE INVESTIGA</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Co-Scientist: seis agentes que proponen, critican y ordenan hipótesis</a:t>
            </a:r>
          </a:p>
        </p:txBody>
      </p:sp>
      <p:sp>
        <p:nvSpPr>
          <p:cNvPr id="4" name="Rounded Rectangle 3"/>
          <p:cNvSpPr/>
          <p:nvPr/>
        </p:nvSpPr>
        <p:spPr>
          <a:xfrm>
            <a:off x="1600200" y="3886200"/>
            <a:ext cx="4815840"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114800"/>
            <a:ext cx="4267200" cy="1051560"/>
          </a:xfrm>
          <a:prstGeom prst="rect">
            <a:avLst/>
          </a:prstGeom>
          <a:noFill/>
        </p:spPr>
        <p:txBody>
          <a:bodyPr wrap="square" lIns="0" rIns="0" tIns="0" bIns="0" anchor="t">
            <a:spAutoFit/>
          </a:bodyPr>
          <a:lstStyle/>
          <a:p>
            <a:pPr algn="l">
              <a:spcAft>
                <a:spcPts val="800"/>
              </a:spcAft>
            </a:pPr>
            <a:r>
              <a:rPr sz="2200" b="1">
                <a:solidFill>
                  <a:srgbClr val="073763"/>
                </a:solidFill>
                <a:latin typeface="Arial"/>
              </a:rPr>
              <a:t>Generación</a:t>
            </a:r>
          </a:p>
          <a:p>
            <a:pPr algn="l">
              <a:spcAft>
                <a:spcPts val="800"/>
              </a:spcAft>
            </a:pPr>
            <a:r>
              <a:rPr sz="1800" b="0">
                <a:solidFill>
                  <a:srgbClr val="4A4F57"/>
                </a:solidFill>
                <a:latin typeface="Arial"/>
              </a:rPr>
              <a:t>Propone hipótesis a partir de la literatura</a:t>
            </a:r>
          </a:p>
        </p:txBody>
      </p:sp>
      <p:sp>
        <p:nvSpPr>
          <p:cNvPr id="6" name="Rounded Rectangle 5"/>
          <p:cNvSpPr/>
          <p:nvPr/>
        </p:nvSpPr>
        <p:spPr>
          <a:xfrm>
            <a:off x="6736080" y="3886200"/>
            <a:ext cx="4815840"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10399" y="4114800"/>
            <a:ext cx="4267200" cy="1051560"/>
          </a:xfrm>
          <a:prstGeom prst="rect">
            <a:avLst/>
          </a:prstGeom>
          <a:noFill/>
        </p:spPr>
        <p:txBody>
          <a:bodyPr wrap="square" lIns="0" rIns="0" tIns="0" bIns="0" anchor="t">
            <a:spAutoFit/>
          </a:bodyPr>
          <a:lstStyle/>
          <a:p>
            <a:pPr algn="l">
              <a:spcAft>
                <a:spcPts val="800"/>
              </a:spcAft>
            </a:pPr>
            <a:r>
              <a:rPr sz="2200" b="1">
                <a:solidFill>
                  <a:srgbClr val="073763"/>
                </a:solidFill>
                <a:latin typeface="Arial"/>
              </a:rPr>
              <a:t>Reflexión</a:t>
            </a:r>
          </a:p>
          <a:p>
            <a:pPr algn="l">
              <a:spcAft>
                <a:spcPts val="800"/>
              </a:spcAft>
            </a:pPr>
            <a:r>
              <a:rPr sz="1800" b="0">
                <a:solidFill>
                  <a:srgbClr val="4A4F57"/>
                </a:solidFill>
                <a:latin typeface="Arial"/>
              </a:rPr>
              <a:t>Las critica como un revisor</a:t>
            </a:r>
          </a:p>
        </p:txBody>
      </p:sp>
      <p:sp>
        <p:nvSpPr>
          <p:cNvPr id="8" name="Rounded Rectangle 7"/>
          <p:cNvSpPr/>
          <p:nvPr/>
        </p:nvSpPr>
        <p:spPr>
          <a:xfrm>
            <a:off x="11871960" y="3886200"/>
            <a:ext cx="4815840" cy="1417320"/>
          </a:xfrm>
          <a:prstGeom prst="roundRect">
            <a:avLst>
              <a:gd name="adj" fmla="val 6000"/>
            </a:avLst>
          </a:prstGeom>
          <a:solidFill>
            <a:srgbClr val="FDF1DF"/>
          </a:solid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146280" y="4114800"/>
            <a:ext cx="4267200" cy="1051560"/>
          </a:xfrm>
          <a:prstGeom prst="rect">
            <a:avLst/>
          </a:prstGeom>
          <a:noFill/>
        </p:spPr>
        <p:txBody>
          <a:bodyPr wrap="square" lIns="0" rIns="0" tIns="0" bIns="0" anchor="t">
            <a:spAutoFit/>
          </a:bodyPr>
          <a:lstStyle/>
          <a:p>
            <a:pPr algn="l">
              <a:spcAft>
                <a:spcPts val="800"/>
              </a:spcAft>
            </a:pPr>
            <a:r>
              <a:rPr sz="2200" b="1">
                <a:solidFill>
                  <a:srgbClr val="A8600A"/>
                </a:solidFill>
                <a:latin typeface="Arial"/>
              </a:rPr>
              <a:t>Ranking</a:t>
            </a:r>
          </a:p>
          <a:p>
            <a:pPr algn="l">
              <a:spcAft>
                <a:spcPts val="800"/>
              </a:spcAft>
            </a:pPr>
            <a:r>
              <a:rPr sz="1800" b="0">
                <a:solidFill>
                  <a:srgbClr val="4A4F57"/>
                </a:solidFill>
                <a:latin typeface="Arial"/>
              </a:rPr>
              <a:t>Torneo con Elo entre pares de hipótesis</a:t>
            </a:r>
          </a:p>
        </p:txBody>
      </p:sp>
      <p:sp>
        <p:nvSpPr>
          <p:cNvPr id="10" name="Rounded Rectangle 9"/>
          <p:cNvSpPr/>
          <p:nvPr/>
        </p:nvSpPr>
        <p:spPr>
          <a:xfrm>
            <a:off x="1600200" y="5532120"/>
            <a:ext cx="4815840"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874519" y="5760720"/>
            <a:ext cx="4267200" cy="1051560"/>
          </a:xfrm>
          <a:prstGeom prst="rect">
            <a:avLst/>
          </a:prstGeom>
          <a:noFill/>
        </p:spPr>
        <p:txBody>
          <a:bodyPr wrap="square" lIns="0" rIns="0" tIns="0" bIns="0" anchor="t">
            <a:spAutoFit/>
          </a:bodyPr>
          <a:lstStyle/>
          <a:p>
            <a:pPr algn="l">
              <a:spcAft>
                <a:spcPts val="800"/>
              </a:spcAft>
            </a:pPr>
            <a:r>
              <a:rPr sz="2200" b="1">
                <a:solidFill>
                  <a:srgbClr val="073763"/>
                </a:solidFill>
                <a:latin typeface="Arial"/>
              </a:rPr>
              <a:t>Evolución</a:t>
            </a:r>
          </a:p>
          <a:p>
            <a:pPr algn="l">
              <a:spcAft>
                <a:spcPts val="800"/>
              </a:spcAft>
            </a:pPr>
            <a:r>
              <a:rPr sz="1800" b="0">
                <a:solidFill>
                  <a:srgbClr val="4A4F57"/>
                </a:solidFill>
                <a:latin typeface="Arial"/>
              </a:rPr>
              <a:t>Combina y mejora las mejores</a:t>
            </a:r>
          </a:p>
        </p:txBody>
      </p:sp>
      <p:sp>
        <p:nvSpPr>
          <p:cNvPr id="12" name="Rounded Rectangle 11"/>
          <p:cNvSpPr/>
          <p:nvPr/>
        </p:nvSpPr>
        <p:spPr>
          <a:xfrm>
            <a:off x="6736080" y="5532120"/>
            <a:ext cx="4815840"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10399" y="5760720"/>
            <a:ext cx="4267200" cy="1051560"/>
          </a:xfrm>
          <a:prstGeom prst="rect">
            <a:avLst/>
          </a:prstGeom>
          <a:noFill/>
        </p:spPr>
        <p:txBody>
          <a:bodyPr wrap="square" lIns="0" rIns="0" tIns="0" bIns="0" anchor="t">
            <a:spAutoFit/>
          </a:bodyPr>
          <a:lstStyle/>
          <a:p>
            <a:pPr algn="l">
              <a:spcAft>
                <a:spcPts val="800"/>
              </a:spcAft>
            </a:pPr>
            <a:r>
              <a:rPr sz="2200" b="1">
                <a:solidFill>
                  <a:srgbClr val="073763"/>
                </a:solidFill>
                <a:latin typeface="Arial"/>
              </a:rPr>
              <a:t>Proximidad</a:t>
            </a:r>
          </a:p>
          <a:p>
            <a:pPr algn="l">
              <a:spcAft>
                <a:spcPts val="800"/>
              </a:spcAft>
            </a:pPr>
            <a:r>
              <a:rPr sz="1800" b="0">
                <a:solidFill>
                  <a:srgbClr val="4A4F57"/>
                </a:solidFill>
                <a:latin typeface="Arial"/>
              </a:rPr>
              <a:t>Agrupa las que se parecen</a:t>
            </a:r>
          </a:p>
        </p:txBody>
      </p:sp>
      <p:sp>
        <p:nvSpPr>
          <p:cNvPr id="14" name="Rounded Rectangle 13"/>
          <p:cNvSpPr/>
          <p:nvPr/>
        </p:nvSpPr>
        <p:spPr>
          <a:xfrm>
            <a:off x="11871960" y="5532120"/>
            <a:ext cx="4815840" cy="14173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146280" y="5760720"/>
            <a:ext cx="4267200" cy="1051560"/>
          </a:xfrm>
          <a:prstGeom prst="rect">
            <a:avLst/>
          </a:prstGeom>
          <a:noFill/>
        </p:spPr>
        <p:txBody>
          <a:bodyPr wrap="square" lIns="0" rIns="0" tIns="0" bIns="0" anchor="t">
            <a:spAutoFit/>
          </a:bodyPr>
          <a:lstStyle/>
          <a:p>
            <a:pPr algn="l">
              <a:spcAft>
                <a:spcPts val="800"/>
              </a:spcAft>
            </a:pPr>
            <a:r>
              <a:rPr sz="2200" b="1">
                <a:solidFill>
                  <a:srgbClr val="073763"/>
                </a:solidFill>
                <a:latin typeface="Arial"/>
              </a:rPr>
              <a:t>Meta-revisión</a:t>
            </a:r>
          </a:p>
          <a:p>
            <a:pPr algn="l">
              <a:spcAft>
                <a:spcPts val="800"/>
              </a:spcAft>
            </a:pPr>
            <a:r>
              <a:rPr sz="1800" b="0">
                <a:solidFill>
                  <a:srgbClr val="4A4F57"/>
                </a:solidFill>
                <a:latin typeface="Arial"/>
              </a:rPr>
              <a:t>Resume patrones de las críticas</a:t>
            </a:r>
          </a:p>
        </p:txBody>
      </p:sp>
      <p:sp>
        <p:nvSpPr>
          <p:cNvPr id="16" name="TextBox 15"/>
          <p:cNvSpPr txBox="1"/>
          <p:nvPr/>
        </p:nvSpPr>
        <p:spPr>
          <a:xfrm>
            <a:off x="1600200" y="7315200"/>
            <a:ext cx="11887200" cy="822960"/>
          </a:xfrm>
          <a:prstGeom prst="rect">
            <a:avLst/>
          </a:prstGeom>
          <a:noFill/>
        </p:spPr>
        <p:txBody>
          <a:bodyPr wrap="square" lIns="0" rIns="0" tIns="0" bIns="0" anchor="t">
            <a:spAutoFit/>
          </a:bodyPr>
          <a:lstStyle/>
          <a:p>
            <a:pPr algn="l"/>
            <a:r>
              <a:rPr sz="2200" b="1">
                <a:solidFill>
                  <a:srgbClr val="A8600A"/>
                </a:solidFill>
                <a:latin typeface="Arial"/>
              </a:rPr>
              <a:t>Un supervisor reparte el trabajo. Corre sobre Gemini 2.0.</a:t>
            </a:r>
          </a:p>
        </p:txBody>
      </p:sp>
      <p:sp>
        <p:nvSpPr>
          <p:cNvPr id="17" name="TextBox 16"/>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47 · Gottweis et al. (2026), Accelerating scientific discovery with Co-Scientist, Nature 655</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4 · IA QUE INVESTIGA</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AGENTES, LUEGO EL LABORATORIO</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El torneo: los agentes juzgan cada par de hipótesis y el Elo las ordena</a:t>
            </a:r>
          </a:p>
        </p:txBody>
      </p:sp>
      <p:pic>
        <p:nvPicPr>
          <p:cNvPr id="5" name="Picture 4" descr="S17.png"/>
          <p:cNvPicPr>
            <a:picLocks noChangeAspect="1"/>
          </p:cNvPicPr>
          <p:nvPr/>
        </p:nvPicPr>
        <p:blipFill>
          <a:blip r:embed="rId3"/>
          <a:stretch>
            <a:fillRect/>
          </a:stretch>
        </p:blipFill>
        <p:spPr>
          <a:xfrm>
            <a:off x="1600200" y="3886200"/>
            <a:ext cx="11582400" cy="4343400"/>
          </a:xfrm>
          <a:prstGeom prst="rect">
            <a:avLst/>
          </a:prstGeom>
        </p:spPr>
      </p:pic>
      <p:sp>
        <p:nvSpPr>
          <p:cNvPr id="6" name="TextBox 5"/>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48 · Gottweis et al. (2026), Nature 655 · torneo ilustrativo, Elo calculado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4 · IA QUE INVESTIGA</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Lo que se validó en el laboratorio</a:t>
            </a:r>
          </a:p>
        </p:txBody>
      </p:sp>
      <p:cxnSp>
        <p:nvCxnSpPr>
          <p:cNvPr id="4" name="Connector 3"/>
          <p:cNvCxnSpPr/>
          <p:nvPr/>
        </p:nvCxnSpPr>
        <p:spPr>
          <a:xfrm>
            <a:off x="1600200" y="3886200"/>
            <a:ext cx="466344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600200" y="4114800"/>
            <a:ext cx="4663440" cy="720090"/>
          </a:xfrm>
          <a:prstGeom prst="rect">
            <a:avLst/>
          </a:prstGeom>
          <a:noFill/>
        </p:spPr>
        <p:txBody>
          <a:bodyPr wrap="square" lIns="0" rIns="0" tIns="0" bIns="0" anchor="t">
            <a:spAutoFit/>
          </a:bodyPr>
          <a:lstStyle/>
          <a:p>
            <a:pPr algn="l">
              <a:lnSpc>
                <a:spcPct val="90000"/>
              </a:lnSpc>
            </a:pPr>
            <a:r>
              <a:rPr sz="5400" b="1">
                <a:solidFill>
                  <a:srgbClr val="A8600A"/>
                </a:solidFill>
                <a:latin typeface="Arial"/>
              </a:rPr>
              <a:t>18×</a:t>
            </a:r>
          </a:p>
        </p:txBody>
      </p:sp>
      <p:sp>
        <p:nvSpPr>
          <p:cNvPr id="6" name="TextBox 5"/>
          <p:cNvSpPr txBox="1"/>
          <p:nvPr/>
        </p:nvSpPr>
        <p:spPr>
          <a:xfrm>
            <a:off x="1600200" y="4926329"/>
            <a:ext cx="4663440" cy="1371600"/>
          </a:xfrm>
          <a:prstGeom prst="rect">
            <a:avLst/>
          </a:prstGeom>
          <a:noFill/>
        </p:spPr>
        <p:txBody>
          <a:bodyPr wrap="square" lIns="0" rIns="0" tIns="0" bIns="0" anchor="t">
            <a:spAutoFit/>
          </a:bodyPr>
          <a:lstStyle/>
          <a:p>
            <a:pPr algn="l"/>
            <a:r>
              <a:rPr sz="2000" b="0">
                <a:solidFill>
                  <a:srgbClr val="4A4F57"/>
                </a:solidFill>
                <a:latin typeface="Arial"/>
              </a:rPr>
              <a:t>ventana de KIRA6 en leucemia mieloide aguda: IC50 de 10 nM frente a 180 nM en células control</a:t>
            </a:r>
          </a:p>
        </p:txBody>
      </p:sp>
      <p:cxnSp>
        <p:nvCxnSpPr>
          <p:cNvPr id="7" name="Connector 6"/>
          <p:cNvCxnSpPr/>
          <p:nvPr/>
        </p:nvCxnSpPr>
        <p:spPr>
          <a:xfrm>
            <a:off x="6812280" y="3886200"/>
            <a:ext cx="466344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12280" y="4114800"/>
            <a:ext cx="4663440" cy="720090"/>
          </a:xfrm>
          <a:prstGeom prst="rect">
            <a:avLst/>
          </a:prstGeom>
          <a:noFill/>
        </p:spPr>
        <p:txBody>
          <a:bodyPr wrap="square" lIns="0" rIns="0" tIns="0" bIns="0" anchor="t">
            <a:spAutoFit/>
          </a:bodyPr>
          <a:lstStyle/>
          <a:p>
            <a:pPr algn="l">
              <a:lnSpc>
                <a:spcPct val="90000"/>
              </a:lnSpc>
            </a:pPr>
            <a:r>
              <a:rPr sz="5400" b="1">
                <a:solidFill>
                  <a:srgbClr val="073763"/>
                </a:solidFill>
                <a:latin typeface="Arial"/>
              </a:rPr>
              <a:t>2 de 3</a:t>
            </a:r>
          </a:p>
        </p:txBody>
      </p:sp>
      <p:sp>
        <p:nvSpPr>
          <p:cNvPr id="9" name="TextBox 8"/>
          <p:cNvSpPr txBox="1"/>
          <p:nvPr/>
        </p:nvSpPr>
        <p:spPr>
          <a:xfrm>
            <a:off x="6812280" y="4926329"/>
            <a:ext cx="4663440" cy="1371600"/>
          </a:xfrm>
          <a:prstGeom prst="rect">
            <a:avLst/>
          </a:prstGeom>
          <a:noFill/>
        </p:spPr>
        <p:txBody>
          <a:bodyPr wrap="square" lIns="0" rIns="0" tIns="0" bIns="0" anchor="t">
            <a:spAutoFit/>
          </a:bodyPr>
          <a:lstStyle/>
          <a:p>
            <a:pPr algn="l"/>
            <a:r>
              <a:rPr sz="2000" b="0">
                <a:solidFill>
                  <a:srgbClr val="4A4F57"/>
                </a:solidFill>
                <a:latin typeface="Arial"/>
              </a:rPr>
              <a:t>fármacos propuestos para fibrosis hepática mostraron actividad en organoides humanos</a:t>
            </a:r>
          </a:p>
        </p:txBody>
      </p:sp>
      <p:cxnSp>
        <p:nvCxnSpPr>
          <p:cNvPr id="10" name="Connector 9"/>
          <p:cNvCxnSpPr/>
          <p:nvPr/>
        </p:nvCxnSpPr>
        <p:spPr>
          <a:xfrm>
            <a:off x="12024360" y="3886200"/>
            <a:ext cx="466344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024360" y="4114800"/>
            <a:ext cx="4663440" cy="720090"/>
          </a:xfrm>
          <a:prstGeom prst="rect">
            <a:avLst/>
          </a:prstGeom>
          <a:noFill/>
        </p:spPr>
        <p:txBody>
          <a:bodyPr wrap="square" lIns="0" rIns="0" tIns="0" bIns="0" anchor="t">
            <a:spAutoFit/>
          </a:bodyPr>
          <a:lstStyle/>
          <a:p>
            <a:pPr algn="l">
              <a:lnSpc>
                <a:spcPct val="90000"/>
              </a:lnSpc>
            </a:pPr>
            <a:r>
              <a:rPr sz="5400" b="1">
                <a:solidFill>
                  <a:srgbClr val="073763"/>
                </a:solidFill>
                <a:latin typeface="Arial"/>
              </a:rPr>
              <a:t>~2 días</a:t>
            </a:r>
          </a:p>
        </p:txBody>
      </p:sp>
      <p:sp>
        <p:nvSpPr>
          <p:cNvPr id="12" name="TextBox 11"/>
          <p:cNvSpPr txBox="1"/>
          <p:nvPr/>
        </p:nvSpPr>
        <p:spPr>
          <a:xfrm>
            <a:off x="12024360" y="4926329"/>
            <a:ext cx="4663440" cy="1371600"/>
          </a:xfrm>
          <a:prstGeom prst="rect">
            <a:avLst/>
          </a:prstGeom>
          <a:noFill/>
        </p:spPr>
        <p:txBody>
          <a:bodyPr wrap="square" lIns="0" rIns="0" tIns="0" bIns="0" anchor="t">
            <a:spAutoFit/>
          </a:bodyPr>
          <a:lstStyle/>
          <a:p>
            <a:pPr algn="l"/>
            <a:r>
              <a:rPr sz="2000" b="0">
                <a:solidFill>
                  <a:srgbClr val="4A4F57"/>
                </a:solidFill>
                <a:latin typeface="Arial"/>
              </a:rPr>
              <a:t>para proponer una hipótesis de resistencia antimicrobiana que coincidía con un estudio aún no publicado</a:t>
            </a:r>
          </a:p>
        </p:txBody>
      </p:sp>
      <p:sp>
        <p:nvSpPr>
          <p:cNvPr id="13" name="Rounded Rectangle 12"/>
          <p:cNvSpPr/>
          <p:nvPr/>
        </p:nvSpPr>
        <p:spPr>
          <a:xfrm>
            <a:off x="1600200" y="7223760"/>
            <a:ext cx="11887200" cy="868680"/>
          </a:xfrm>
          <a:prstGeom prst="roundRect">
            <a:avLst>
              <a:gd name="adj" fmla="val 10000"/>
            </a:avLst>
          </a:prstGeom>
          <a:solidFill>
            <a:srgbClr val="FB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874519" y="7223760"/>
            <a:ext cx="11338560" cy="868680"/>
          </a:xfrm>
          <a:prstGeom prst="rect">
            <a:avLst/>
          </a:prstGeom>
          <a:noFill/>
        </p:spPr>
        <p:txBody>
          <a:bodyPr wrap="square" lIns="0" rIns="0" tIns="0" bIns="0" anchor="ctr">
            <a:spAutoFit/>
          </a:bodyPr>
          <a:lstStyle/>
          <a:p>
            <a:pPr algn="l"/>
            <a:r>
              <a:rPr sz="1800" b="0">
                <a:solidFill>
                  <a:srgbClr val="8A3B26"/>
                </a:solidFill>
                <a:latin typeface="Arial"/>
              </a:rPr>
              <a:t>Validación preliminar: líneas celulares y organoides, no pacientes. El Elo es un proxy, no la verdad.</a:t>
            </a:r>
          </a:p>
        </p:txBody>
      </p:sp>
      <p:sp>
        <p:nvSpPr>
          <p:cNvPr id="15" name="TextBox 14"/>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49 · Gottweis et al. (2026), Nature 655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4 · IA QUE INVESTIGA</a:t>
            </a:r>
          </a:p>
        </p:txBody>
      </p:sp>
      <p:sp>
        <p:nvSpPr>
          <p:cNvPr id="3" name="TextBox 2"/>
          <p:cNvSpPr txBox="1"/>
          <p:nvPr/>
        </p:nvSpPr>
        <p:spPr>
          <a:xfrm>
            <a:off x="6949440" y="1691640"/>
            <a:ext cx="5852160" cy="365760"/>
          </a:xfrm>
          <a:prstGeom prst="rect">
            <a:avLst/>
          </a:prstGeom>
          <a:noFill/>
        </p:spPr>
        <p:txBody>
          <a:bodyPr wrap="square" lIns="0" rIns="0" tIns="0" bIns="0" anchor="t">
            <a:spAutoFit/>
          </a:bodyPr>
          <a:lstStyle/>
          <a:p>
            <a:pPr algn="r"/>
            <a:r>
              <a:rPr sz="1700" b="1">
                <a:solidFill>
                  <a:srgbClr val="757070"/>
                </a:solidFill>
                <a:latin typeface="Arial"/>
              </a:rPr>
              <a:t>JUEZ · </a:t>
            </a:r>
            <a:r>
              <a:rPr sz="1700" b="1">
                <a:solidFill>
                  <a:srgbClr val="A8600A"/>
                </a:solidFill>
                <a:latin typeface="Arial"/>
              </a:rPr>
              <a:t>UN EVALUADOR AUTOMÁTICO</a:t>
            </a:r>
          </a:p>
        </p:txBody>
      </p:sp>
      <p:sp>
        <p:nvSpPr>
          <p:cNvPr id="4" name="TextBox 3"/>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ERA y AlphaEvolve escriben código y dejan que un evaluador lo juzgue</a:t>
            </a:r>
          </a:p>
        </p:txBody>
      </p:sp>
      <p:pic>
        <p:nvPicPr>
          <p:cNvPr id="5" name="Picture 4" descr="S18.png"/>
          <p:cNvPicPr>
            <a:picLocks noChangeAspect="1"/>
          </p:cNvPicPr>
          <p:nvPr/>
        </p:nvPicPr>
        <p:blipFill>
          <a:blip r:embed="rId3"/>
          <a:stretch>
            <a:fillRect/>
          </a:stretch>
        </p:blipFill>
        <p:spPr>
          <a:xfrm>
            <a:off x="1600200" y="3886200"/>
            <a:ext cx="11582400" cy="4343400"/>
          </a:xfrm>
          <a:prstGeom prst="rect">
            <a:avLst/>
          </a:prstGeom>
        </p:spPr>
      </p:pic>
      <p:sp>
        <p:nvSpPr>
          <p:cNvPr id="6" name="TextBox 5"/>
          <p:cNvSpPr txBox="1"/>
          <p:nvPr/>
        </p:nvSpPr>
        <p:spPr>
          <a:xfrm>
            <a:off x="1600200" y="8732520"/>
            <a:ext cx="10972800" cy="411480"/>
          </a:xfrm>
          <a:prstGeom prst="rect">
            <a:avLst/>
          </a:prstGeom>
          <a:noFill/>
        </p:spPr>
        <p:txBody>
          <a:bodyPr wrap="square" lIns="0" rIns="0" tIns="0" bIns="0" anchor="t">
            <a:spAutoFit/>
          </a:bodyPr>
          <a:lstStyle/>
          <a:p>
            <a:pPr algn="l"/>
            <a:r>
              <a:rPr sz="1500" b="0">
                <a:solidFill>
                  <a:srgbClr val="757070"/>
                </a:solidFill>
                <a:latin typeface="Arial"/>
              </a:rPr>
              <a:t>50 · Aygün et al. (2026), Nature 654 · Novikov et al. (2025), arXiv 2506.13131</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4 · IA QUE INVESTIGA</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Ya hay investigación de punta a punta; el juicio sigue siendo el cuello de botella</a:t>
            </a:r>
          </a:p>
        </p:txBody>
      </p:sp>
      <p:cxnSp>
        <p:nvCxnSpPr>
          <p:cNvPr id="4" name="Connector 3"/>
          <p:cNvCxnSpPr/>
          <p:nvPr/>
        </p:nvCxnSpPr>
        <p:spPr>
          <a:xfrm>
            <a:off x="1600200" y="3886200"/>
            <a:ext cx="466344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600200" y="4114800"/>
            <a:ext cx="4663440" cy="1066800"/>
          </a:xfrm>
          <a:prstGeom prst="rect">
            <a:avLst/>
          </a:prstGeom>
          <a:noFill/>
        </p:spPr>
        <p:txBody>
          <a:bodyPr wrap="square" lIns="0" rIns="0" tIns="0" bIns="0" anchor="t">
            <a:spAutoFit/>
          </a:bodyPr>
          <a:lstStyle/>
          <a:p>
            <a:pPr algn="l">
              <a:lnSpc>
                <a:spcPct val="90000"/>
              </a:lnSpc>
            </a:pPr>
            <a:r>
              <a:rPr sz="8000" b="1">
                <a:solidFill>
                  <a:srgbClr val="073763"/>
                </a:solidFill>
                <a:latin typeface="Arial"/>
              </a:rPr>
              <a:t>6.33</a:t>
            </a:r>
          </a:p>
        </p:txBody>
      </p:sp>
      <p:sp>
        <p:nvSpPr>
          <p:cNvPr id="6" name="TextBox 5"/>
          <p:cNvSpPr txBox="1"/>
          <p:nvPr/>
        </p:nvSpPr>
        <p:spPr>
          <a:xfrm>
            <a:off x="1600200" y="5273040"/>
            <a:ext cx="4663440" cy="1371600"/>
          </a:xfrm>
          <a:prstGeom prst="rect">
            <a:avLst/>
          </a:prstGeom>
          <a:noFill/>
        </p:spPr>
        <p:txBody>
          <a:bodyPr wrap="square" lIns="0" rIns="0" tIns="0" bIns="0" anchor="t">
            <a:spAutoFit/>
          </a:bodyPr>
          <a:lstStyle/>
          <a:p>
            <a:pPr algn="l"/>
            <a:r>
              <a:rPr sz="2000" b="0">
                <a:solidFill>
                  <a:srgbClr val="4A4F57"/>
                </a:solidFill>
                <a:latin typeface="Arial"/>
              </a:rPr>
              <a:t>puntaje del primer paper 100% IA que pasó revisión en un workshop de ICLR 2025</a:t>
            </a:r>
          </a:p>
        </p:txBody>
      </p:sp>
      <p:sp>
        <p:nvSpPr>
          <p:cNvPr id="7" name="TextBox 6"/>
          <p:cNvSpPr txBox="1"/>
          <p:nvPr/>
        </p:nvSpPr>
        <p:spPr>
          <a:xfrm>
            <a:off x="1600200" y="6507480"/>
            <a:ext cx="4663440" cy="411480"/>
          </a:xfrm>
          <a:prstGeom prst="rect">
            <a:avLst/>
          </a:prstGeom>
          <a:noFill/>
        </p:spPr>
        <p:txBody>
          <a:bodyPr wrap="square" lIns="0" rIns="0" tIns="0" bIns="0" anchor="t">
            <a:spAutoFit/>
          </a:bodyPr>
          <a:lstStyle/>
          <a:p>
            <a:pPr algn="l"/>
            <a:r>
              <a:rPr sz="1500" b="1">
                <a:solidFill>
                  <a:srgbClr val="757070"/>
                </a:solidFill>
                <a:latin typeface="Arial"/>
              </a:rPr>
              <a:t>The AI Scientist · Nature 2026</a:t>
            </a:r>
          </a:p>
        </p:txBody>
      </p:sp>
      <p:cxnSp>
        <p:nvCxnSpPr>
          <p:cNvPr id="8" name="Connector 7"/>
          <p:cNvCxnSpPr/>
          <p:nvPr/>
        </p:nvCxnSpPr>
        <p:spPr>
          <a:xfrm>
            <a:off x="6812280" y="3886200"/>
            <a:ext cx="466344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12280" y="4114800"/>
            <a:ext cx="4663440" cy="1066800"/>
          </a:xfrm>
          <a:prstGeom prst="rect">
            <a:avLst/>
          </a:prstGeom>
          <a:noFill/>
        </p:spPr>
        <p:txBody>
          <a:bodyPr wrap="square" lIns="0" rIns="0" tIns="0" bIns="0" anchor="t">
            <a:spAutoFit/>
          </a:bodyPr>
          <a:lstStyle/>
          <a:p>
            <a:pPr algn="l">
              <a:lnSpc>
                <a:spcPct val="90000"/>
              </a:lnSpc>
            </a:pPr>
            <a:r>
              <a:rPr sz="8000" b="1">
                <a:solidFill>
                  <a:srgbClr val="073763"/>
                </a:solidFill>
                <a:latin typeface="Arial"/>
              </a:rPr>
              <a:t>79.4%</a:t>
            </a:r>
          </a:p>
        </p:txBody>
      </p:sp>
      <p:sp>
        <p:nvSpPr>
          <p:cNvPr id="10" name="TextBox 9"/>
          <p:cNvSpPr txBox="1"/>
          <p:nvPr/>
        </p:nvSpPr>
        <p:spPr>
          <a:xfrm>
            <a:off x="6812280" y="5273040"/>
            <a:ext cx="4663440" cy="1371600"/>
          </a:xfrm>
          <a:prstGeom prst="rect">
            <a:avLst/>
          </a:prstGeom>
          <a:noFill/>
        </p:spPr>
        <p:txBody>
          <a:bodyPr wrap="square" lIns="0" rIns="0" tIns="0" bIns="0" anchor="t">
            <a:spAutoFit/>
          </a:bodyPr>
          <a:lstStyle/>
          <a:p>
            <a:pPr algn="l"/>
            <a:r>
              <a:rPr sz="2000" b="0">
                <a:solidFill>
                  <a:srgbClr val="4A4F57"/>
                </a:solidFill>
                <a:latin typeface="Arial"/>
              </a:rPr>
              <a:t>de las afirmaciones de Kosmos son correctas: cerca de 1 de cada 5 no lo es</a:t>
            </a:r>
          </a:p>
        </p:txBody>
      </p:sp>
      <p:sp>
        <p:nvSpPr>
          <p:cNvPr id="11" name="TextBox 10"/>
          <p:cNvSpPr txBox="1"/>
          <p:nvPr/>
        </p:nvSpPr>
        <p:spPr>
          <a:xfrm>
            <a:off x="6812280" y="6507480"/>
            <a:ext cx="4663440" cy="411480"/>
          </a:xfrm>
          <a:prstGeom prst="rect">
            <a:avLst/>
          </a:prstGeom>
          <a:noFill/>
        </p:spPr>
        <p:txBody>
          <a:bodyPr wrap="square" lIns="0" rIns="0" tIns="0" bIns="0" anchor="t">
            <a:spAutoFit/>
          </a:bodyPr>
          <a:lstStyle/>
          <a:p>
            <a:pPr algn="l"/>
            <a:r>
              <a:rPr sz="1500" b="1">
                <a:solidFill>
                  <a:srgbClr val="757070"/>
                </a:solidFill>
                <a:latin typeface="Arial"/>
              </a:rPr>
              <a:t>Kosmos · arXiv 2511.02824</a:t>
            </a:r>
          </a:p>
        </p:txBody>
      </p:sp>
      <p:cxnSp>
        <p:nvCxnSpPr>
          <p:cNvPr id="12" name="Connector 11"/>
          <p:cNvCxnSpPr/>
          <p:nvPr/>
        </p:nvCxnSpPr>
        <p:spPr>
          <a:xfrm>
            <a:off x="12024360" y="3886200"/>
            <a:ext cx="466344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2024360" y="4114800"/>
            <a:ext cx="4663440" cy="1066800"/>
          </a:xfrm>
          <a:prstGeom prst="rect">
            <a:avLst/>
          </a:prstGeom>
          <a:noFill/>
        </p:spPr>
        <p:txBody>
          <a:bodyPr wrap="square" lIns="0" rIns="0" tIns="0" bIns="0" anchor="t">
            <a:spAutoFit/>
          </a:bodyPr>
          <a:lstStyle/>
          <a:p>
            <a:pPr algn="l">
              <a:lnSpc>
                <a:spcPct val="90000"/>
              </a:lnSpc>
            </a:pPr>
            <a:r>
              <a:rPr sz="8000" b="1">
                <a:solidFill>
                  <a:srgbClr val="A8600A"/>
                </a:solidFill>
                <a:latin typeface="Arial"/>
              </a:rPr>
              <a:t>88.1%</a:t>
            </a:r>
          </a:p>
        </p:txBody>
      </p:sp>
      <p:sp>
        <p:nvSpPr>
          <p:cNvPr id="14" name="TextBox 13"/>
          <p:cNvSpPr txBox="1"/>
          <p:nvPr/>
        </p:nvSpPr>
        <p:spPr>
          <a:xfrm>
            <a:off x="12024360" y="5273040"/>
            <a:ext cx="4663440" cy="1371600"/>
          </a:xfrm>
          <a:prstGeom prst="rect">
            <a:avLst/>
          </a:prstGeom>
          <a:noFill/>
        </p:spPr>
        <p:txBody>
          <a:bodyPr wrap="square" lIns="0" rIns="0" tIns="0" bIns="0" anchor="t">
            <a:spAutoFit/>
          </a:bodyPr>
          <a:lstStyle/>
          <a:p>
            <a:pPr algn="l"/>
            <a:r>
              <a:rPr sz="2000" b="0">
                <a:solidFill>
                  <a:srgbClr val="4A4F57"/>
                </a:solidFill>
                <a:latin typeface="Arial"/>
              </a:rPr>
              <a:t>de las veces, un juez prefiere el paper humano frente a los ~1,000 papers de Project APE</a:t>
            </a:r>
          </a:p>
        </p:txBody>
      </p:sp>
      <p:sp>
        <p:nvSpPr>
          <p:cNvPr id="15" name="TextBox 14"/>
          <p:cNvSpPr txBox="1"/>
          <p:nvPr/>
        </p:nvSpPr>
        <p:spPr>
          <a:xfrm>
            <a:off x="12024360" y="6507480"/>
            <a:ext cx="4663440" cy="411480"/>
          </a:xfrm>
          <a:prstGeom prst="rect">
            <a:avLst/>
          </a:prstGeom>
          <a:noFill/>
        </p:spPr>
        <p:txBody>
          <a:bodyPr wrap="square" lIns="0" rIns="0" tIns="0" bIns="0" anchor="t">
            <a:spAutoFit/>
          </a:bodyPr>
          <a:lstStyle/>
          <a:p>
            <a:pPr algn="l"/>
            <a:r>
              <a:rPr sz="1500" b="1">
                <a:solidFill>
                  <a:srgbClr val="757070"/>
                </a:solidFill>
                <a:latin typeface="Arial"/>
              </a:rPr>
              <a:t>Project APE · Universidad de Zurich</a:t>
            </a:r>
          </a:p>
        </p:txBody>
      </p:sp>
      <p:sp>
        <p:nvSpPr>
          <p:cNvPr id="16" name="TextBox 15"/>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51 · IA para la investigación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4 · IA QUE INVESTIGA</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Demo: deep research sobre exoesqueletos, hecho solo con archivos de texto</a:t>
            </a:r>
          </a:p>
        </p:txBody>
      </p:sp>
      <p:sp>
        <p:nvSpPr>
          <p:cNvPr id="4" name="Rounded Rectangle 3"/>
          <p:cNvSpPr/>
          <p:nvPr/>
        </p:nvSpPr>
        <p:spPr>
          <a:xfrm>
            <a:off x="1600200" y="3886200"/>
            <a:ext cx="9326880" cy="4389120"/>
          </a:xfrm>
          <a:prstGeom prst="roundRect">
            <a:avLst>
              <a:gd name="adj" fmla="val 4000"/>
            </a:avLst>
          </a:prstGeom>
          <a:solidFill>
            <a:srgbClr val="0F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920240" y="4160520"/>
            <a:ext cx="8778240" cy="3931920"/>
          </a:xfrm>
          <a:prstGeom prst="rect">
            <a:avLst/>
          </a:prstGeom>
          <a:noFill/>
        </p:spPr>
        <p:txBody>
          <a:bodyPr wrap="square" lIns="0" rIns="0" tIns="0" bIns="0" anchor="t">
            <a:spAutoFit/>
          </a:bodyPr>
          <a:lstStyle/>
          <a:p>
            <a:pPr algn="l">
              <a:lnSpc>
                <a:spcPct val="105000"/>
              </a:lnSpc>
            </a:pPr>
            <a:r>
              <a:rPr sz="1500" b="0">
                <a:solidFill>
                  <a:srgbClr val="DFE6EE"/>
                </a:solidFill>
                <a:latin typeface="Courier New"/>
              </a:rPr>
              <a:t>exo-deep-research/</a:t>
            </a:r>
          </a:p>
          <a:p>
            <a:pPr algn="l">
              <a:lnSpc>
                <a:spcPct val="105000"/>
              </a:lnSpc>
            </a:pPr>
            <a:r>
              <a:rPr sz="1500" b="0">
                <a:solidFill>
                  <a:srgbClr val="8A96A8"/>
                </a:solidFill>
                <a:latin typeface="Courier New"/>
              </a:rPr>
              <a:t>├── </a:t>
            </a:r>
            <a:r>
              <a:rPr sz="1500" b="0">
                <a:solidFill>
                  <a:srgbClr val="F2A541"/>
                </a:solidFill>
                <a:latin typeface="Courier New"/>
              </a:rPr>
              <a:t>CLAUDE.md</a:t>
            </a:r>
            <a:r>
              <a:rPr sz="1500" b="0">
                <a:solidFill>
                  <a:srgbClr val="8A96A8"/>
                </a:solidFill>
                <a:latin typeface="Courier New"/>
              </a:rPr>
              <a:t>                    reglas del grupo</a:t>
            </a:r>
          </a:p>
          <a:p>
            <a:pPr algn="l">
              <a:lnSpc>
                <a:spcPct val="105000"/>
              </a:lnSpc>
            </a:pPr>
            <a:r>
              <a:rPr sz="1500" b="0">
                <a:solidFill>
                  <a:srgbClr val="8A96A8"/>
                </a:solidFill>
                <a:latin typeface="Courier New"/>
              </a:rPr>
              <a:t>├── </a:t>
            </a:r>
            <a:r>
              <a:rPr sz="1500" b="0">
                <a:solidFill>
                  <a:srgbClr val="F2A541"/>
                </a:solidFill>
                <a:latin typeface="Courier New"/>
              </a:rPr>
              <a:t>rubrica.md</a:t>
            </a:r>
            <a:r>
              <a:rPr sz="1500" b="0">
                <a:solidFill>
                  <a:srgbClr val="8A96A8"/>
                </a:solidFill>
                <a:latin typeface="Courier New"/>
              </a:rPr>
              <a:t>                   los criterios del juez</a:t>
            </a:r>
          </a:p>
          <a:p>
            <a:pPr algn="l">
              <a:lnSpc>
                <a:spcPct val="105000"/>
              </a:lnSpc>
            </a:pPr>
            <a:r>
              <a:rPr sz="1500" b="0">
                <a:solidFill>
                  <a:srgbClr val="8A96A8"/>
                </a:solidFill>
                <a:latin typeface="Courier New"/>
              </a:rPr>
              <a:t>└── </a:t>
            </a:r>
            <a:r>
              <a:rPr sz="1500" b="0">
                <a:solidFill>
                  <a:srgbClr val="DFE6EE"/>
                </a:solidFill>
                <a:latin typeface="Courier New"/>
              </a:rPr>
              <a:t>.claude/</a:t>
            </a:r>
          </a:p>
          <a:p>
            <a:pPr algn="l">
              <a:lnSpc>
                <a:spcPct val="105000"/>
              </a:lnSpc>
            </a:pPr>
            <a:r>
              <a:rPr sz="1500" b="0">
                <a:solidFill>
                  <a:srgbClr val="8A96A8"/>
                </a:solidFill>
                <a:latin typeface="Courier New"/>
              </a:rPr>
              <a:t>    ├── </a:t>
            </a:r>
            <a:r>
              <a:rPr sz="1500" b="0">
                <a:solidFill>
                  <a:srgbClr val="F2A541"/>
                </a:solidFill>
                <a:latin typeface="Courier New"/>
              </a:rPr>
              <a:t>skills/investigar/SKILL.md</a:t>
            </a:r>
            <a:r>
              <a:rPr sz="1500" b="0">
                <a:solidFill>
                  <a:srgbClr val="8A96A8"/>
                </a:solidFill>
                <a:latin typeface="Courier New"/>
              </a:rPr>
              <a:t>   el agente líder</a:t>
            </a:r>
          </a:p>
          <a:p>
            <a:pPr algn="l">
              <a:lnSpc>
                <a:spcPct val="105000"/>
              </a:lnSpc>
            </a:pPr>
            <a:r>
              <a:rPr sz="1500" b="0">
                <a:solidFill>
                  <a:srgbClr val="8A96A8"/>
                </a:solidFill>
                <a:latin typeface="Courier New"/>
              </a:rPr>
              <a:t>    └── </a:t>
            </a:r>
            <a:r>
              <a:rPr sz="1500" b="0">
                <a:solidFill>
                  <a:srgbClr val="DFE6EE"/>
                </a:solidFill>
                <a:latin typeface="Courier New"/>
              </a:rPr>
              <a:t>agents/</a:t>
            </a:r>
          </a:p>
          <a:p>
            <a:pPr algn="l">
              <a:lnSpc>
                <a:spcPct val="105000"/>
              </a:lnSpc>
            </a:pPr>
            <a:r>
              <a:rPr sz="1500" b="0">
                <a:solidFill>
                  <a:srgbClr val="8A96A8"/>
                </a:solidFill>
                <a:latin typeface="Courier New"/>
              </a:rPr>
              <a:t>        ├── </a:t>
            </a:r>
            <a:r>
              <a:rPr sz="1500" b="0">
                <a:solidFill>
                  <a:srgbClr val="DFE6EE"/>
                </a:solidFill>
                <a:latin typeface="Courier New"/>
              </a:rPr>
              <a:t>investigador.md</a:t>
            </a:r>
            <a:r>
              <a:rPr sz="1500" b="0">
                <a:solidFill>
                  <a:srgbClr val="8A96A8"/>
                </a:solidFill>
                <a:latin typeface="Courier New"/>
              </a:rPr>
              <a:t>       busca una subpregunta</a:t>
            </a:r>
          </a:p>
          <a:p>
            <a:pPr algn="l">
              <a:lnSpc>
                <a:spcPct val="105000"/>
              </a:lnSpc>
            </a:pPr>
            <a:r>
              <a:rPr sz="1500" b="0">
                <a:solidFill>
                  <a:srgbClr val="8A96A8"/>
                </a:solidFill>
                <a:latin typeface="Courier New"/>
              </a:rPr>
              <a:t>        ├── </a:t>
            </a:r>
            <a:r>
              <a:rPr sz="1500" b="0">
                <a:solidFill>
                  <a:srgbClr val="DFE6EE"/>
                </a:solidFill>
                <a:latin typeface="Courier New"/>
              </a:rPr>
              <a:t>verificador-citas.md</a:t>
            </a:r>
            <a:r>
              <a:rPr sz="1500" b="0">
                <a:solidFill>
                  <a:srgbClr val="8A96A8"/>
                </a:solidFill>
                <a:latin typeface="Courier New"/>
              </a:rPr>
              <a:t>  abre cada fuente</a:t>
            </a:r>
          </a:p>
          <a:p>
            <a:pPr algn="l">
              <a:lnSpc>
                <a:spcPct val="105000"/>
              </a:lnSpc>
            </a:pPr>
            <a:r>
              <a:rPr sz="1500" b="0">
                <a:solidFill>
                  <a:srgbClr val="8A96A8"/>
                </a:solidFill>
                <a:latin typeface="Courier New"/>
              </a:rPr>
              <a:t>        └── </a:t>
            </a:r>
            <a:r>
              <a:rPr sz="1500" b="0">
                <a:solidFill>
                  <a:srgbClr val="DFE6EE"/>
                </a:solidFill>
                <a:latin typeface="Courier New"/>
              </a:rPr>
              <a:t>juez.md</a:t>
            </a:r>
            <a:r>
              <a:rPr sz="1500" b="0">
                <a:solidFill>
                  <a:srgbClr val="8A96A8"/>
                </a:solidFill>
                <a:latin typeface="Courier New"/>
              </a:rPr>
              <a:t>               califica con la rúbrica</a:t>
            </a:r>
          </a:p>
          <a:p>
            <a:pPr algn="l">
              <a:lnSpc>
                <a:spcPct val="105000"/>
              </a:lnSpc>
            </a:pPr>
            <a:r>
              <a:rPr sz="1500" b="0">
                <a:solidFill>
                  <a:srgbClr val="DFE6EE"/>
                </a:solidFill>
                <a:latin typeface="Courier New"/>
              </a:rPr>
              <a:t> </a:t>
            </a:r>
          </a:p>
          <a:p>
            <a:pPr algn="l">
              <a:lnSpc>
                <a:spcPct val="105000"/>
              </a:lnSpc>
            </a:pPr>
            <a:r>
              <a:rPr sz="1500" b="0">
                <a:solidFill>
                  <a:srgbClr val="8A96A8"/>
                </a:solidFill>
                <a:latin typeface="Courier New"/>
              </a:rPr>
              <a:t>&gt; </a:t>
            </a:r>
            <a:r>
              <a:rPr sz="1500" b="0">
                <a:solidFill>
                  <a:srgbClr val="5FA8D3"/>
                </a:solidFill>
                <a:latin typeface="Courier New"/>
              </a:rPr>
              <a:t>/investigar ¿Qué controles de exoesqueletos de tobillo reducen</a:t>
            </a:r>
          </a:p>
          <a:p>
            <a:pPr algn="l">
              <a:lnSpc>
                <a:spcPct val="105000"/>
              </a:lnSpc>
            </a:pPr>
            <a:r>
              <a:rPr sz="1500" b="0">
                <a:solidFill>
                  <a:srgbClr val="8A96A8"/>
                </a:solidFill>
                <a:latin typeface="Courier New"/>
              </a:rPr>
              <a:t>  </a:t>
            </a:r>
            <a:r>
              <a:rPr sz="1500" b="0">
                <a:solidFill>
                  <a:srgbClr val="5FA8D3"/>
                </a:solidFill>
                <a:latin typeface="Courier New"/>
              </a:rPr>
              <a:t>el costo metabólico al caminar, y con qué evidencia?</a:t>
            </a:r>
          </a:p>
        </p:txBody>
      </p:sp>
      <p:sp>
        <p:nvSpPr>
          <p:cNvPr id="6" name="Rounded Rectangle 5"/>
          <p:cNvSpPr/>
          <p:nvPr/>
        </p:nvSpPr>
        <p:spPr>
          <a:xfrm>
            <a:off x="11247119" y="3886200"/>
            <a:ext cx="5440680" cy="43891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521440" y="4160520"/>
            <a:ext cx="4892040" cy="3931920"/>
          </a:xfrm>
          <a:prstGeom prst="rect">
            <a:avLst/>
          </a:prstGeom>
          <a:noFill/>
        </p:spPr>
        <p:txBody>
          <a:bodyPr wrap="square" lIns="0" rIns="0" tIns="0" bIns="0" anchor="t">
            <a:spAutoFit/>
          </a:bodyPr>
          <a:lstStyle/>
          <a:p>
            <a:pPr algn="l">
              <a:spcAft>
                <a:spcPts val="600"/>
              </a:spcAft>
            </a:pPr>
            <a:r>
              <a:rPr sz="2100" b="1">
                <a:solidFill>
                  <a:srgbClr val="A8600A"/>
                </a:solidFill>
                <a:latin typeface="Arial"/>
              </a:rPr>
              <a:t>Sin código</a:t>
            </a:r>
          </a:p>
          <a:p>
            <a:pPr algn="l">
              <a:spcAft>
                <a:spcPts val="600"/>
              </a:spcAft>
            </a:pPr>
            <a:r>
              <a:rPr sz="1800" b="0">
                <a:solidFill>
                  <a:srgbClr val="4A4F57"/>
                </a:solidFill>
                <a:latin typeface="Arial"/>
              </a:rPr>
              <a:t>seis archivos .md y un settings.json</a:t>
            </a:r>
          </a:p>
          <a:p>
            <a:pPr algn="l">
              <a:spcAft>
                <a:spcPts val="600"/>
              </a:spcAft>
            </a:pPr>
            <a:r>
              <a:rPr sz="2100" b="1">
                <a:solidFill>
                  <a:srgbClr val="A8600A"/>
                </a:solidFill>
                <a:latin typeface="Arial"/>
              </a:rPr>
              <a:t>Copia en pequeño</a:t>
            </a:r>
          </a:p>
          <a:p>
            <a:pPr algn="l">
              <a:spcAft>
                <a:spcPts val="600"/>
              </a:spcAft>
            </a:pPr>
            <a:r>
              <a:rPr sz="1800" b="0">
                <a:solidFill>
                  <a:srgbClr val="4A4F57"/>
                </a:solidFill>
                <a:latin typeface="Arial"/>
              </a:rPr>
              <a:t>de la arquitectura de la diapositiva 31</a:t>
            </a:r>
          </a:p>
          <a:p>
            <a:pPr algn="l">
              <a:spcAft>
                <a:spcPts val="600"/>
              </a:spcAft>
            </a:pPr>
            <a:r>
              <a:rPr sz="2100" b="1">
                <a:solidFill>
                  <a:srgbClr val="A8600A"/>
                </a:solidFill>
                <a:latin typeface="Arial"/>
              </a:rPr>
              <a:t>Antes de confiar</a:t>
            </a:r>
          </a:p>
          <a:p>
            <a:pPr algn="l">
              <a:spcAft>
                <a:spcPts val="600"/>
              </a:spcAft>
            </a:pPr>
            <a:r>
              <a:rPr sz="1800" b="0">
                <a:solidFill>
                  <a:srgbClr val="4A4F57"/>
                </a:solidFill>
                <a:latin typeface="Arial"/>
              </a:rPr>
              <a:t>corre 10 preguntas de prueba y audita al juez</a:t>
            </a:r>
          </a:p>
        </p:txBody>
      </p:sp>
      <p:sp>
        <p:nvSpPr>
          <p:cNvPr id="8" name="TextBox 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52 · github.com/jdmartinev/ai-for-research · demo-exo-deep-research</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5 · LÍMITES</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Hasta el juez necesita un juez: hay que medirlo contra expertos</a:t>
            </a:r>
          </a:p>
        </p:txBody>
      </p:sp>
      <p:sp>
        <p:nvSpPr>
          <p:cNvPr id="4" name="TextBox 3"/>
          <p:cNvSpPr txBox="1"/>
          <p:nvPr/>
        </p:nvSpPr>
        <p:spPr>
          <a:xfrm>
            <a:off x="1600200" y="3611880"/>
            <a:ext cx="15087600" cy="457200"/>
          </a:xfrm>
          <a:prstGeom prst="rect">
            <a:avLst/>
          </a:prstGeom>
          <a:noFill/>
        </p:spPr>
        <p:txBody>
          <a:bodyPr wrap="square" lIns="0" rIns="0" tIns="0" bIns="0" anchor="t">
            <a:spAutoFit/>
          </a:bodyPr>
          <a:lstStyle/>
          <a:p>
            <a:pPr algn="l"/>
            <a:r>
              <a:rPr sz="2200" b="1">
                <a:solidFill>
                  <a:srgbClr val="4A4F57"/>
                </a:solidFill>
                <a:latin typeface="Arial"/>
              </a:rPr>
              <a:t>¿Con qué frecuencia cada juez coincide con la respuesta que prefieren los expertos?</a:t>
            </a:r>
          </a:p>
        </p:txBody>
      </p:sp>
      <p:cxnSp>
        <p:nvCxnSpPr>
          <p:cNvPr id="5" name="Connector 4"/>
          <p:cNvCxnSpPr/>
          <p:nvPr/>
        </p:nvCxnSpPr>
        <p:spPr>
          <a:xfrm>
            <a:off x="1600200" y="4251960"/>
            <a:ext cx="466344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600200" y="4480560"/>
            <a:ext cx="4663440" cy="1066800"/>
          </a:xfrm>
          <a:prstGeom prst="rect">
            <a:avLst/>
          </a:prstGeom>
          <a:noFill/>
        </p:spPr>
        <p:txBody>
          <a:bodyPr wrap="square" lIns="0" rIns="0" tIns="0" bIns="0" anchor="t">
            <a:spAutoFit/>
          </a:bodyPr>
          <a:lstStyle/>
          <a:p>
            <a:pPr algn="l">
              <a:lnSpc>
                <a:spcPct val="90000"/>
              </a:lnSpc>
            </a:pPr>
            <a:r>
              <a:rPr sz="8000" b="1">
                <a:solidFill>
                  <a:srgbClr val="757070"/>
                </a:solidFill>
                <a:latin typeface="Arial"/>
              </a:rPr>
              <a:t>58%</a:t>
            </a:r>
          </a:p>
        </p:txBody>
      </p:sp>
      <p:sp>
        <p:nvSpPr>
          <p:cNvPr id="7" name="TextBox 6"/>
          <p:cNvSpPr txBox="1"/>
          <p:nvPr/>
        </p:nvSpPr>
        <p:spPr>
          <a:xfrm>
            <a:off x="1600200" y="5638800"/>
            <a:ext cx="4663440" cy="1371600"/>
          </a:xfrm>
          <a:prstGeom prst="rect">
            <a:avLst/>
          </a:prstGeom>
          <a:noFill/>
        </p:spPr>
        <p:txBody>
          <a:bodyPr wrap="square" lIns="0" rIns="0" tIns="0" bIns="0" anchor="t">
            <a:spAutoFit/>
          </a:bodyPr>
          <a:lstStyle/>
          <a:p>
            <a:pPr algn="l"/>
            <a:r>
              <a:rPr sz="2000" b="0">
                <a:solidFill>
                  <a:srgbClr val="4A4F57"/>
                </a:solidFill>
                <a:latin typeface="Arial"/>
              </a:rPr>
              <a:t>Una métrica de similitud (ROUGE). El azar da 50%.</a:t>
            </a:r>
          </a:p>
        </p:txBody>
      </p:sp>
      <p:cxnSp>
        <p:nvCxnSpPr>
          <p:cNvPr id="8" name="Connector 7"/>
          <p:cNvCxnSpPr/>
          <p:nvPr/>
        </p:nvCxnSpPr>
        <p:spPr>
          <a:xfrm>
            <a:off x="6812280" y="4251960"/>
            <a:ext cx="466344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12280" y="4480560"/>
            <a:ext cx="4663440" cy="1066800"/>
          </a:xfrm>
          <a:prstGeom prst="rect">
            <a:avLst/>
          </a:prstGeom>
          <a:noFill/>
        </p:spPr>
        <p:txBody>
          <a:bodyPr wrap="square" lIns="0" rIns="0" tIns="0" bIns="0" anchor="t">
            <a:spAutoFit/>
          </a:bodyPr>
          <a:lstStyle/>
          <a:p>
            <a:pPr algn="l">
              <a:lnSpc>
                <a:spcPct val="90000"/>
              </a:lnSpc>
            </a:pPr>
            <a:r>
              <a:rPr sz="8000" b="1">
                <a:solidFill>
                  <a:srgbClr val="A8600A"/>
                </a:solidFill>
                <a:latin typeface="Arial"/>
              </a:rPr>
              <a:t>74%</a:t>
            </a:r>
          </a:p>
        </p:txBody>
      </p:sp>
      <p:sp>
        <p:nvSpPr>
          <p:cNvPr id="10" name="TextBox 9"/>
          <p:cNvSpPr txBox="1"/>
          <p:nvPr/>
        </p:nvSpPr>
        <p:spPr>
          <a:xfrm>
            <a:off x="6812280" y="5638800"/>
            <a:ext cx="4663440" cy="1371600"/>
          </a:xfrm>
          <a:prstGeom prst="rect">
            <a:avLst/>
          </a:prstGeom>
          <a:noFill/>
        </p:spPr>
        <p:txBody>
          <a:bodyPr wrap="square" lIns="0" rIns="0" tIns="0" bIns="0" anchor="t">
            <a:spAutoFit/>
          </a:bodyPr>
          <a:lstStyle/>
          <a:p>
            <a:pPr algn="l"/>
            <a:r>
              <a:rPr sz="2000" b="0">
                <a:solidFill>
                  <a:srgbClr val="4A4F57"/>
                </a:solidFill>
                <a:latin typeface="Arial"/>
              </a:rPr>
              <a:t>Un LLM como juez, guiado por rúbricas.</a:t>
            </a:r>
          </a:p>
        </p:txBody>
      </p:sp>
      <p:cxnSp>
        <p:nvCxnSpPr>
          <p:cNvPr id="11" name="Connector 10"/>
          <p:cNvCxnSpPr/>
          <p:nvPr/>
        </p:nvCxnSpPr>
        <p:spPr>
          <a:xfrm>
            <a:off x="12024360" y="4251960"/>
            <a:ext cx="4663440" cy="0"/>
          </a:xfrm>
          <a:prstGeom prst="line">
            <a:avLst/>
          </a:prstGeom>
          <a:ln w="38100">
            <a:solidFill>
              <a:srgbClr val="C9D8E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2024360" y="4480560"/>
            <a:ext cx="4663440" cy="1066800"/>
          </a:xfrm>
          <a:prstGeom prst="rect">
            <a:avLst/>
          </a:prstGeom>
          <a:noFill/>
        </p:spPr>
        <p:txBody>
          <a:bodyPr wrap="square" lIns="0" rIns="0" tIns="0" bIns="0" anchor="t">
            <a:spAutoFit/>
          </a:bodyPr>
          <a:lstStyle/>
          <a:p>
            <a:pPr algn="l">
              <a:lnSpc>
                <a:spcPct val="90000"/>
              </a:lnSpc>
            </a:pPr>
            <a:r>
              <a:rPr sz="8000" b="1">
                <a:solidFill>
                  <a:srgbClr val="073763"/>
                </a:solidFill>
                <a:latin typeface="Arial"/>
              </a:rPr>
              <a:t>84%</a:t>
            </a:r>
          </a:p>
        </p:txBody>
      </p:sp>
      <p:sp>
        <p:nvSpPr>
          <p:cNvPr id="13" name="TextBox 12"/>
          <p:cNvSpPr txBox="1"/>
          <p:nvPr/>
        </p:nvSpPr>
        <p:spPr>
          <a:xfrm>
            <a:off x="12024360" y="5638800"/>
            <a:ext cx="4663440" cy="1371600"/>
          </a:xfrm>
          <a:prstGeom prst="rect">
            <a:avLst/>
          </a:prstGeom>
          <a:noFill/>
        </p:spPr>
        <p:txBody>
          <a:bodyPr wrap="square" lIns="0" rIns="0" tIns="0" bIns="0" anchor="t">
            <a:spAutoFit/>
          </a:bodyPr>
          <a:lstStyle/>
          <a:p>
            <a:pPr algn="l"/>
            <a:r>
              <a:rPr sz="2000" b="0">
                <a:solidFill>
                  <a:srgbClr val="4A4F57"/>
                </a:solidFill>
                <a:latin typeface="Arial"/>
              </a:rPr>
              <a:t>Dos expertos entre sí: el techo realista.</a:t>
            </a:r>
          </a:p>
        </p:txBody>
      </p:sp>
      <p:sp>
        <p:nvSpPr>
          <p:cNvPr id="14" name="Rounded Rectangle 13"/>
          <p:cNvSpPr/>
          <p:nvPr/>
        </p:nvSpPr>
        <p:spPr>
          <a:xfrm>
            <a:off x="1600200" y="7223760"/>
            <a:ext cx="11887200" cy="868680"/>
          </a:xfrm>
          <a:prstGeom prst="roundRect">
            <a:avLst>
              <a:gd name="adj" fmla="val 10000"/>
            </a:avLst>
          </a:prstGeom>
          <a:solidFill>
            <a:srgbClr val="FB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874519" y="7223760"/>
            <a:ext cx="11338560" cy="868680"/>
          </a:xfrm>
          <a:prstGeom prst="rect">
            <a:avLst/>
          </a:prstGeom>
          <a:noFill/>
        </p:spPr>
        <p:txBody>
          <a:bodyPr wrap="square" lIns="0" rIns="0" tIns="0" bIns="0" anchor="ctr">
            <a:spAutoFit/>
          </a:bodyPr>
          <a:lstStyle/>
          <a:p>
            <a:pPr algn="l"/>
            <a:r>
              <a:rPr sz="1800" b="0">
                <a:solidFill>
                  <a:srgbClr val="8A3B26"/>
                </a:solidFill>
                <a:latin typeface="Arial"/>
              </a:rPr>
              <a:t>Y la rúbrica también falla: el 11% de los criterios generados por un modelo, sin fuentes, eran vacíos, erróneos o poco claros. Audita al juez antes de confiar en él.</a:t>
            </a:r>
          </a:p>
        </p:txBody>
      </p:sp>
      <p:sp>
        <p:nvSpPr>
          <p:cNvPr id="16" name="TextBox 15"/>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53 · Xu et al. (ACL 2023) · Li et al. (TACL 2026), ResearchQA · vía Asai (2026), CMU 11-768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600200" y="1691640"/>
            <a:ext cx="8229600" cy="365760"/>
          </a:xfrm>
          <a:prstGeom prst="rect">
            <a:avLst/>
          </a:prstGeom>
          <a:noFill/>
        </p:spPr>
        <p:txBody>
          <a:bodyPr wrap="square" lIns="0" rIns="0" tIns="0" bIns="0" anchor="t">
            <a:spAutoFit/>
          </a:bodyPr>
          <a:lstStyle/>
          <a:p>
            <a:pPr algn="l"/>
            <a:r>
              <a:rPr sz="1700" b="1">
                <a:solidFill>
                  <a:srgbClr val="1565C0"/>
                </a:solidFill>
                <a:latin typeface="Arial"/>
              </a:rPr>
              <a:t>PARTE 5 · LÍMITES</a:t>
            </a:r>
          </a:p>
        </p:txBody>
      </p:sp>
      <p:sp>
        <p:nvSpPr>
          <p:cNvPr id="3" name="TextBox 2"/>
          <p:cNvSpPr txBox="1"/>
          <p:nvPr/>
        </p:nvSpPr>
        <p:spPr>
          <a:xfrm>
            <a:off x="1600200" y="2103120"/>
            <a:ext cx="15087600" cy="1600200"/>
          </a:xfrm>
          <a:prstGeom prst="rect">
            <a:avLst/>
          </a:prstGeom>
          <a:noFill/>
        </p:spPr>
        <p:txBody>
          <a:bodyPr wrap="square" lIns="0" rIns="0" tIns="0" bIns="0" anchor="t">
            <a:spAutoFit/>
          </a:bodyPr>
          <a:lstStyle/>
          <a:p>
            <a:pPr algn="l">
              <a:lnSpc>
                <a:spcPct val="100000"/>
              </a:lnSpc>
            </a:pPr>
            <a:r>
              <a:rPr sz="3800" b="1">
                <a:solidFill>
                  <a:srgbClr val="073763"/>
                </a:solidFill>
                <a:latin typeface="Arial"/>
              </a:rPr>
              <a:t>Todos los ciclos fallan igual: con un juez débil o fácil de engañar</a:t>
            </a:r>
          </a:p>
        </p:txBody>
      </p:sp>
      <p:sp>
        <p:nvSpPr>
          <p:cNvPr id="4" name="Rounded Rectangle 3"/>
          <p:cNvSpPr/>
          <p:nvPr/>
        </p:nvSpPr>
        <p:spPr>
          <a:xfrm>
            <a:off x="1600200" y="3886200"/>
            <a:ext cx="7360920" cy="3566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874519" y="4114800"/>
            <a:ext cx="6812280" cy="3200400"/>
          </a:xfrm>
          <a:prstGeom prst="rect">
            <a:avLst/>
          </a:prstGeom>
          <a:noFill/>
        </p:spPr>
        <p:txBody>
          <a:bodyPr wrap="square" lIns="0" rIns="0" tIns="0" bIns="0" anchor="t">
            <a:spAutoFit/>
          </a:bodyPr>
          <a:lstStyle/>
          <a:p>
            <a:pPr algn="l">
              <a:spcAft>
                <a:spcPts val="800"/>
              </a:spcAft>
            </a:pPr>
            <a:r>
              <a:rPr sz="2400" b="1">
                <a:solidFill>
                  <a:srgbClr val="073763"/>
                </a:solidFill>
                <a:latin typeface="Arial"/>
              </a:rPr>
              <a:t>Cómo se rompe</a:t>
            </a:r>
          </a:p>
          <a:p>
            <a:pPr algn="l">
              <a:spcAft>
                <a:spcPts val="800"/>
              </a:spcAft>
            </a:pPr>
            <a:r>
              <a:rPr sz="2100" b="0">
                <a:solidFill>
                  <a:srgbClr val="4A4F57"/>
                </a:solidFill>
                <a:latin typeface="Arial"/>
              </a:rPr>
              <a:t>•  Sin juez: citas inventadas</a:t>
            </a:r>
          </a:p>
          <a:p>
            <a:pPr algn="l">
              <a:spcAft>
                <a:spcPts val="800"/>
              </a:spcAft>
            </a:pPr>
            <a:r>
              <a:rPr sz="2100" b="0">
                <a:solidFill>
                  <a:srgbClr val="4A4F57"/>
                </a:solidFill>
                <a:latin typeface="Arial"/>
              </a:rPr>
              <a:t>•  Juez engañado: reward hacking</a:t>
            </a:r>
          </a:p>
          <a:p>
            <a:pPr algn="l">
              <a:spcAft>
                <a:spcPts val="800"/>
              </a:spcAft>
            </a:pPr>
            <a:r>
              <a:rPr sz="2100" b="0">
                <a:solidFill>
                  <a:srgbClr val="4A4F57"/>
                </a:solidFill>
                <a:latin typeface="Arial"/>
              </a:rPr>
              <a:t>•  Juez con fuga: datos de prueba en el entrenamiento</a:t>
            </a:r>
          </a:p>
          <a:p>
            <a:pPr algn="l">
              <a:spcAft>
                <a:spcPts val="800"/>
              </a:spcAft>
            </a:pPr>
            <a:r>
              <a:rPr sz="2100" b="0">
                <a:solidFill>
                  <a:srgbClr val="4A4F57"/>
                </a:solidFill>
                <a:latin typeface="Arial"/>
              </a:rPr>
              <a:t>•  Entrada envenenada: prompt injection</a:t>
            </a:r>
          </a:p>
        </p:txBody>
      </p:sp>
      <p:sp>
        <p:nvSpPr>
          <p:cNvPr id="6" name="Rounded Rectangle 5"/>
          <p:cNvSpPr/>
          <p:nvPr/>
        </p:nvSpPr>
        <p:spPr>
          <a:xfrm>
            <a:off x="9326880" y="3886200"/>
            <a:ext cx="7360920" cy="3566160"/>
          </a:xfrm>
          <a:prstGeom prst="roundRect">
            <a:avLst>
              <a:gd name="adj" fmla="val 6000"/>
            </a:avLst>
          </a:prstGeom>
          <a:solidFill>
            <a:srgbClr val="FDF1DF"/>
          </a:solidFill>
          <a:ln w="15875">
            <a:solidFill>
              <a:srgbClr val="F2A5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0" y="4114800"/>
            <a:ext cx="6812280" cy="3200400"/>
          </a:xfrm>
          <a:prstGeom prst="rect">
            <a:avLst/>
          </a:prstGeom>
          <a:noFill/>
        </p:spPr>
        <p:txBody>
          <a:bodyPr wrap="square" lIns="0" rIns="0" tIns="0" bIns="0" anchor="t">
            <a:spAutoFit/>
          </a:bodyPr>
          <a:lstStyle/>
          <a:p>
            <a:pPr algn="l">
              <a:spcAft>
                <a:spcPts val="800"/>
              </a:spcAft>
            </a:pPr>
            <a:r>
              <a:rPr sz="2400" b="1">
                <a:solidFill>
                  <a:srgbClr val="A8600A"/>
                </a:solidFill>
                <a:latin typeface="Arial"/>
              </a:rPr>
              <a:t>Cuatro checks que ayudan</a:t>
            </a:r>
          </a:p>
          <a:p>
            <a:pPr algn="l">
              <a:spcAft>
                <a:spcPts val="800"/>
              </a:spcAft>
            </a:pPr>
            <a:r>
              <a:rPr sz="2100" b="0">
                <a:solidFill>
                  <a:srgbClr val="4A4F57"/>
                </a:solidFill>
                <a:latin typeface="Arial"/>
              </a:rPr>
              <a:t>•  Un agente nuevo ataca los cambios</a:t>
            </a:r>
          </a:p>
          <a:p>
            <a:pPr algn="l">
              <a:spcAft>
                <a:spcPts val="800"/>
              </a:spcAft>
            </a:pPr>
            <a:r>
              <a:rPr sz="2100" b="0">
                <a:solidFill>
                  <a:srgbClr val="4A4F57"/>
                </a:solidFill>
                <a:latin typeface="Arial"/>
              </a:rPr>
              <a:t>•  Un modelo de otro laboratorio lo revisa</a:t>
            </a:r>
          </a:p>
          <a:p>
            <a:pPr algn="l">
              <a:spcAft>
                <a:spcPts val="800"/>
              </a:spcAft>
            </a:pPr>
            <a:r>
              <a:rPr sz="2100" b="0">
                <a:solidFill>
                  <a:srgbClr val="4A4F57"/>
                </a:solidFill>
                <a:latin typeface="Arial"/>
              </a:rPr>
              <a:t>•  El agente te hace preguntas sobre el cambio</a:t>
            </a:r>
          </a:p>
          <a:p>
            <a:pPr algn="l">
              <a:spcAft>
                <a:spcPts val="800"/>
              </a:spcAft>
            </a:pPr>
            <a:r>
              <a:rPr sz="2100" b="0">
                <a:solidFill>
                  <a:srgbClr val="4A4F57"/>
                </a:solidFill>
                <a:latin typeface="Arial"/>
              </a:rPr>
              <a:t>•  Tú reimplementas el resultado principal</a:t>
            </a:r>
          </a:p>
        </p:txBody>
      </p:sp>
      <p:sp>
        <p:nvSpPr>
          <p:cNvPr id="8" name="TextBox 7"/>
          <p:cNvSpPr txBox="1"/>
          <p:nvPr/>
        </p:nvSpPr>
        <p:spPr>
          <a:xfrm>
            <a:off x="1600200" y="8732520"/>
            <a:ext cx="11887200" cy="411480"/>
          </a:xfrm>
          <a:prstGeom prst="rect">
            <a:avLst/>
          </a:prstGeom>
          <a:noFill/>
        </p:spPr>
        <p:txBody>
          <a:bodyPr wrap="square" lIns="0" rIns="0" tIns="0" bIns="0" anchor="t">
            <a:spAutoFit/>
          </a:bodyPr>
          <a:lstStyle/>
          <a:p>
            <a:pPr algn="l"/>
            <a:r>
              <a:rPr sz="1500" b="0">
                <a:solidFill>
                  <a:srgbClr val="757070"/>
                </a:solidFill>
                <a:latin typeface="Arial"/>
              </a:rPr>
              <a:t>54 · Checks adaptados de Bäckman (2026) · Asai et al. (2026), OpenScholar, Nature · Dell'Acqua et al. (2026), Organization Science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2" name="TextBox 1"/>
          <p:cNvSpPr txBox="1"/>
          <p:nvPr/>
        </p:nvSpPr>
        <p:spPr>
          <a:xfrm>
            <a:off x="1563624" y="2788920"/>
            <a:ext cx="9144000" cy="365760"/>
          </a:xfrm>
          <a:prstGeom prst="rect">
            <a:avLst/>
          </a:prstGeom>
          <a:noFill/>
        </p:spPr>
        <p:txBody>
          <a:bodyPr wrap="square" lIns="0" rIns="0" tIns="0" bIns="0" anchor="t">
            <a:spAutoFit/>
          </a:bodyPr>
          <a:lstStyle/>
          <a:p>
            <a:pPr algn="l"/>
            <a:r>
              <a:rPr sz="1500" b="1">
                <a:solidFill>
                  <a:srgbClr val="CADCFC"/>
                </a:solidFill>
                <a:latin typeface="Arial"/>
              </a:rPr>
              <a:t>PARTE 5 · EL LUNES EN TU LABORATORIO</a:t>
            </a:r>
          </a:p>
        </p:txBody>
      </p:sp>
      <p:sp>
        <p:nvSpPr>
          <p:cNvPr id="3" name="TextBox 2"/>
          <p:cNvSpPr txBox="1"/>
          <p:nvPr/>
        </p:nvSpPr>
        <p:spPr>
          <a:xfrm>
            <a:off x="1563624" y="3291840"/>
            <a:ext cx="11155680" cy="2103120"/>
          </a:xfrm>
          <a:prstGeom prst="rect">
            <a:avLst/>
          </a:prstGeom>
          <a:noFill/>
        </p:spPr>
        <p:txBody>
          <a:bodyPr wrap="square" lIns="0" rIns="0" tIns="0" bIns="0" anchor="t">
            <a:spAutoFit/>
          </a:bodyPr>
          <a:lstStyle/>
          <a:p>
            <a:pPr algn="l">
              <a:lnSpc>
                <a:spcPct val="95000"/>
              </a:lnSpc>
            </a:pPr>
            <a:r>
              <a:rPr sz="5200" b="1">
                <a:solidFill>
                  <a:srgbClr val="FFFFFF"/>
                </a:solidFill>
                <a:latin typeface="Arial"/>
              </a:rPr>
              <a:t>El modelo corre el ciclo. Tú decides qué cuenta como mejor.</a:t>
            </a:r>
          </a:p>
        </p:txBody>
      </p:sp>
      <p:cxnSp>
        <p:nvCxnSpPr>
          <p:cNvPr id="4" name="Connector 3"/>
          <p:cNvCxnSpPr/>
          <p:nvPr/>
        </p:nvCxnSpPr>
        <p:spPr>
          <a:xfrm>
            <a:off x="1563624" y="5349240"/>
            <a:ext cx="448056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63624" y="5532120"/>
            <a:ext cx="4480560" cy="1371600"/>
          </a:xfrm>
          <a:prstGeom prst="rect">
            <a:avLst/>
          </a:prstGeom>
          <a:noFill/>
        </p:spPr>
        <p:txBody>
          <a:bodyPr wrap="square" lIns="0" rIns="0" tIns="0" bIns="0" anchor="t">
            <a:spAutoFit/>
          </a:bodyPr>
          <a:lstStyle/>
          <a:p>
            <a:pPr algn="l">
              <a:spcAft>
                <a:spcPts val="600"/>
              </a:spcAft>
            </a:pPr>
            <a:r>
              <a:rPr sz="2500" b="1">
                <a:solidFill>
                  <a:srgbClr val="F2A541"/>
                </a:solidFill>
                <a:latin typeface="Arial"/>
              </a:rPr>
              <a:t>1 · Contexto</a:t>
            </a:r>
          </a:p>
          <a:p>
            <a:pPr algn="l">
              <a:spcAft>
                <a:spcPts val="600"/>
              </a:spcAft>
            </a:pPr>
            <a:r>
              <a:rPr sz="2000" b="0">
                <a:solidFill>
                  <a:srgbClr val="FFFFFF"/>
                </a:solidFill>
                <a:latin typeface="Arial"/>
              </a:rPr>
              <a:t>Un CLAUDE.md con tu campo y tus reglas, y tus propios papers como contexto</a:t>
            </a:r>
          </a:p>
        </p:txBody>
      </p:sp>
      <p:cxnSp>
        <p:nvCxnSpPr>
          <p:cNvPr id="6" name="Connector 5"/>
          <p:cNvCxnSpPr/>
          <p:nvPr/>
        </p:nvCxnSpPr>
        <p:spPr>
          <a:xfrm>
            <a:off x="6409944" y="5349240"/>
            <a:ext cx="448056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9944" y="5532120"/>
            <a:ext cx="4480560" cy="1371600"/>
          </a:xfrm>
          <a:prstGeom prst="rect">
            <a:avLst/>
          </a:prstGeom>
          <a:noFill/>
        </p:spPr>
        <p:txBody>
          <a:bodyPr wrap="square" lIns="0" rIns="0" tIns="0" bIns="0" anchor="t">
            <a:spAutoFit/>
          </a:bodyPr>
          <a:lstStyle/>
          <a:p>
            <a:pPr algn="l">
              <a:spcAft>
                <a:spcPts val="600"/>
              </a:spcAft>
            </a:pPr>
            <a:r>
              <a:rPr sz="2500" b="1">
                <a:solidFill>
                  <a:srgbClr val="F2A541"/>
                </a:solidFill>
                <a:latin typeface="Arial"/>
              </a:rPr>
              <a:t>2 · Skills</a:t>
            </a:r>
          </a:p>
          <a:p>
            <a:pPr algn="l">
              <a:spcAft>
                <a:spcPts val="600"/>
              </a:spcAft>
            </a:pPr>
            <a:r>
              <a:rPr sz="2000" b="0">
                <a:solidFill>
                  <a:srgbClr val="FFFFFF"/>
                </a:solidFill>
                <a:latin typeface="Arial"/>
              </a:rPr>
              <a:t>Empaqueta lo que repites; empieza por /review-paper sobre tu próximo borrador</a:t>
            </a:r>
          </a:p>
        </p:txBody>
      </p:sp>
      <p:cxnSp>
        <p:nvCxnSpPr>
          <p:cNvPr id="8" name="Connector 7"/>
          <p:cNvCxnSpPr/>
          <p:nvPr/>
        </p:nvCxnSpPr>
        <p:spPr>
          <a:xfrm>
            <a:off x="11256264" y="5349240"/>
            <a:ext cx="4480560" cy="0"/>
          </a:xfrm>
          <a:prstGeom prst="line">
            <a:avLst/>
          </a:prstGeom>
          <a:ln w="38100">
            <a:solidFill>
              <a:srgbClr val="F2A54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256264" y="5532120"/>
            <a:ext cx="4480560" cy="1371600"/>
          </a:xfrm>
          <a:prstGeom prst="rect">
            <a:avLst/>
          </a:prstGeom>
          <a:noFill/>
        </p:spPr>
        <p:txBody>
          <a:bodyPr wrap="square" lIns="0" rIns="0" tIns="0" bIns="0" anchor="t">
            <a:spAutoFit/>
          </a:bodyPr>
          <a:lstStyle/>
          <a:p>
            <a:pPr algn="l">
              <a:spcAft>
                <a:spcPts val="600"/>
              </a:spcAft>
            </a:pPr>
            <a:r>
              <a:rPr sz="2500" b="1">
                <a:solidFill>
                  <a:srgbClr val="F2A541"/>
                </a:solidFill>
                <a:latin typeface="Arial"/>
              </a:rPr>
              <a:t>3 · Ciclos</a:t>
            </a:r>
          </a:p>
          <a:p>
            <a:pPr algn="l">
              <a:spcAft>
                <a:spcPts val="600"/>
              </a:spcAft>
            </a:pPr>
            <a:r>
              <a:rPr sz="2000" b="0">
                <a:solidFill>
                  <a:srgbClr val="FFFFFF"/>
                </a:solidFill>
                <a:latin typeface="Arial"/>
              </a:rPr>
              <a:t>Ciclos autónomos solo donde tengas una métrica barata y honesta</a:t>
            </a:r>
          </a:p>
        </p:txBody>
      </p:sp>
      <p:sp>
        <p:nvSpPr>
          <p:cNvPr id="10" name="TextBox 9"/>
          <p:cNvSpPr txBox="1"/>
          <p:nvPr/>
        </p:nvSpPr>
        <p:spPr>
          <a:xfrm>
            <a:off x="1563624" y="7205472"/>
            <a:ext cx="10972800" cy="365760"/>
          </a:xfrm>
          <a:prstGeom prst="rect">
            <a:avLst/>
          </a:prstGeom>
          <a:noFill/>
        </p:spPr>
        <p:txBody>
          <a:bodyPr wrap="square" lIns="0" rIns="0" tIns="0" bIns="0" anchor="t">
            <a:spAutoFit/>
          </a:bodyPr>
          <a:lstStyle/>
          <a:p>
            <a:pPr algn="l"/>
            <a:r>
              <a:rPr sz="1600" b="0">
                <a:solidFill>
                  <a:srgbClr val="CADCFC"/>
                </a:solidFill>
                <a:latin typeface="Arial"/>
              </a:rPr>
              <a:t>55 · Gracias · Diapositivas, fuentes y demo: github.com/jdmartinev/ai-for-research</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