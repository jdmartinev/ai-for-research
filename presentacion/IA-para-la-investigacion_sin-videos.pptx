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84" r:id="rId10"/>
    <p:sldId id="285" r:id="rId9"/>
    <p:sldId id="286" r:id="rId8"/>
    <p:sldId id="287" r:id="rId7"/>
    <p:sldId id="288" r:id="rId6"/>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 id="336" r:id="rId81"/>
    <p:sldId id="337" r:id="rId82"/>
    <p:sldId id="338" r:id="rId83"/>
    <p:sldId id="339" r:id="rId84"/>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240">
          <p15:clr>
            <a:srgbClr val="747775"/>
          </p15:clr>
        </p15:guide>
        <p15:guide id="2" pos="57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40" orient="horz"/>
        <p:guide pos="57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8.xml"/><Relationship Id="rId7" Type="http://schemas.openxmlformats.org/officeDocument/2006/relationships/slide" Target="slides/slide27.xml"/><Relationship Id="rId8" Type="http://schemas.openxmlformats.org/officeDocument/2006/relationships/slide" Target="slides/slide26.xml"/><Relationship Id="rId9" Type="http://schemas.openxmlformats.org/officeDocument/2006/relationships/slide" Target="slides/slide25.xml"/><Relationship Id="rId10" Type="http://schemas.openxmlformats.org/officeDocument/2006/relationships/slide" Target="slides/slide24.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Portada. Déjala en pantalla mientras la gente se sienta.</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Pregunta: ¿quién corrió más experimentos anoche, ustedes o este script? Aquí se fija el código de color de toda la charla: ámbar es lo que el juez conservó, gris lo que descartó. El video usa datos ilustrativos (lo dice en la esquina); con tu results.tsv real se regenera.</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Diapositiva de la tesis. Todo es el mismo ciclo: algo propone, algo juzga, algo actualiza. Lee la columna del juez de arriba abajo: pasa de los datos a los humanos, a los verificadores, a las herramientas, a tus reglas y al final a tu métrica. Cada diapositiva de ciclo lleva una etiqueta «Juez» arriba a la derecha.</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encuadre de Karpathy: un modelo abierto es un archivo de parámetros y un programa corto que lo corre. Lo que sigue en esta parte responde dos preguntas: qué hace ese programa con el texto, y de dónde salen los números.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cortes y los números son reales: salen del tokenizador de Mistral. Las palabras comunes son un token; las técnicas se parten: «tibiofemoral» queda en seis pedazos. Por eso los modelos se equivocan más con vocabulario de nicho y por eso los precios y los límites se cuentan en tokens.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modelo no devuelve una respuesta: devuelve una distribución sobre todo el vocabulario. Idea clave: no es una base de datos; si no le das la fuente, genera lo que un texto «probablemente diría». Las probabilidades son ilustrativas hasta correr datos_siguiente_token.py.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Generar es un ciclo: predecir, elegir, agregar, repetir. La temperatura controla cuánto se arriesga al elegir: baja, casi siempre el más probable (repetitivo pero estable); alta, tokens menos probables (más variado, más errores). Por eso la misma pregunta da respuestas distintas.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 primero que hace el programa es cambiar cada número de token por una lista de miles de números: su embedding. Durante el entrenamiento, los tokens que aparecen en contextos parecidos terminan cerca. Este mapa es ilustrativo: los reales tienen miles de dimensiones. Vuelven en la Parte 2: así buscan los agentes.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Aquí está el primer juez de la charla. En el entrenamiento se tapa la palabra siguiente de un texto real y se le pide al modelo que la prediga. La pérdida es menos el logaritmo de la probabilidad que le dio a la correcta: si le dio 5%, la pérdida es alta; si le dio 90%, casi cero. El texto mismo es el juez.</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Imaginen un solo parámetro. Si lo subo un poquito, ¿la pérdida sube o baja? Esa pendiente es el gradiente, y se calcula para todos los parámetros a la vez con retropropagación. El paso: mover cada número un poco en contra de su pendiente. El tamaño del paso es la tasa de aprendizaje.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 dos parámetros ya se puede dibujar: un paisaje, y el modelo baja paso a paso. Con miles de millones no se puede dibujar, pero la regla es la misma. Esta es la forma de todo lo que sigue: proponer, juzgar con la pérdida, actualizar.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Para dar escala: 15 billones de tokens son del orden de toda la web de buena calidad que se pudo filtrar. Ese es el preentrenamiento: la etapa que más cuesta y la que pone casi todo el conocimiento. Llama es de los pocos modelos de frontera que publica estas cifras.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embedding de «pesada» es el mismo en cualquier frase. Para entender, cada token necesita mirar a los demás y decidir cuáles importan. Ese mecanismo es la atención, la pieza central del transformer.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Cada token hace una consulta (Q) y la compara con la clave (K) de los demás; el softmax vuelve esos puntajes pesos que suman 1, y con ellos mezcla los valores (V). Q, K y V tienen colores fijos que no se usan en otra parte. Los pesos son ilustrativos hasta correr datos_atencion.py con BETO.</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bloque tiene dos pasos. Atención: cada token toma información de los otros. MLP: cada token, por separado, transforma lo que reunió; ahí se guarda buena parte del conocimiento. Las flechas que rodean cada paso son conexiones residuales: el bloque suma una corrección, no reescribe todo.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capas de abajo capturan forma; las de arriba, significado y razonamiento. Al final, el vector del último token se compara con todo el vocabulario y sale la distribución de la diapositiva 5. Eso es todo el programa de la diapositiva 3.</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atención solo mira lo que está en la ventana. Lo que no está ahí, el modelo no lo sabe, salvo lo que quedó en sus parámetros con fecha de corte. Por eso lo que le pones (tus papers, tus datos, tus reglas) importa tanto como el modelo. Esta idea vuelve en la Parte 3.</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Cada curva es un tamaño de modelo; la envolvente baja como una ley de potencia. Por eso los laboratorios apuestan miles de millones: el resultado se puede predecir antes de entrenar. Chinchilla mostró que conviene crecer parámetros y datos a la par, unos 20 tokens por parámetro.</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modelo base aprendió a continuar documentos: si el texto parece un examen, sigue con más preguntas. Sabe mucho, pero no tiene el rol de asistente. Las dos etapas que siguen cambian el comportamiento, no el conocimiento.</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SFT por sus siglas en inglés. La pérdida es la misma de antes, pero sobre textos elegidos: conversaciones. LIMA mostró que con solo 1,000 ejemplos bien escogidos ya se obtiene mucho del comportamiento de asistente.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Aprendizaje por refuerzo con retroalimentación humana. El juez ahora son las preferencias de personas, resumidas en un modelo de recompensa. Riesgo conocido: el modelo aprende a sonar convincente y a dar la razón. DPO hace lo mismo sin el modelo de recompensa aparte.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Aprendizaje por refuerzo con recompensas verificables: matemáticas, tests que pasan. Nadie le muestra el procedimiento: solo un verificador que dice sí o no. Así salieron los modelos de razonamiento con cadenas de pensamiento largas. Idea clave: los modelos son más fuertes donde la respuesta se puede verificar.</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Dos ideas. Primero, cómputo en inferencia: dejar pensar al modelo, o muestrear varias respuestas y votar. Segundo, ¿qué pasa cuando no hay respuesta verificable? DR Tulu usa rúbricas que se refinan a partir de las respuestas y de la evidencia recuperada. Lo retomamos en deep research.</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imagen se corta en parches, cada parche se proyecta a un vector, y entra a la misma secuencia que el texto. Audio y video igual, por fragmentos. Idea clave: tus videos y datos de sensores ya son entradas posibles, pero siguen necesitando una verdad de referencia.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Gancho de la Parte 2: «La mayoría de ustedes está en el ciclo del chat. La frontera está en este otro ciclo.» Por disciplina: 39% de los economistas y 25% de los politólogos usan agentes, frente a cifras de un dígito en salud pública, educación y comunicación. Por etapa: algo más de un cuarto de doctorandos y posdocs. Sé honesto con la muestra: se reclutó ofreciendo cuentas de Claude Max, así que sobrerrepresenta a interesados en IA, y Anthropic es parte interesada.</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modelo puede ser exactamente el mismo. Lo que cambia es el programa que lo envuelve: en el chat, tú eres quien ejecuta y trae los resultados de vuelta; en el agente, el programa lo hace y el modelo decide el siguiente paso.</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Estas tres piezas convierten un predictor de texto en algo que trabaja. Cada una trae su riesgo: herramientas que hacen daño, estado que se ensucia, y errores que se acumulan a lo largo de muchos pasos.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Desmitifica la palabra «herramienta». El modelo solo genera texto; cuando genera una llamada con el formato acordado, el programa la detecta, la ejecuta y pega el resultado en el contexto. El modelo nunca toca internet: lee lo que el programa le devuelve.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patrón ReAct: un modelo de lenguaje en un ciclo con herramientas. El resultado de cada herramienta vuelve como retroalimentación: el error de un script, el contenido de un archivo, una búsqueda vacía. Ese es el juez de esta parte.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 principio los agentes eran puro prompt sobre un chat. Hoy los modelos se entrenan sobre trayectorias de agente, con las etapas de la Parte 1: preentrenamiento, ajuste fino y refuerzo. METR mide la duración, en tiempo humano, de las tareas que un modelo completa con 50% de éxito; entre 2019 y 2025 se duplicó cada siete meses aproximadamente.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ejemplo es de la clase de Akari Asai. La segunda pregunta no se responde con un dato: hay que separar benchmarks de comparaciones directas con expertos, y la respuesta honesta es matizada: prometedor en las tareas probadas, paridad con expertos aún no demostrada.</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Patrón orquestador-trabajadores: el líder guarda su plan en memoria y lanza subagentes que buscan en paralelo, cada uno con su propia ventana de contexto. El «¿basta?» es el juez en tiempo de ejecución. Al final, un agente de citas asocia cada afirmación con su fuente. Ojo: es una evaluación interna del propio fabricante.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1,266 preguntas escritas por personas, cada una armada con pistas para que la respuesta sea fácil de verificar y difícil de encontrar. Buscar en la web ayuda poco a un chat; un agente entrenado para buscar llega a la mitad. Pero un benchmark de respuesta corta no mide un reporte: para eso están las rúbricas, en la Parte 5.</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 la Parte 1 otra vez: preentrenar, ajustar con ejemplos y reforzar con un juez. Lo único nuevo es que el texto incluye llamadas a herramientas y sus resultados. Así el agente no solo «sabe» usar herramientas por prompt: lo aprendió.</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Además de la búsqueda web, muchos agentes usan búsqueda por embeddings sobre una colección propia: tus PDFs, por ejemplo. El problema que señala Asai: el buscador normalmente solo ve la última consulta, no lo que el agente está pensando.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momento de juntar piezas. El modelo es la Parte 1; la ventana de contexto, la diapositiva 16; las herramientas, la Parte 2; la verificación, los jueces de toda la charla. Harness es el nombre de todo lo que rodea al modelo. Ejemplo extremo: el equipo de OpenAI que escribió cerca de un millón de líneas sin escribir ninguna a mano; su trabajo fue diseñar el entorno.</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pieza más barata del harness. Claude Code lee CLAUDE.md; otros agentes usan AGENTS.md, que hoy es casi un estándar. Pon ahí lo que le dirías a un estudiante nuevo del laboratorio el primer día.</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Vuelve a la diapositiva 16, la de la ventana de contexto. Un agente que trabaja horas llena 200,000 tokens rápido: cada resultado de herramienta entra ahí. Por eso el sistema de deep research usa subagentes: cada uno busca con una ventana limpia y le devuelve al líder solo un resumen.</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 datos clínicos, esta es la diapositiva más importante de la parte. Lo que no está en allow, el agente lo pregunta; lo que está en deny, no lo puede hacer. MCP es un protocolo abierto para conectar herramientas nuevas sin programar el agente.</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skill empaqueta algo que haces seguido: la forma en que tu grupo revisa una figura, prepara un reporte o limpia datos. El ejemplo de las próximas diapositivas es revisar-figura.</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 con la diapositiva anterior de contexto: los skills son la forma de tener mucho conocimiento disponible sin pagarlo en tokens hasta que se usa.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dos campos obligatorios son name y description. El error más común es una descripción vaga: el agente decide si abrir el skill solo con ella. El cuerpo puede apuntar a otros archivos para no crecer demasiado.</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en vivo (con respaldo grabado): pídele al agente que cree el skill revisar-figura a partir de estos cinco pasos, luego dale una figura real y muestra que el skill se activa solo, por su descripción. Puntos clave de Anthropic: empieza por ver dónde falla el agente; cuida la descripción, porque decide cuándo se activa; divide un SKILL.md largo en archivos; e itera con el propio agente, pidiéndole que guarde lo que funcionó y los errores comunes. Un skill es texto plano: lo puedes leer, editar y versionar en git como cualquier código.</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tres ejemplos son reales y públicos. El de Bäckman es el mejor punto de partida para cualquier investigador: corre varios revisores en paralelo sobre tu borrador y guarda el reporte en una carpeta reviews/. Sus propias instrucciones advierten que el reporte «no es todo correcto»: el agente produce, tú juzgas. La advertencia de seguridad viene de Anthropic: un skill de una fuente poco confiable puede inducir acciones no deseadas o exfiltrar datos, así que se audita antes de instalarlo, igual que una dependencia de código.</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diapositiva conecta la Parte 3 con la tesis. Las cuatro prácticas vienen de los textos de OpenAI y Google: un archivo de instrucciones corto que funciona como mapa; restricciones que se verifican mecánicamente; evaluaciones de comportamiento, que Google describe como tests de integración del harness; y una revisión independiente. Todas son formas de escribir tu criterio de «mejor» para que el agente lo respete sin ti. Ejemplo concreto, el sistema multiagente de la diapositiva 31: Anthropic lo evaluó con un LLM como juez y una rúbrica de cinco criterios (exactitud factual, exactitud de citas, completitud, calidad de fuentes y eficiencia en el uso de herramientas); empezó con unas 20 preguntas, sin esperar una batería grande; y aun así los evaluadores humanos encontraron lo que la rúbrica no veía: los primeros agentes preferían granjas de contenido optimizadas para SEO sobre fuentes autorizadas. El juez automático escala; el juez humano detecta lo que nadie pensó medir. Puente a la Parte 4: en autoresearch, Karpathy no escribe Python; escribe program.md, y la métrica decide.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versión en miniatura de todo lo que sigue, y la única que pueden correr esta noche. El agente edita un solo archivo, entrena 5 minutos y conserva el cambio solo si mejora la validación. Ojo: es un repositorio, no un paper; los trabajos que siguen son la evidencia publicada.</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 un harness completo en un archivo de texto: instrucciones, permisos (solo train.py), herramienta (entrenar), memoria (git) y juez (val_bpb). El humano programa en lenguaje natural; el agente, en Python.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 deep research más un ciclo de mejora. Cada agente es un prompt distinto sobre el mismo modelo, como los subagentes de la Parte 2. Todas las hipótesis empiezan con Elo 1,200 y suben o bajan según ganen debates.</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Elo es el juez interno: barato y rápido, pero es un proxy. El juez que importa viene después: el laboratorio.</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Tres áreas, tres tipos de evidencia. Lo que los autores reconocen: validación preliminar, no in vivo. Para un público clínico vale subrayarlo: es el inicio del ciclo de validación, no el final.</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misma idea: un LLM propone cambios de código y un puntaje automático decide qué se queda. ERA: en integración de datos single-cell, 40 de 87 métodos generados superan el leaderboard publicado. AlphaEvolve: multiplicó matrices complejas 4×4 con 48 multiplicaciones escalares. Ambos solo funcionan donde hay un evaluador automático.</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Tres sistemas que van de la idea al paper, y un número de cada uno. The AI Scientist (Sakana, Nature 2026): un paper sin edición obtuvo 6, 7 y 6 en un workshop de ICLR 2025, por encima del 55% de los papers humanos; los autores lo retiraron antes de publicarse, y reconocen citas inexactas e ideas ingenuas. Kosmos (Edison): corridas de hasta 12 horas que leen ~1,500 papers y ejecutan ~42,000 líneas de código; científicos independientes juzgaron correctas el 79.4% de sus afirmaciones. Project APE (Zurich): ~1,000 papers de evaluación de políticas en cuatro meses; un juez automático prefiere el paper humano el 88.1% de las veces y su verificador estima que todos tienen errores. Si preguntan por síntesis de literatura en general: OpenScholar (Asai et al., Nature 2026) responde preguntas científicas buscando en la literatura y citando sus fuentes; en una evaluación con 108 pares, los expertos prefirieron sus respuestas sobre las escritas por expertos el 70% de las veces. Mensaje: producir ya no es el cuello de botella; juzgar sí.</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Corre la demo, o muestra el corte grabado de 60 segundos. Señala los archivos de salida: plan.md, las notas de cada investigador, la verificación de cada cita y la evaluación del juez. El punto: el harness se escribe, no se programa.</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diapositiva cierra la tesis: no basta con tener un juez, hay que saber qué tan bueno es. Los tres números responden la misma pregunta en dos estudios distintos, así que compáralos como orden de magnitud, no como una tabla exacta. 58%: Xu et al. (ACL 2023, tabla 4), 109 pares con respuesta de referencia; BERTScore da 57% y BLEURT 62%, apenas por encima del azar. 74% y 84%: ResearchQA (Li, Chang, Malaviya y Yatskar, TACL 2026), un juez LLM con rúbricas frente al acuerdo entre dos expertos. 11%: el mismo paper, sobre las rúbricas generadas por el modelo sin apoyarse en surveys; las que se basan en fuentes fallan menos. El encuadre viene de la clase 10 de Akari Asai, Deep Research Agents, CMU 11-768 (otoño 2026), que recomienda auditar la rúbrica antes de usarla. Llévalo a la práctica: antes de confiar en tu juez automático, califica tú tres reportes y compara con sus puntajes.</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Vuelve a la diapositiva 2: cada falla es una falla del juez. Las citas inventadas son un ciclo sin juez: en el estudio de OpenScholar (Asai et al., Nature 2026), GPT-4o sin búsqueda inventó citas en el 78–90% de los casos al pedirle literatura reciente; el reward hacking es un juez que el agente aprendió a engañar; la fuga de datos es un juez que ya vio la respuesta; el prompt injection envenena lo que el agente observa. Los checks van de más barato a más caro: minutos para los tres primeros, horas para reimplementar; guarda eso para tus tablas principales. Un segundo modelo de la misma familia comparte los mismos puntos ciegos: usa uno de otro laboratorio. La frontera irregular (Dell'Acqua et al., 758 consultores de BCG): dentro de la frontera de la IA, 12.2% más tareas y 25.1% más rápido; fuera de ella, 19% menos probabilidad de acertar. Sin un juez propio no sabes de qué lado estás. Menciona la política de EAFIT sobre uso de IA y autoría, y la regla práctica de divulgación: decláralo donde aparezca tu nombre.</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Haz una pausa en el titular antes de mostrar los tres niveles. Cada nivel le pasa más trabajo al agente y exige un juez más explícito: en el 1 juzgas tú cada respuesta; en el 2 tu criterio queda escrito en el skill; en el 3, en la métrica. Luego abre a preguntas.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623417" y="1489150"/>
            <a:ext cx="17041200" cy="41052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10400"/>
              <a:buNone/>
              <a:defRPr sz="10400"/>
            </a:lvl1pPr>
            <a:lvl2pPr lvl="1" algn="ctr">
              <a:spcBef>
                <a:spcPts val="0"/>
              </a:spcBef>
              <a:spcAft>
                <a:spcPts val="0"/>
              </a:spcAft>
              <a:buSzPts val="10400"/>
              <a:buNone/>
              <a:defRPr sz="10400"/>
            </a:lvl2pPr>
            <a:lvl3pPr lvl="2" algn="ctr">
              <a:spcBef>
                <a:spcPts val="0"/>
              </a:spcBef>
              <a:spcAft>
                <a:spcPts val="0"/>
              </a:spcAft>
              <a:buSzPts val="10400"/>
              <a:buNone/>
              <a:defRPr sz="10400"/>
            </a:lvl3pPr>
            <a:lvl4pPr lvl="3" algn="ctr">
              <a:spcBef>
                <a:spcPts val="0"/>
              </a:spcBef>
              <a:spcAft>
                <a:spcPts val="0"/>
              </a:spcAft>
              <a:buSzPts val="10400"/>
              <a:buNone/>
              <a:defRPr sz="10400"/>
            </a:lvl4pPr>
            <a:lvl5pPr lvl="4" algn="ctr">
              <a:spcBef>
                <a:spcPts val="0"/>
              </a:spcBef>
              <a:spcAft>
                <a:spcPts val="0"/>
              </a:spcAft>
              <a:buSzPts val="10400"/>
              <a:buNone/>
              <a:defRPr sz="10400"/>
            </a:lvl5pPr>
            <a:lvl6pPr lvl="5" algn="ctr">
              <a:spcBef>
                <a:spcPts val="0"/>
              </a:spcBef>
              <a:spcAft>
                <a:spcPts val="0"/>
              </a:spcAft>
              <a:buSzPts val="10400"/>
              <a:buNone/>
              <a:defRPr sz="10400"/>
            </a:lvl6pPr>
            <a:lvl7pPr lvl="6" algn="ctr">
              <a:spcBef>
                <a:spcPts val="0"/>
              </a:spcBef>
              <a:spcAft>
                <a:spcPts val="0"/>
              </a:spcAft>
              <a:buSzPts val="10400"/>
              <a:buNone/>
              <a:defRPr sz="10400"/>
            </a:lvl7pPr>
            <a:lvl8pPr lvl="7" algn="ctr">
              <a:spcBef>
                <a:spcPts val="0"/>
              </a:spcBef>
              <a:spcAft>
                <a:spcPts val="0"/>
              </a:spcAft>
              <a:buSzPts val="10400"/>
              <a:buNone/>
              <a:defRPr sz="10400"/>
            </a:lvl8pPr>
            <a:lvl9pPr lvl="8" algn="ctr">
              <a:spcBef>
                <a:spcPts val="0"/>
              </a:spcBef>
              <a:spcAft>
                <a:spcPts val="0"/>
              </a:spcAft>
              <a:buSzPts val="10400"/>
              <a:buNone/>
              <a:defRPr sz="10400"/>
            </a:lvl9pPr>
          </a:lstStyle>
          <a:p/>
        </p:txBody>
      </p:sp>
      <p:sp>
        <p:nvSpPr>
          <p:cNvPr id="11" name="Google Shape;11;p2"/>
          <p:cNvSpPr txBox="1"/>
          <p:nvPr>
            <p:ph idx="1" type="subTitle"/>
          </p:nvPr>
        </p:nvSpPr>
        <p:spPr>
          <a:xfrm>
            <a:off x="623400" y="5668250"/>
            <a:ext cx="17041200" cy="1585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12" name="Google Shape;12;p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623400" y="4301700"/>
            <a:ext cx="17041200" cy="1683600"/>
          </a:xfrm>
          <a:prstGeom prst="rect">
            <a:avLst/>
          </a:prstGeom>
        </p:spPr>
        <p:txBody>
          <a:bodyPr anchorCtr="0" anchor="ctr" bIns="182850" lIns="182850" spcFirstLastPara="1" rIns="182850" wrap="square" tIns="182850">
            <a:normAutofit/>
          </a:bodyPr>
          <a:lstStyle>
            <a:lvl1pPr lvl="0" algn="ctr">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15" name="Google Shape;15;p3"/>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18" name="Google Shape;18;p4"/>
          <p:cNvSpPr txBox="1"/>
          <p:nvPr>
            <p:ph idx="1" type="body"/>
          </p:nvPr>
        </p:nvSpPr>
        <p:spPr>
          <a:xfrm>
            <a:off x="623400" y="2304950"/>
            <a:ext cx="17041200" cy="6832800"/>
          </a:xfrm>
          <a:prstGeom prst="rect">
            <a:avLst/>
          </a:prstGeom>
        </p:spPr>
        <p:txBody>
          <a:bodyPr anchorCtr="0" anchor="t" bIns="182850" lIns="182850" spcFirstLastPara="1" rIns="182850" wrap="square" tIns="182850">
            <a:normAutofit/>
          </a:bodyPr>
          <a:lstStyle>
            <a:lvl1pPr indent="-457200" lvl="0" marL="457200">
              <a:spcBef>
                <a:spcPts val="0"/>
              </a:spcBef>
              <a:spcAft>
                <a:spcPts val="0"/>
              </a:spcAft>
              <a:buSzPts val="3600"/>
              <a:buChar char="●"/>
              <a:defRPr sz="3600"/>
            </a:lvl1pPr>
            <a:lvl2pPr indent="-406400" lvl="1" marL="914400">
              <a:spcBef>
                <a:spcPts val="0"/>
              </a:spcBef>
              <a:spcAft>
                <a:spcPts val="0"/>
              </a:spcAft>
              <a:buSzPts val="2800"/>
              <a:buChar char="○"/>
              <a:defRPr sz="2800"/>
            </a:lvl2pPr>
            <a:lvl3pPr indent="-406400" lvl="2" marL="1371600">
              <a:spcBef>
                <a:spcPts val="0"/>
              </a:spcBef>
              <a:spcAft>
                <a:spcPts val="0"/>
              </a:spcAft>
              <a:buSzPts val="2800"/>
              <a:buChar char="■"/>
              <a:defRPr sz="2800"/>
            </a:lvl3pPr>
            <a:lvl4pPr indent="-406400" lvl="3" marL="1828800">
              <a:spcBef>
                <a:spcPts val="0"/>
              </a:spcBef>
              <a:spcAft>
                <a:spcPts val="0"/>
              </a:spcAft>
              <a:buSzPts val="2800"/>
              <a:buChar char="●"/>
              <a:defRPr sz="2800"/>
            </a:lvl4pPr>
            <a:lvl5pPr indent="-406400" lvl="4" marL="2286000">
              <a:spcBef>
                <a:spcPts val="0"/>
              </a:spcBef>
              <a:spcAft>
                <a:spcPts val="0"/>
              </a:spcAft>
              <a:buSzPts val="2800"/>
              <a:buChar char="○"/>
              <a:defRPr sz="2800"/>
            </a:lvl5pPr>
            <a:lvl6pPr indent="-406400" lvl="5" marL="2743200">
              <a:spcBef>
                <a:spcPts val="0"/>
              </a:spcBef>
              <a:spcAft>
                <a:spcPts val="0"/>
              </a:spcAft>
              <a:buSzPts val="2800"/>
              <a:buChar char="■"/>
              <a:defRPr sz="2800"/>
            </a:lvl6pPr>
            <a:lvl7pPr indent="-406400" lvl="6" marL="3200400">
              <a:spcBef>
                <a:spcPts val="0"/>
              </a:spcBef>
              <a:spcAft>
                <a:spcPts val="0"/>
              </a:spcAft>
              <a:buSzPts val="2800"/>
              <a:buChar char="●"/>
              <a:defRPr sz="2800"/>
            </a:lvl7pPr>
            <a:lvl8pPr indent="-406400" lvl="7" marL="3657600">
              <a:spcBef>
                <a:spcPts val="0"/>
              </a:spcBef>
              <a:spcAft>
                <a:spcPts val="0"/>
              </a:spcAft>
              <a:buSzPts val="2800"/>
              <a:buChar char="○"/>
              <a:defRPr sz="2800"/>
            </a:lvl8pPr>
            <a:lvl9pPr indent="-406400" lvl="8" marL="4114800">
              <a:spcBef>
                <a:spcPts val="0"/>
              </a:spcBef>
              <a:spcAft>
                <a:spcPts val="0"/>
              </a:spcAft>
              <a:buSzPts val="2800"/>
              <a:buChar char="■"/>
              <a:defRPr sz="2800"/>
            </a:lvl9pPr>
          </a:lstStyle>
          <a:p/>
        </p:txBody>
      </p:sp>
      <p:sp>
        <p:nvSpPr>
          <p:cNvPr id="19" name="Google Shape;19;p4"/>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22" name="Google Shape;22;p5"/>
          <p:cNvSpPr txBox="1"/>
          <p:nvPr>
            <p:ph idx="1" type="body"/>
          </p:nvPr>
        </p:nvSpPr>
        <p:spPr>
          <a:xfrm>
            <a:off x="623400" y="2304950"/>
            <a:ext cx="7999800" cy="6832800"/>
          </a:xfrm>
          <a:prstGeom prst="rect">
            <a:avLst/>
          </a:prstGeom>
        </p:spPr>
        <p:txBody>
          <a:bodyPr anchorCtr="0" anchor="t" bIns="182850" lIns="182850" spcFirstLastPara="1" rIns="182850" wrap="square" tIns="182850">
            <a:normAutofit/>
          </a:bodyPr>
          <a:lstStyle>
            <a:lvl1pPr indent="-406400" lvl="0" marL="457200">
              <a:spcBef>
                <a:spcPts val="0"/>
              </a:spcBef>
              <a:spcAft>
                <a:spcPts val="0"/>
              </a:spcAft>
              <a:buSzPts val="2800"/>
              <a:buChar char="●"/>
              <a:defRPr sz="28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23" name="Google Shape;23;p5"/>
          <p:cNvSpPr txBox="1"/>
          <p:nvPr>
            <p:ph idx="2" type="body"/>
          </p:nvPr>
        </p:nvSpPr>
        <p:spPr>
          <a:xfrm>
            <a:off x="9664800" y="2304950"/>
            <a:ext cx="7999800" cy="6832800"/>
          </a:xfrm>
          <a:prstGeom prst="rect">
            <a:avLst/>
          </a:prstGeom>
        </p:spPr>
        <p:txBody>
          <a:bodyPr anchorCtr="0" anchor="t" bIns="182850" lIns="182850" spcFirstLastPara="1" rIns="182850" wrap="square" tIns="182850">
            <a:normAutofit/>
          </a:bodyPr>
          <a:lstStyle>
            <a:lvl1pPr indent="-406400" lvl="0" marL="457200">
              <a:spcBef>
                <a:spcPts val="0"/>
              </a:spcBef>
              <a:spcAft>
                <a:spcPts val="0"/>
              </a:spcAft>
              <a:buSzPts val="2800"/>
              <a:buChar char="●"/>
              <a:defRPr sz="28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24" name="Google Shape;24;p5"/>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27" name="Google Shape;27;p6"/>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623400" y="1111200"/>
            <a:ext cx="5616000" cy="1511400"/>
          </a:xfrm>
          <a:prstGeom prst="rect">
            <a:avLst/>
          </a:prstGeom>
        </p:spPr>
        <p:txBody>
          <a:bodyPr anchorCtr="0" anchor="b" bIns="182850" lIns="182850" spcFirstLastPara="1" rIns="182850" wrap="square" tIns="18285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0" name="Google Shape;30;p7"/>
          <p:cNvSpPr txBox="1"/>
          <p:nvPr>
            <p:ph idx="1" type="body"/>
          </p:nvPr>
        </p:nvSpPr>
        <p:spPr>
          <a:xfrm>
            <a:off x="623400" y="2779200"/>
            <a:ext cx="5616000" cy="6358800"/>
          </a:xfrm>
          <a:prstGeom prst="rect">
            <a:avLst/>
          </a:prstGeom>
        </p:spPr>
        <p:txBody>
          <a:bodyPr anchorCtr="0" anchor="t" bIns="182850" lIns="182850" spcFirstLastPara="1" rIns="182850" wrap="square" tIns="182850">
            <a:normAutofit/>
          </a:bodyPr>
          <a:lstStyle>
            <a:lvl1pPr indent="-381000" lvl="0" marL="457200">
              <a:spcBef>
                <a:spcPts val="0"/>
              </a:spcBef>
              <a:spcAft>
                <a:spcPts val="0"/>
              </a:spcAft>
              <a:buSzPts val="2400"/>
              <a:buChar char="●"/>
              <a:defRPr sz="24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31" name="Google Shape;31;p7"/>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980500" y="900300"/>
            <a:ext cx="12735600" cy="8181600"/>
          </a:xfrm>
          <a:prstGeom prst="rect">
            <a:avLst/>
          </a:prstGeom>
        </p:spPr>
        <p:txBody>
          <a:bodyPr anchorCtr="0" anchor="ctr" bIns="182850" lIns="182850" spcFirstLastPara="1" rIns="182850" wrap="square" tIns="182850">
            <a:normAutofit/>
          </a:bodyPr>
          <a:lstStyle>
            <a:lvl1pPr lvl="0">
              <a:spcBef>
                <a:spcPts val="0"/>
              </a:spcBef>
              <a:spcAft>
                <a:spcPts val="0"/>
              </a:spcAft>
              <a:buSzPts val="9600"/>
              <a:buNone/>
              <a:defRPr sz="9600"/>
            </a:lvl1pPr>
            <a:lvl2pPr lvl="1">
              <a:spcBef>
                <a:spcPts val="0"/>
              </a:spcBef>
              <a:spcAft>
                <a:spcPts val="0"/>
              </a:spcAft>
              <a:buSzPts val="9600"/>
              <a:buNone/>
              <a:defRPr sz="9600"/>
            </a:lvl2pPr>
            <a:lvl3pPr lvl="2">
              <a:spcBef>
                <a:spcPts val="0"/>
              </a:spcBef>
              <a:spcAft>
                <a:spcPts val="0"/>
              </a:spcAft>
              <a:buSzPts val="9600"/>
              <a:buNone/>
              <a:defRPr sz="9600"/>
            </a:lvl3pPr>
            <a:lvl4pPr lvl="3">
              <a:spcBef>
                <a:spcPts val="0"/>
              </a:spcBef>
              <a:spcAft>
                <a:spcPts val="0"/>
              </a:spcAft>
              <a:buSzPts val="9600"/>
              <a:buNone/>
              <a:defRPr sz="9600"/>
            </a:lvl4pPr>
            <a:lvl5pPr lvl="4">
              <a:spcBef>
                <a:spcPts val="0"/>
              </a:spcBef>
              <a:spcAft>
                <a:spcPts val="0"/>
              </a:spcAft>
              <a:buSzPts val="9600"/>
              <a:buNone/>
              <a:defRPr sz="9600"/>
            </a:lvl5pPr>
            <a:lvl6pPr lvl="5">
              <a:spcBef>
                <a:spcPts val="0"/>
              </a:spcBef>
              <a:spcAft>
                <a:spcPts val="0"/>
              </a:spcAft>
              <a:buSzPts val="9600"/>
              <a:buNone/>
              <a:defRPr sz="9600"/>
            </a:lvl6pPr>
            <a:lvl7pPr lvl="6">
              <a:spcBef>
                <a:spcPts val="0"/>
              </a:spcBef>
              <a:spcAft>
                <a:spcPts val="0"/>
              </a:spcAft>
              <a:buSzPts val="9600"/>
              <a:buNone/>
              <a:defRPr sz="9600"/>
            </a:lvl7pPr>
            <a:lvl8pPr lvl="7">
              <a:spcBef>
                <a:spcPts val="0"/>
              </a:spcBef>
              <a:spcAft>
                <a:spcPts val="0"/>
              </a:spcAft>
              <a:buSzPts val="9600"/>
              <a:buNone/>
              <a:defRPr sz="9600"/>
            </a:lvl8pPr>
            <a:lvl9pPr lvl="8">
              <a:spcBef>
                <a:spcPts val="0"/>
              </a:spcBef>
              <a:spcAft>
                <a:spcPts val="0"/>
              </a:spcAft>
              <a:buSzPts val="9600"/>
              <a:buNone/>
              <a:defRPr sz="9600"/>
            </a:lvl9pPr>
          </a:lstStyle>
          <a:p/>
        </p:txBody>
      </p:sp>
      <p:sp>
        <p:nvSpPr>
          <p:cNvPr id="34" name="Google Shape;34;p8"/>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9144000" y="-250"/>
            <a:ext cx="9144000" cy="10287000"/>
          </a:xfrm>
          <a:prstGeom prst="rect">
            <a:avLst/>
          </a:prstGeom>
          <a:solidFill>
            <a:schemeClr val="lt2"/>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531000" y="2466350"/>
            <a:ext cx="8090400" cy="29646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8400"/>
              <a:buNone/>
              <a:defRPr sz="8400"/>
            </a:lvl1pPr>
            <a:lvl2pPr lvl="1" algn="ctr">
              <a:spcBef>
                <a:spcPts val="0"/>
              </a:spcBef>
              <a:spcAft>
                <a:spcPts val="0"/>
              </a:spcAft>
              <a:buSzPts val="8400"/>
              <a:buNone/>
              <a:defRPr sz="8400"/>
            </a:lvl2pPr>
            <a:lvl3pPr lvl="2" algn="ctr">
              <a:spcBef>
                <a:spcPts val="0"/>
              </a:spcBef>
              <a:spcAft>
                <a:spcPts val="0"/>
              </a:spcAft>
              <a:buSzPts val="8400"/>
              <a:buNone/>
              <a:defRPr sz="8400"/>
            </a:lvl3pPr>
            <a:lvl4pPr lvl="3" algn="ctr">
              <a:spcBef>
                <a:spcPts val="0"/>
              </a:spcBef>
              <a:spcAft>
                <a:spcPts val="0"/>
              </a:spcAft>
              <a:buSzPts val="8400"/>
              <a:buNone/>
              <a:defRPr sz="8400"/>
            </a:lvl4pPr>
            <a:lvl5pPr lvl="4" algn="ctr">
              <a:spcBef>
                <a:spcPts val="0"/>
              </a:spcBef>
              <a:spcAft>
                <a:spcPts val="0"/>
              </a:spcAft>
              <a:buSzPts val="8400"/>
              <a:buNone/>
              <a:defRPr sz="8400"/>
            </a:lvl5pPr>
            <a:lvl6pPr lvl="5" algn="ctr">
              <a:spcBef>
                <a:spcPts val="0"/>
              </a:spcBef>
              <a:spcAft>
                <a:spcPts val="0"/>
              </a:spcAft>
              <a:buSzPts val="8400"/>
              <a:buNone/>
              <a:defRPr sz="8400"/>
            </a:lvl6pPr>
            <a:lvl7pPr lvl="6" algn="ctr">
              <a:spcBef>
                <a:spcPts val="0"/>
              </a:spcBef>
              <a:spcAft>
                <a:spcPts val="0"/>
              </a:spcAft>
              <a:buSzPts val="8400"/>
              <a:buNone/>
              <a:defRPr sz="8400"/>
            </a:lvl7pPr>
            <a:lvl8pPr lvl="7" algn="ctr">
              <a:spcBef>
                <a:spcPts val="0"/>
              </a:spcBef>
              <a:spcAft>
                <a:spcPts val="0"/>
              </a:spcAft>
              <a:buSzPts val="8400"/>
              <a:buNone/>
              <a:defRPr sz="8400"/>
            </a:lvl8pPr>
            <a:lvl9pPr lvl="8" algn="ctr">
              <a:spcBef>
                <a:spcPts val="0"/>
              </a:spcBef>
              <a:spcAft>
                <a:spcPts val="0"/>
              </a:spcAft>
              <a:buSzPts val="8400"/>
              <a:buNone/>
              <a:defRPr sz="8400"/>
            </a:lvl9pPr>
          </a:lstStyle>
          <a:p/>
        </p:txBody>
      </p:sp>
      <p:sp>
        <p:nvSpPr>
          <p:cNvPr id="38" name="Google Shape;38;p9"/>
          <p:cNvSpPr txBox="1"/>
          <p:nvPr>
            <p:ph idx="1" type="subTitle"/>
          </p:nvPr>
        </p:nvSpPr>
        <p:spPr>
          <a:xfrm>
            <a:off x="531000" y="5606150"/>
            <a:ext cx="8090400" cy="2470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9" name="Google Shape;39;p9"/>
          <p:cNvSpPr txBox="1"/>
          <p:nvPr>
            <p:ph idx="2" type="body"/>
          </p:nvPr>
        </p:nvSpPr>
        <p:spPr>
          <a:xfrm>
            <a:off x="9879000" y="1448150"/>
            <a:ext cx="7674000" cy="7390200"/>
          </a:xfrm>
          <a:prstGeom prst="rect">
            <a:avLst/>
          </a:prstGeom>
        </p:spPr>
        <p:txBody>
          <a:bodyPr anchorCtr="0" anchor="ctr" bIns="182850" lIns="182850" spcFirstLastPara="1" rIns="182850" wrap="square" tIns="182850">
            <a:normAutofit/>
          </a:bodyPr>
          <a:lstStyle>
            <a:lvl1pPr indent="-457200" lvl="0" marL="457200">
              <a:spcBef>
                <a:spcPts val="0"/>
              </a:spcBef>
              <a:spcAft>
                <a:spcPts val="0"/>
              </a:spcAft>
              <a:buSzPts val="3600"/>
              <a:buChar char="●"/>
              <a:defRPr sz="3600"/>
            </a:lvl1pPr>
            <a:lvl2pPr indent="-406400" lvl="1" marL="914400">
              <a:spcBef>
                <a:spcPts val="0"/>
              </a:spcBef>
              <a:spcAft>
                <a:spcPts val="0"/>
              </a:spcAft>
              <a:buSzPts val="2800"/>
              <a:buChar char="○"/>
              <a:defRPr sz="2800"/>
            </a:lvl2pPr>
            <a:lvl3pPr indent="-406400" lvl="2" marL="1371600">
              <a:spcBef>
                <a:spcPts val="0"/>
              </a:spcBef>
              <a:spcAft>
                <a:spcPts val="0"/>
              </a:spcAft>
              <a:buSzPts val="2800"/>
              <a:buChar char="■"/>
              <a:defRPr sz="2800"/>
            </a:lvl3pPr>
            <a:lvl4pPr indent="-406400" lvl="3" marL="1828800">
              <a:spcBef>
                <a:spcPts val="0"/>
              </a:spcBef>
              <a:spcAft>
                <a:spcPts val="0"/>
              </a:spcAft>
              <a:buSzPts val="2800"/>
              <a:buChar char="●"/>
              <a:defRPr sz="2800"/>
            </a:lvl4pPr>
            <a:lvl5pPr indent="-406400" lvl="4" marL="2286000">
              <a:spcBef>
                <a:spcPts val="0"/>
              </a:spcBef>
              <a:spcAft>
                <a:spcPts val="0"/>
              </a:spcAft>
              <a:buSzPts val="2800"/>
              <a:buChar char="○"/>
              <a:defRPr sz="2800"/>
            </a:lvl5pPr>
            <a:lvl6pPr indent="-406400" lvl="5" marL="2743200">
              <a:spcBef>
                <a:spcPts val="0"/>
              </a:spcBef>
              <a:spcAft>
                <a:spcPts val="0"/>
              </a:spcAft>
              <a:buSzPts val="2800"/>
              <a:buChar char="■"/>
              <a:defRPr sz="2800"/>
            </a:lvl6pPr>
            <a:lvl7pPr indent="-406400" lvl="6" marL="3200400">
              <a:spcBef>
                <a:spcPts val="0"/>
              </a:spcBef>
              <a:spcAft>
                <a:spcPts val="0"/>
              </a:spcAft>
              <a:buSzPts val="2800"/>
              <a:buChar char="●"/>
              <a:defRPr sz="2800"/>
            </a:lvl7pPr>
            <a:lvl8pPr indent="-406400" lvl="7" marL="3657600">
              <a:spcBef>
                <a:spcPts val="0"/>
              </a:spcBef>
              <a:spcAft>
                <a:spcPts val="0"/>
              </a:spcAft>
              <a:buSzPts val="2800"/>
              <a:buChar char="○"/>
              <a:defRPr sz="2800"/>
            </a:lvl8pPr>
            <a:lvl9pPr indent="-406400" lvl="8" marL="4114800">
              <a:spcBef>
                <a:spcPts val="0"/>
              </a:spcBef>
              <a:spcAft>
                <a:spcPts val="0"/>
              </a:spcAft>
              <a:buSzPts val="2800"/>
              <a:buChar char="■"/>
              <a:defRPr sz="2800"/>
            </a:lvl9pPr>
          </a:lstStyle>
          <a:p/>
        </p:txBody>
      </p:sp>
      <p:sp>
        <p:nvSpPr>
          <p:cNvPr id="40" name="Google Shape;40;p9"/>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623400" y="8461150"/>
            <a:ext cx="11997600" cy="1210200"/>
          </a:xfrm>
          <a:prstGeom prst="rect">
            <a:avLst/>
          </a:prstGeom>
        </p:spPr>
        <p:txBody>
          <a:bodyPr anchorCtr="0" anchor="ctr" bIns="182850" lIns="182850" spcFirstLastPara="1" rIns="182850" wrap="square" tIns="182850">
            <a:normAutofit/>
          </a:bodyPr>
          <a:lstStyle>
            <a:lvl1pPr indent="-228600" lvl="0" marL="457200">
              <a:lnSpc>
                <a:spcPct val="100000"/>
              </a:lnSpc>
              <a:spcBef>
                <a:spcPts val="0"/>
              </a:spcBef>
              <a:spcAft>
                <a:spcPts val="0"/>
              </a:spcAft>
              <a:buSzPts val="3600"/>
              <a:buNone/>
              <a:defRPr sz="3600"/>
            </a:lvl1pPr>
          </a:lstStyle>
          <a:p/>
        </p:txBody>
      </p:sp>
      <p:sp>
        <p:nvSpPr>
          <p:cNvPr id="43" name="Google Shape;43;p10"/>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623400" y="2212250"/>
            <a:ext cx="17041200" cy="39270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24000"/>
              <a:buNone/>
              <a:defRPr sz="24000"/>
            </a:lvl1pPr>
            <a:lvl2pPr lvl="1" algn="ctr">
              <a:spcBef>
                <a:spcPts val="0"/>
              </a:spcBef>
              <a:spcAft>
                <a:spcPts val="0"/>
              </a:spcAft>
              <a:buSzPts val="24000"/>
              <a:buNone/>
              <a:defRPr sz="24000"/>
            </a:lvl2pPr>
            <a:lvl3pPr lvl="2" algn="ctr">
              <a:spcBef>
                <a:spcPts val="0"/>
              </a:spcBef>
              <a:spcAft>
                <a:spcPts val="0"/>
              </a:spcAft>
              <a:buSzPts val="24000"/>
              <a:buNone/>
              <a:defRPr sz="24000"/>
            </a:lvl3pPr>
            <a:lvl4pPr lvl="3" algn="ctr">
              <a:spcBef>
                <a:spcPts val="0"/>
              </a:spcBef>
              <a:spcAft>
                <a:spcPts val="0"/>
              </a:spcAft>
              <a:buSzPts val="24000"/>
              <a:buNone/>
              <a:defRPr sz="24000"/>
            </a:lvl4pPr>
            <a:lvl5pPr lvl="4" algn="ctr">
              <a:spcBef>
                <a:spcPts val="0"/>
              </a:spcBef>
              <a:spcAft>
                <a:spcPts val="0"/>
              </a:spcAft>
              <a:buSzPts val="24000"/>
              <a:buNone/>
              <a:defRPr sz="24000"/>
            </a:lvl5pPr>
            <a:lvl6pPr lvl="5" algn="ctr">
              <a:spcBef>
                <a:spcPts val="0"/>
              </a:spcBef>
              <a:spcAft>
                <a:spcPts val="0"/>
              </a:spcAft>
              <a:buSzPts val="24000"/>
              <a:buNone/>
              <a:defRPr sz="24000"/>
            </a:lvl6pPr>
            <a:lvl7pPr lvl="6" algn="ctr">
              <a:spcBef>
                <a:spcPts val="0"/>
              </a:spcBef>
              <a:spcAft>
                <a:spcPts val="0"/>
              </a:spcAft>
              <a:buSzPts val="24000"/>
              <a:buNone/>
              <a:defRPr sz="24000"/>
            </a:lvl7pPr>
            <a:lvl8pPr lvl="7" algn="ctr">
              <a:spcBef>
                <a:spcPts val="0"/>
              </a:spcBef>
              <a:spcAft>
                <a:spcPts val="0"/>
              </a:spcAft>
              <a:buSzPts val="24000"/>
              <a:buNone/>
              <a:defRPr sz="24000"/>
            </a:lvl8pPr>
            <a:lvl9pPr lvl="8" algn="ctr">
              <a:spcBef>
                <a:spcPts val="0"/>
              </a:spcBef>
              <a:spcAft>
                <a:spcPts val="0"/>
              </a:spcAft>
              <a:buSzPts val="24000"/>
              <a:buNone/>
              <a:defRPr sz="24000"/>
            </a:lvl9pPr>
          </a:lstStyle>
          <a:p>
            <a:r>
              <a:t>xx%</a:t>
            </a:r>
          </a:p>
        </p:txBody>
      </p:sp>
      <p:sp>
        <p:nvSpPr>
          <p:cNvPr id="46" name="Google Shape;46;p11"/>
          <p:cNvSpPr txBox="1"/>
          <p:nvPr>
            <p:ph idx="1" type="body"/>
          </p:nvPr>
        </p:nvSpPr>
        <p:spPr>
          <a:xfrm>
            <a:off x="623400" y="6304450"/>
            <a:ext cx="17041200" cy="2601600"/>
          </a:xfrm>
          <a:prstGeom prst="rect">
            <a:avLst/>
          </a:prstGeom>
        </p:spPr>
        <p:txBody>
          <a:bodyPr anchorCtr="0" anchor="t" bIns="182850" lIns="182850" spcFirstLastPara="1" rIns="182850" wrap="square" tIns="182850">
            <a:normAutofit/>
          </a:bodyPr>
          <a:lstStyle>
            <a:lvl1pPr indent="-457200" lvl="0" marL="457200" algn="ctr">
              <a:spcBef>
                <a:spcPts val="0"/>
              </a:spcBef>
              <a:spcAft>
                <a:spcPts val="0"/>
              </a:spcAft>
              <a:buSzPts val="3600"/>
              <a:buChar char="●"/>
              <a:defRPr sz="3600"/>
            </a:lvl1pPr>
            <a:lvl2pPr indent="-406400" lvl="1" marL="914400" algn="ctr">
              <a:spcBef>
                <a:spcPts val="0"/>
              </a:spcBef>
              <a:spcAft>
                <a:spcPts val="0"/>
              </a:spcAft>
              <a:buSzPts val="2800"/>
              <a:buChar char="○"/>
              <a:defRPr sz="2800"/>
            </a:lvl2pPr>
            <a:lvl3pPr indent="-406400" lvl="2" marL="1371600" algn="ctr">
              <a:spcBef>
                <a:spcPts val="0"/>
              </a:spcBef>
              <a:spcAft>
                <a:spcPts val="0"/>
              </a:spcAft>
              <a:buSzPts val="2800"/>
              <a:buChar char="■"/>
              <a:defRPr sz="2800"/>
            </a:lvl3pPr>
            <a:lvl4pPr indent="-406400" lvl="3" marL="1828800" algn="ctr">
              <a:spcBef>
                <a:spcPts val="0"/>
              </a:spcBef>
              <a:spcAft>
                <a:spcPts val="0"/>
              </a:spcAft>
              <a:buSzPts val="2800"/>
              <a:buChar char="●"/>
              <a:defRPr sz="2800"/>
            </a:lvl4pPr>
            <a:lvl5pPr indent="-406400" lvl="4" marL="2286000" algn="ctr">
              <a:spcBef>
                <a:spcPts val="0"/>
              </a:spcBef>
              <a:spcAft>
                <a:spcPts val="0"/>
              </a:spcAft>
              <a:buSzPts val="2800"/>
              <a:buChar char="○"/>
              <a:defRPr sz="2800"/>
            </a:lvl5pPr>
            <a:lvl6pPr indent="-406400" lvl="5" marL="2743200" algn="ctr">
              <a:spcBef>
                <a:spcPts val="0"/>
              </a:spcBef>
              <a:spcAft>
                <a:spcPts val="0"/>
              </a:spcAft>
              <a:buSzPts val="2800"/>
              <a:buChar char="■"/>
              <a:defRPr sz="2800"/>
            </a:lvl6pPr>
            <a:lvl7pPr indent="-406400" lvl="6" marL="3200400" algn="ctr">
              <a:spcBef>
                <a:spcPts val="0"/>
              </a:spcBef>
              <a:spcAft>
                <a:spcPts val="0"/>
              </a:spcAft>
              <a:buSzPts val="2800"/>
              <a:buChar char="●"/>
              <a:defRPr sz="2800"/>
            </a:lvl7pPr>
            <a:lvl8pPr indent="-406400" lvl="7" marL="3657600" algn="ctr">
              <a:spcBef>
                <a:spcPts val="0"/>
              </a:spcBef>
              <a:spcAft>
                <a:spcPts val="0"/>
              </a:spcAft>
              <a:buSzPts val="2800"/>
              <a:buChar char="○"/>
              <a:defRPr sz="2800"/>
            </a:lvl8pPr>
            <a:lvl9pPr indent="-406400" lvl="8" marL="4114800" algn="ctr">
              <a:spcBef>
                <a:spcPts val="0"/>
              </a:spcBef>
              <a:spcAft>
                <a:spcPts val="0"/>
              </a:spcAft>
              <a:buSzPts val="2800"/>
              <a:buChar char="■"/>
              <a:defRPr sz="2800"/>
            </a:lvl9pPr>
          </a:lstStyle>
          <a:p/>
        </p:txBody>
      </p:sp>
      <p:sp>
        <p:nvSpPr>
          <p:cNvPr id="47" name="Google Shape;47;p11"/>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spcBef>
                <a:spcPts val="0"/>
              </a:spcBef>
              <a:spcAft>
                <a:spcPts val="0"/>
              </a:spcAft>
              <a:buClr>
                <a:schemeClr val="dk1"/>
              </a:buClr>
              <a:buSzPts val="5600"/>
              <a:buNone/>
              <a:defRPr sz="5600">
                <a:solidFill>
                  <a:schemeClr val="dk1"/>
                </a:solidFill>
              </a:defRPr>
            </a:lvl1pPr>
            <a:lvl2pPr lvl="1">
              <a:spcBef>
                <a:spcPts val="0"/>
              </a:spcBef>
              <a:spcAft>
                <a:spcPts val="0"/>
              </a:spcAft>
              <a:buClr>
                <a:schemeClr val="dk1"/>
              </a:buClr>
              <a:buSzPts val="5600"/>
              <a:buNone/>
              <a:defRPr sz="5600">
                <a:solidFill>
                  <a:schemeClr val="dk1"/>
                </a:solidFill>
              </a:defRPr>
            </a:lvl2pPr>
            <a:lvl3pPr lvl="2">
              <a:spcBef>
                <a:spcPts val="0"/>
              </a:spcBef>
              <a:spcAft>
                <a:spcPts val="0"/>
              </a:spcAft>
              <a:buClr>
                <a:schemeClr val="dk1"/>
              </a:buClr>
              <a:buSzPts val="5600"/>
              <a:buNone/>
              <a:defRPr sz="5600">
                <a:solidFill>
                  <a:schemeClr val="dk1"/>
                </a:solidFill>
              </a:defRPr>
            </a:lvl3pPr>
            <a:lvl4pPr lvl="3">
              <a:spcBef>
                <a:spcPts val="0"/>
              </a:spcBef>
              <a:spcAft>
                <a:spcPts val="0"/>
              </a:spcAft>
              <a:buClr>
                <a:schemeClr val="dk1"/>
              </a:buClr>
              <a:buSzPts val="5600"/>
              <a:buNone/>
              <a:defRPr sz="5600">
                <a:solidFill>
                  <a:schemeClr val="dk1"/>
                </a:solidFill>
              </a:defRPr>
            </a:lvl4pPr>
            <a:lvl5pPr lvl="4">
              <a:spcBef>
                <a:spcPts val="0"/>
              </a:spcBef>
              <a:spcAft>
                <a:spcPts val="0"/>
              </a:spcAft>
              <a:buClr>
                <a:schemeClr val="dk1"/>
              </a:buClr>
              <a:buSzPts val="5600"/>
              <a:buNone/>
              <a:defRPr sz="5600">
                <a:solidFill>
                  <a:schemeClr val="dk1"/>
                </a:solidFill>
              </a:defRPr>
            </a:lvl5pPr>
            <a:lvl6pPr lvl="5">
              <a:spcBef>
                <a:spcPts val="0"/>
              </a:spcBef>
              <a:spcAft>
                <a:spcPts val="0"/>
              </a:spcAft>
              <a:buClr>
                <a:schemeClr val="dk1"/>
              </a:buClr>
              <a:buSzPts val="5600"/>
              <a:buNone/>
              <a:defRPr sz="5600">
                <a:solidFill>
                  <a:schemeClr val="dk1"/>
                </a:solidFill>
              </a:defRPr>
            </a:lvl6pPr>
            <a:lvl7pPr lvl="6">
              <a:spcBef>
                <a:spcPts val="0"/>
              </a:spcBef>
              <a:spcAft>
                <a:spcPts val="0"/>
              </a:spcAft>
              <a:buClr>
                <a:schemeClr val="dk1"/>
              </a:buClr>
              <a:buSzPts val="5600"/>
              <a:buNone/>
              <a:defRPr sz="5600">
                <a:solidFill>
                  <a:schemeClr val="dk1"/>
                </a:solidFill>
              </a:defRPr>
            </a:lvl7pPr>
            <a:lvl8pPr lvl="7">
              <a:spcBef>
                <a:spcPts val="0"/>
              </a:spcBef>
              <a:spcAft>
                <a:spcPts val="0"/>
              </a:spcAft>
              <a:buClr>
                <a:schemeClr val="dk1"/>
              </a:buClr>
              <a:buSzPts val="5600"/>
              <a:buNone/>
              <a:defRPr sz="5600">
                <a:solidFill>
                  <a:schemeClr val="dk1"/>
                </a:solidFill>
              </a:defRPr>
            </a:lvl8pPr>
            <a:lvl9pPr lvl="8">
              <a:spcBef>
                <a:spcPts val="0"/>
              </a:spcBef>
              <a:spcAft>
                <a:spcPts val="0"/>
              </a:spcAft>
              <a:buClr>
                <a:schemeClr val="dk1"/>
              </a:buClr>
              <a:buSzPts val="5600"/>
              <a:buNone/>
              <a:defRPr sz="5600">
                <a:solidFill>
                  <a:schemeClr val="dk1"/>
                </a:solidFill>
              </a:defRPr>
            </a:lvl9pPr>
          </a:lstStyle>
          <a:p/>
        </p:txBody>
      </p:sp>
      <p:sp>
        <p:nvSpPr>
          <p:cNvPr id="7" name="Google Shape;7;p1"/>
          <p:cNvSpPr txBox="1"/>
          <p:nvPr>
            <p:ph idx="1" type="body"/>
          </p:nvPr>
        </p:nvSpPr>
        <p:spPr>
          <a:xfrm>
            <a:off x="623400" y="2304950"/>
            <a:ext cx="17041200" cy="6832800"/>
          </a:xfrm>
          <a:prstGeom prst="rect">
            <a:avLst/>
          </a:prstGeom>
          <a:noFill/>
          <a:ln>
            <a:noFill/>
          </a:ln>
        </p:spPr>
        <p:txBody>
          <a:bodyPr anchorCtr="0" anchor="t" bIns="182850" lIns="182850" spcFirstLastPara="1" rIns="182850" wrap="square" tIns="182850">
            <a:normAutofit/>
          </a:bodyPr>
          <a:lstStyle>
            <a:lvl1pPr indent="-457200" lvl="0" marL="457200">
              <a:lnSpc>
                <a:spcPct val="115000"/>
              </a:lnSpc>
              <a:spcBef>
                <a:spcPts val="0"/>
              </a:spcBef>
              <a:spcAft>
                <a:spcPts val="0"/>
              </a:spcAft>
              <a:buClr>
                <a:schemeClr val="dk2"/>
              </a:buClr>
              <a:buSzPts val="3600"/>
              <a:buChar char="●"/>
              <a:defRPr sz="3600">
                <a:solidFill>
                  <a:schemeClr val="dk2"/>
                </a:solidFill>
              </a:defRPr>
            </a:lvl1pPr>
            <a:lvl2pPr indent="-406400" lvl="1" marL="914400">
              <a:lnSpc>
                <a:spcPct val="115000"/>
              </a:lnSpc>
              <a:spcBef>
                <a:spcPts val="0"/>
              </a:spcBef>
              <a:spcAft>
                <a:spcPts val="0"/>
              </a:spcAft>
              <a:buClr>
                <a:schemeClr val="dk2"/>
              </a:buClr>
              <a:buSzPts val="2800"/>
              <a:buChar char="○"/>
              <a:defRPr sz="2800">
                <a:solidFill>
                  <a:schemeClr val="dk2"/>
                </a:solidFill>
              </a:defRPr>
            </a:lvl2pPr>
            <a:lvl3pPr indent="-406400" lvl="2" marL="1371600">
              <a:lnSpc>
                <a:spcPct val="115000"/>
              </a:lnSpc>
              <a:spcBef>
                <a:spcPts val="0"/>
              </a:spcBef>
              <a:spcAft>
                <a:spcPts val="0"/>
              </a:spcAft>
              <a:buClr>
                <a:schemeClr val="dk2"/>
              </a:buClr>
              <a:buSzPts val="2800"/>
              <a:buChar char="■"/>
              <a:defRPr sz="2800">
                <a:solidFill>
                  <a:schemeClr val="dk2"/>
                </a:solidFill>
              </a:defRPr>
            </a:lvl3pPr>
            <a:lvl4pPr indent="-406400" lvl="3" marL="1828800">
              <a:lnSpc>
                <a:spcPct val="115000"/>
              </a:lnSpc>
              <a:spcBef>
                <a:spcPts val="0"/>
              </a:spcBef>
              <a:spcAft>
                <a:spcPts val="0"/>
              </a:spcAft>
              <a:buClr>
                <a:schemeClr val="dk2"/>
              </a:buClr>
              <a:buSzPts val="2800"/>
              <a:buChar char="●"/>
              <a:defRPr sz="2800">
                <a:solidFill>
                  <a:schemeClr val="dk2"/>
                </a:solidFill>
              </a:defRPr>
            </a:lvl4pPr>
            <a:lvl5pPr indent="-406400" lvl="4" marL="2286000">
              <a:lnSpc>
                <a:spcPct val="115000"/>
              </a:lnSpc>
              <a:spcBef>
                <a:spcPts val="0"/>
              </a:spcBef>
              <a:spcAft>
                <a:spcPts val="0"/>
              </a:spcAft>
              <a:buClr>
                <a:schemeClr val="dk2"/>
              </a:buClr>
              <a:buSzPts val="2800"/>
              <a:buChar char="○"/>
              <a:defRPr sz="2800">
                <a:solidFill>
                  <a:schemeClr val="dk2"/>
                </a:solidFill>
              </a:defRPr>
            </a:lvl5pPr>
            <a:lvl6pPr indent="-406400" lvl="5" marL="2743200">
              <a:lnSpc>
                <a:spcPct val="115000"/>
              </a:lnSpc>
              <a:spcBef>
                <a:spcPts val="0"/>
              </a:spcBef>
              <a:spcAft>
                <a:spcPts val="0"/>
              </a:spcAft>
              <a:buClr>
                <a:schemeClr val="dk2"/>
              </a:buClr>
              <a:buSzPts val="2800"/>
              <a:buChar char="■"/>
              <a:defRPr sz="2800">
                <a:solidFill>
                  <a:schemeClr val="dk2"/>
                </a:solidFill>
              </a:defRPr>
            </a:lvl6pPr>
            <a:lvl7pPr indent="-406400" lvl="6" marL="3200400">
              <a:lnSpc>
                <a:spcPct val="115000"/>
              </a:lnSpc>
              <a:spcBef>
                <a:spcPts val="0"/>
              </a:spcBef>
              <a:spcAft>
                <a:spcPts val="0"/>
              </a:spcAft>
              <a:buClr>
                <a:schemeClr val="dk2"/>
              </a:buClr>
              <a:buSzPts val="2800"/>
              <a:buChar char="●"/>
              <a:defRPr sz="2800">
                <a:solidFill>
                  <a:schemeClr val="dk2"/>
                </a:solidFill>
              </a:defRPr>
            </a:lvl7pPr>
            <a:lvl8pPr indent="-406400" lvl="7" marL="3657600">
              <a:lnSpc>
                <a:spcPct val="115000"/>
              </a:lnSpc>
              <a:spcBef>
                <a:spcPts val="0"/>
              </a:spcBef>
              <a:spcAft>
                <a:spcPts val="0"/>
              </a:spcAft>
              <a:buClr>
                <a:schemeClr val="dk2"/>
              </a:buClr>
              <a:buSzPts val="2800"/>
              <a:buChar char="○"/>
              <a:defRPr sz="2800">
                <a:solidFill>
                  <a:schemeClr val="dk2"/>
                </a:solidFill>
              </a:defRPr>
            </a:lvl8pPr>
            <a:lvl9pPr indent="-406400" lvl="8" marL="4114800">
              <a:lnSpc>
                <a:spcPct val="115000"/>
              </a:lnSpc>
              <a:spcBef>
                <a:spcPts val="0"/>
              </a:spcBef>
              <a:spcAft>
                <a:spcPts val="0"/>
              </a:spcAft>
              <a:buClr>
                <a:schemeClr val="dk2"/>
              </a:buClr>
              <a:buSzPts val="2800"/>
              <a:buChar char="■"/>
              <a:defRPr sz="2800">
                <a:solidFill>
                  <a:schemeClr val="dk2"/>
                </a:solidFill>
              </a:defRPr>
            </a:lvl9pPr>
          </a:lstStyle>
          <a:p/>
        </p:txBody>
      </p:sp>
      <p:sp>
        <p:nvSpPr>
          <p:cNvPr id="8" name="Google Shape;8;p1"/>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lvl="0" algn="r">
              <a:buNone/>
              <a:defRPr sz="2000">
                <a:solidFill>
                  <a:schemeClr val="dk2"/>
                </a:solidFill>
              </a:defRPr>
            </a:lvl1pPr>
            <a:lvl2pPr lvl="1" algn="r">
              <a:buNone/>
              <a:defRPr sz="2000">
                <a:solidFill>
                  <a:schemeClr val="dk2"/>
                </a:solidFill>
              </a:defRPr>
            </a:lvl2pPr>
            <a:lvl3pPr lvl="2" algn="r">
              <a:buNone/>
              <a:defRPr sz="2000">
                <a:solidFill>
                  <a:schemeClr val="dk2"/>
                </a:solidFill>
              </a:defRPr>
            </a:lvl3pPr>
            <a:lvl4pPr lvl="3" algn="r">
              <a:buNone/>
              <a:defRPr sz="2000">
                <a:solidFill>
                  <a:schemeClr val="dk2"/>
                </a:solidFill>
              </a:defRPr>
            </a:lvl4pPr>
            <a:lvl5pPr lvl="4" algn="r">
              <a:buNone/>
              <a:defRPr sz="2000">
                <a:solidFill>
                  <a:schemeClr val="dk2"/>
                </a:solidFill>
              </a:defRPr>
            </a:lvl5pPr>
            <a:lvl6pPr lvl="5" algn="r">
              <a:buNone/>
              <a:defRPr sz="2000">
                <a:solidFill>
                  <a:schemeClr val="dk2"/>
                </a:solidFill>
              </a:defRPr>
            </a:lvl6pPr>
            <a:lvl7pPr lvl="6" algn="r">
              <a:buNone/>
              <a:defRPr sz="2000">
                <a:solidFill>
                  <a:schemeClr val="dk2"/>
                </a:solidFill>
              </a:defRPr>
            </a:lvl7pPr>
            <a:lvl8pPr lvl="7" algn="r">
              <a:buNone/>
              <a:defRPr sz="2000">
                <a:solidFill>
                  <a:schemeClr val="dk2"/>
                </a:solidFill>
              </a:defRPr>
            </a:lvl8pPr>
            <a:lvl9pPr lvl="8" algn="r">
              <a:buNone/>
              <a:defRPr sz="2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4.png"/><Relationship Id="rId4" Type="http://schemas.openxmlformats.org/officeDocument/2006/relationships/notesSlide" Target="../notesSlides/notesSlide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5.png"/><Relationship Id="rId4" Type="http://schemas.openxmlformats.org/officeDocument/2006/relationships/notesSlide" Target="../notesSlides/notesSlide1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6.png"/><Relationship Id="rId4" Type="http://schemas.openxmlformats.org/officeDocument/2006/relationships/notesSlide" Target="../notesSlides/notesSlide2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7.png"/><Relationship Id="rId4" Type="http://schemas.openxmlformats.org/officeDocument/2006/relationships/notesSlide" Target="../notesSlides/notesSlide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8.png"/><Relationship Id="rId4" Type="http://schemas.openxmlformats.org/officeDocument/2006/relationships/notesSlide" Target="../notesSlides/notesSlide2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9.png"/><Relationship Id="rId4" Type="http://schemas.openxmlformats.org/officeDocument/2006/relationships/notesSlide" Target="../notesSlides/notesSlide3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0.png"/><Relationship Id="rId4" Type="http://schemas.openxmlformats.org/officeDocument/2006/relationships/notesSlide" Target="../notesSlides/notesSlide3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1.png"/><Relationship Id="rId4" Type="http://schemas.openxmlformats.org/officeDocument/2006/relationships/notesSlide" Target="../notesSlides/notesSlide3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2.png"/><Relationship Id="rId4" Type="http://schemas.openxmlformats.org/officeDocument/2006/relationships/notesSlide" Target="../notesSlides/notesSlide4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4.png"/><Relationship Id="rId4" Type="http://schemas.openxmlformats.org/officeDocument/2006/relationships/notesSlide" Target="../notesSlides/notesSlide5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56.xml"/></Relationships>
</file>

<file path=ppt/slides/slide2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563624" y="3246120"/>
            <a:ext cx="11338560" cy="2651760"/>
          </a:xfrm>
          <a:prstGeom prst="rect">
            <a:avLst/>
          </a:prstGeom>
          <a:noFill/>
        </p:spPr>
        <p:txBody>
          <a:bodyPr wrap="square" lIns="0" rIns="0" tIns="0" bIns="0" anchor="t">
            <a:spAutoFit/>
          </a:bodyPr>
          <a:lstStyle/>
          <a:p>
            <a:pPr algn="l">
              <a:lnSpc>
                <a:spcPct val="95000"/>
              </a:lnSpc>
            </a:pPr>
            <a:r>
              <a:rPr sz="4800" b="1">
                <a:solidFill>
                  <a:srgbClr val="FFFFFF"/>
                </a:solidFill>
                <a:latin typeface="Arial"/>
              </a:rPr>
              <a:t>Avances en IA y aprendizaje automático como herramientas de investigación</a:t>
            </a:r>
          </a:p>
        </p:txBody>
      </p:sp>
      <p:sp>
        <p:nvSpPr>
          <p:cNvPr id="3" name="TextBox 2"/>
          <p:cNvSpPr txBox="1"/>
          <p:nvPr/>
        </p:nvSpPr>
        <p:spPr>
          <a:xfrm>
            <a:off x="1563624" y="5897880"/>
            <a:ext cx="10972800" cy="822960"/>
          </a:xfrm>
          <a:prstGeom prst="rect">
            <a:avLst/>
          </a:prstGeom>
          <a:noFill/>
        </p:spPr>
        <p:txBody>
          <a:bodyPr wrap="square" lIns="0" rIns="0" tIns="0" bIns="0" anchor="t">
            <a:spAutoFit/>
          </a:bodyPr>
          <a:lstStyle/>
          <a:p>
            <a:pPr algn="l"/>
            <a:r>
              <a:rPr sz="2800" b="0">
                <a:solidFill>
                  <a:srgbClr val="FFFFFF"/>
                </a:solidFill>
                <a:latin typeface="Arial"/>
              </a:rPr>
              <a:t>¿Quién decide qué cuenta como </a:t>
            </a:r>
            <a:r>
              <a:rPr sz="2800" b="0">
                <a:solidFill>
                  <a:srgbClr val="F2A541"/>
                </a:solidFill>
                <a:latin typeface="Arial"/>
              </a:rPr>
              <a:t>mejor</a:t>
            </a:r>
            <a:r>
              <a:rPr sz="2800" b="0">
                <a:solidFill>
                  <a:srgbClr val="FFFFFF"/>
                </a:solidFill>
                <a:latin typeface="Arial"/>
              </a:rPr>
              <a:t>?</a:t>
            </a:r>
          </a:p>
        </p:txBody>
      </p:sp>
      <p:sp>
        <p:nvSpPr>
          <p:cNvPr id="4" name="TextBox 3"/>
          <p:cNvSpPr txBox="1"/>
          <p:nvPr/>
        </p:nvSpPr>
        <p:spPr>
          <a:xfrm>
            <a:off x="1563624" y="6812280"/>
            <a:ext cx="10972800" cy="457200"/>
          </a:xfrm>
          <a:prstGeom prst="rect">
            <a:avLst/>
          </a:prstGeom>
          <a:noFill/>
        </p:spPr>
        <p:txBody>
          <a:bodyPr wrap="square" lIns="0" rIns="0" tIns="0" bIns="0" anchor="t">
            <a:spAutoFit/>
          </a:bodyPr>
          <a:lstStyle/>
          <a:p>
            <a:pPr algn="l"/>
            <a:r>
              <a:rPr sz="2000" b="0">
                <a:solidFill>
                  <a:srgbClr val="CADCFC"/>
                </a:solidFill>
                <a:latin typeface="Arial"/>
              </a:rPr>
              <a:t>Juan David Martínez Vargas, Ph.D. · Universidad EAFIT · 15 de octubre de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GANCHO</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agente ya puede correr un ciclo de investigación toda la noche, sin nosotros</a:t>
            </a:r>
          </a:p>
        </p:txBody>
      </p:sp>
      <p:pic>
        <p:nvPicPr>
          <p:cNvPr id="4" name="Picture 3" descr="S01.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 · github.com/karpathy/autoresearch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MAPA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Seis ciclos, una forma: lo que cambia es quién juzga qué es «mejor»</a:t>
            </a:r>
          </a:p>
        </p:txBody>
      </p:sp>
      <p:graphicFrame>
        <p:nvGraphicFramePr>
          <p:cNvPr id="4" name="Table 3"/>
          <p:cNvGraphicFramePr>
            <a:graphicFrameLocks noGrp="1"/>
          </p:cNvGraphicFramePr>
          <p:nvPr/>
        </p:nvGraphicFramePr>
        <p:xfrm>
          <a:off x="1600200" y="3749039"/>
          <a:ext cx="14264639" cy="3584448"/>
        </p:xfrm>
        <a:graphic>
          <a:graphicData uri="http://schemas.openxmlformats.org/drawingml/2006/table">
            <a:tbl>
              <a:tblPr firstRow="1" bandRow="1">
                <a:tableStyleId>{5C22544A-7EE6-4342-B048-85BDC9FD1C3A}</a:tableStyleId>
              </a:tblPr>
              <a:tblGrid>
                <a:gridCol w="4422038"/>
                <a:gridCol w="5563209"/>
                <a:gridCol w="4279392"/>
              </a:tblGrid>
              <a:tr h="512064">
                <a:tc>
                  <a:txBody>
                    <a:bodyPr/>
                    <a:lstStyle/>
                    <a:p>
                      <a:r>
                        <a:rPr sz="2100" b="1">
                          <a:solidFill>
                            <a:srgbClr val="FFFFFF"/>
                          </a:solidFill>
                          <a:latin typeface="Arial"/>
                        </a:rPr>
                        <a:t>Parte</a:t>
                      </a:r>
                    </a:p>
                  </a:txBody>
                  <a:tcPr marL="137160" marR="137160" anchor="ctr">
                    <a:solidFill>
                      <a:srgbClr val="073763"/>
                    </a:solidFill>
                  </a:tcPr>
                </a:tc>
                <a:tc>
                  <a:txBody>
                    <a:bodyPr/>
                    <a:lstStyle/>
                    <a:p>
                      <a:r>
                        <a:rPr sz="2100" b="1">
                          <a:solidFill>
                            <a:srgbClr val="FFFFFF"/>
                          </a:solidFill>
                          <a:latin typeface="Arial"/>
                        </a:rPr>
                        <a:t>Ciclo</a:t>
                      </a:r>
                    </a:p>
                  </a:txBody>
                  <a:tcPr marL="137160" marR="137160" anchor="ctr">
                    <a:solidFill>
                      <a:srgbClr val="073763"/>
                    </a:solidFill>
                  </a:tcPr>
                </a:tc>
                <a:tc>
                  <a:txBody>
                    <a:bodyPr/>
                    <a:lstStyle/>
                    <a:p>
                      <a:r>
                        <a:rPr sz="2100" b="1">
                          <a:solidFill>
                            <a:srgbClr val="FFFFFF"/>
                          </a:solidFill>
                          <a:latin typeface="Arial"/>
                        </a:rPr>
                        <a:t>Juez</a:t>
                      </a:r>
                    </a:p>
                  </a:txBody>
                  <a:tcPr marL="137160" marR="137160" anchor="ctr">
                    <a:solidFill>
                      <a:srgbClr val="073763"/>
                    </a:solidFill>
                  </a:tcPr>
                </a:tc>
              </a:tr>
              <a:tr h="512064">
                <a:tc>
                  <a:txBody>
                    <a:bodyPr/>
                    <a:lstStyle/>
                    <a:p>
                      <a:r>
                        <a:rPr sz="2100" b="0">
                          <a:solidFill>
                            <a:srgbClr val="4A4F57"/>
                          </a:solidFill>
                          <a:latin typeface="Arial"/>
                        </a:rPr>
                        <a:t>1 · Preentrenamiento</a:t>
                      </a:r>
                    </a:p>
                  </a:txBody>
                  <a:tcPr marL="137160" marR="137160" anchor="ctr">
                    <a:solidFill>
                      <a:srgbClr val="EEF3FA"/>
                    </a:solidFill>
                  </a:tcPr>
                </a:tc>
                <a:tc>
                  <a:txBody>
                    <a:bodyPr/>
                    <a:lstStyle/>
                    <a:p>
                      <a:r>
                        <a:rPr sz="2100" b="0">
                          <a:solidFill>
                            <a:srgbClr val="4A4F57"/>
                          </a:solidFill>
                          <a:latin typeface="Arial"/>
                        </a:rPr>
                        <a:t>predecir → comparar → actualizar</a:t>
                      </a:r>
                    </a:p>
                  </a:txBody>
                  <a:tcPr marL="137160" marR="137160" anchor="ctr">
                    <a:solidFill>
                      <a:srgbClr val="EEF3FA"/>
                    </a:solidFill>
                  </a:tcPr>
                </a:tc>
                <a:tc>
                  <a:txBody>
                    <a:bodyPr/>
                    <a:lstStyle/>
                    <a:p>
                      <a:r>
                        <a:rPr sz="2100" b="0">
                          <a:solidFill>
                            <a:srgbClr val="A8600A"/>
                          </a:solidFill>
                          <a:latin typeface="Arial"/>
                        </a:rPr>
                        <a:t>el siguiente token</a:t>
                      </a:r>
                    </a:p>
                  </a:txBody>
                  <a:tcPr marL="137160" marR="137160" anchor="ctr">
                    <a:solidFill>
                      <a:srgbClr val="EEF3FA"/>
                    </a:solidFill>
                  </a:tcPr>
                </a:tc>
              </a:tr>
              <a:tr h="512064">
                <a:tc>
                  <a:txBody>
                    <a:bodyPr/>
                    <a:lstStyle/>
                    <a:p>
                      <a:r>
                        <a:rPr sz="2100" b="0">
                          <a:solidFill>
                            <a:srgbClr val="4A4F57"/>
                          </a:solidFill>
                          <a:latin typeface="Arial"/>
                        </a:rPr>
                        <a:t>1 · Alineación</a:t>
                      </a:r>
                    </a:p>
                  </a:txBody>
                  <a:tcPr marL="137160" marR="137160" anchor="ctr">
                    <a:solidFill>
                      <a:srgbClr val="FFFFFF"/>
                    </a:solidFill>
                  </a:tcPr>
                </a:tc>
                <a:tc>
                  <a:txBody>
                    <a:bodyPr/>
                    <a:lstStyle/>
                    <a:p>
                      <a:r>
                        <a:rPr sz="2100" b="0">
                          <a:solidFill>
                            <a:srgbClr val="4A4F57"/>
                          </a:solidFill>
                          <a:latin typeface="Arial"/>
                        </a:rPr>
                        <a:t>responder → juzgar → actualizar</a:t>
                      </a:r>
                    </a:p>
                  </a:txBody>
                  <a:tcPr marL="137160" marR="137160" anchor="ctr">
                    <a:solidFill>
                      <a:srgbClr val="FFFFFF"/>
                    </a:solidFill>
                  </a:tcPr>
                </a:tc>
                <a:tc>
                  <a:txBody>
                    <a:bodyPr/>
                    <a:lstStyle/>
                    <a:p>
                      <a:r>
                        <a:rPr sz="2100" b="0">
                          <a:solidFill>
                            <a:srgbClr val="A8600A"/>
                          </a:solidFill>
                          <a:latin typeface="Arial"/>
                        </a:rPr>
                        <a:t>las preferencias humanas</a:t>
                      </a:r>
                    </a:p>
                  </a:txBody>
                  <a:tcPr marL="137160" marR="137160" anchor="ctr">
                    <a:solidFill>
                      <a:srgbClr val="FFFFFF"/>
                    </a:solidFill>
                  </a:tcPr>
                </a:tc>
              </a:tr>
              <a:tr h="512064">
                <a:tc>
                  <a:txBody>
                    <a:bodyPr/>
                    <a:lstStyle/>
                    <a:p>
                      <a:r>
                        <a:rPr sz="2100" b="0">
                          <a:solidFill>
                            <a:srgbClr val="4A4F57"/>
                          </a:solidFill>
                          <a:latin typeface="Arial"/>
                        </a:rPr>
                        <a:t>1 · Razonamiento</a:t>
                      </a:r>
                    </a:p>
                  </a:txBody>
                  <a:tcPr marL="137160" marR="137160" anchor="ctr">
                    <a:solidFill>
                      <a:srgbClr val="EEF3FA"/>
                    </a:solidFill>
                  </a:tcPr>
                </a:tc>
                <a:tc>
                  <a:txBody>
                    <a:bodyPr/>
                    <a:lstStyle/>
                    <a:p>
                      <a:r>
                        <a:rPr sz="2100" b="0">
                          <a:solidFill>
                            <a:srgbClr val="4A4F57"/>
                          </a:solidFill>
                          <a:latin typeface="Arial"/>
                        </a:rPr>
                        <a:t>intentar → verificar → reforzar</a:t>
                      </a:r>
                    </a:p>
                  </a:txBody>
                  <a:tcPr marL="137160" marR="137160" anchor="ctr">
                    <a:solidFill>
                      <a:srgbClr val="EEF3FA"/>
                    </a:solidFill>
                  </a:tcPr>
                </a:tc>
                <a:tc>
                  <a:txBody>
                    <a:bodyPr/>
                    <a:lstStyle/>
                    <a:p>
                      <a:r>
                        <a:rPr sz="2100" b="0">
                          <a:solidFill>
                            <a:srgbClr val="A8600A"/>
                          </a:solidFill>
                          <a:latin typeface="Arial"/>
                        </a:rPr>
                        <a:t>un verificador</a:t>
                      </a:r>
                    </a:p>
                  </a:txBody>
                  <a:tcPr marL="137160" marR="137160" anchor="ctr">
                    <a:solidFill>
                      <a:srgbClr val="EEF3FA"/>
                    </a:solidFill>
                  </a:tcPr>
                </a:tc>
              </a:tr>
              <a:tr h="512064">
                <a:tc>
                  <a:txBody>
                    <a:bodyPr/>
                    <a:lstStyle/>
                    <a:p>
                      <a:r>
                        <a:rPr sz="2100" b="0">
                          <a:solidFill>
                            <a:srgbClr val="4A4F57"/>
                          </a:solidFill>
                          <a:latin typeface="Arial"/>
                        </a:rPr>
                        <a:t>2 · Agentes</a:t>
                      </a:r>
                    </a:p>
                  </a:txBody>
                  <a:tcPr marL="137160" marR="137160" anchor="ctr">
                    <a:solidFill>
                      <a:srgbClr val="FFFFFF"/>
                    </a:solidFill>
                  </a:tcPr>
                </a:tc>
                <a:tc>
                  <a:txBody>
                    <a:bodyPr/>
                    <a:lstStyle/>
                    <a:p>
                      <a:r>
                        <a:rPr sz="2100" b="0">
                          <a:solidFill>
                            <a:srgbClr val="4A4F57"/>
                          </a:solidFill>
                          <a:latin typeface="Arial"/>
                        </a:rPr>
                        <a:t>actuar → observar → ajustar</a:t>
                      </a:r>
                    </a:p>
                  </a:txBody>
                  <a:tcPr marL="137160" marR="137160" anchor="ctr">
                    <a:solidFill>
                      <a:srgbClr val="FFFFFF"/>
                    </a:solidFill>
                  </a:tcPr>
                </a:tc>
                <a:tc>
                  <a:txBody>
                    <a:bodyPr/>
                    <a:lstStyle/>
                    <a:p>
                      <a:r>
                        <a:rPr sz="2100" b="0">
                          <a:solidFill>
                            <a:srgbClr val="A8600A"/>
                          </a:solidFill>
                          <a:latin typeface="Arial"/>
                        </a:rPr>
                        <a:t>las herramientas</a:t>
                      </a:r>
                    </a:p>
                  </a:txBody>
                  <a:tcPr marL="137160" marR="137160" anchor="ctr">
                    <a:solidFill>
                      <a:srgbClr val="FFFFFF"/>
                    </a:solidFill>
                  </a:tcPr>
                </a:tc>
              </a:tr>
              <a:tr h="512064">
                <a:tc>
                  <a:txBody>
                    <a:bodyPr/>
                    <a:lstStyle/>
                    <a:p>
                      <a:r>
                        <a:rPr sz="2100" b="0">
                          <a:solidFill>
                            <a:srgbClr val="4A4F57"/>
                          </a:solidFill>
                          <a:latin typeface="Arial"/>
                        </a:rPr>
                        <a:t>3 · Harness</a:t>
                      </a:r>
                    </a:p>
                  </a:txBody>
                  <a:tcPr marL="137160" marR="137160" anchor="ctr">
                    <a:solidFill>
                      <a:srgbClr val="EEF3FA"/>
                    </a:solidFill>
                  </a:tcPr>
                </a:tc>
                <a:tc>
                  <a:txBody>
                    <a:bodyPr/>
                    <a:lstStyle/>
                    <a:p>
                      <a:r>
                        <a:rPr sz="2100" b="0">
                          <a:solidFill>
                            <a:srgbClr val="4A4F57"/>
                          </a:solidFill>
                          <a:latin typeface="Arial"/>
                        </a:rPr>
                        <a:t>instruir → ejecutar → revisar</a:t>
                      </a:r>
                    </a:p>
                  </a:txBody>
                  <a:tcPr marL="137160" marR="137160" anchor="ctr">
                    <a:solidFill>
                      <a:srgbClr val="EEF3FA"/>
                    </a:solidFill>
                  </a:tcPr>
                </a:tc>
                <a:tc>
                  <a:txBody>
                    <a:bodyPr/>
                    <a:lstStyle/>
                    <a:p>
                      <a:r>
                        <a:rPr sz="2100" b="0">
                          <a:solidFill>
                            <a:srgbClr val="A8600A"/>
                          </a:solidFill>
                          <a:latin typeface="Arial"/>
                        </a:rPr>
                        <a:t>tú, en reglas y checks</a:t>
                      </a:r>
                    </a:p>
                  </a:txBody>
                  <a:tcPr marL="137160" marR="137160" anchor="ctr">
                    <a:solidFill>
                      <a:srgbClr val="EEF3FA"/>
                    </a:solidFill>
                  </a:tcPr>
                </a:tc>
              </a:tr>
              <a:tr h="512064">
                <a:tc>
                  <a:txBody>
                    <a:bodyPr/>
                    <a:lstStyle/>
                    <a:p>
                      <a:r>
                        <a:rPr sz="2100" b="0">
                          <a:solidFill>
                            <a:srgbClr val="4A4F57"/>
                          </a:solidFill>
                          <a:latin typeface="Arial"/>
                        </a:rPr>
                        <a:t>4 · IA que investiga</a:t>
                      </a:r>
                    </a:p>
                  </a:txBody>
                  <a:tcPr marL="137160" marR="137160" anchor="ctr">
                    <a:solidFill>
                      <a:srgbClr val="FFFFFF"/>
                    </a:solidFill>
                  </a:tcPr>
                </a:tc>
                <a:tc>
                  <a:txBody>
                    <a:bodyPr/>
                    <a:lstStyle/>
                    <a:p>
                      <a:r>
                        <a:rPr sz="2100" b="0">
                          <a:solidFill>
                            <a:srgbClr val="4A4F57"/>
                          </a:solidFill>
                          <a:latin typeface="Arial"/>
                        </a:rPr>
                        <a:t>proponer → correr → ¿conservar?</a:t>
                      </a:r>
                    </a:p>
                  </a:txBody>
                  <a:tcPr marL="137160" marR="137160" anchor="ctr">
                    <a:solidFill>
                      <a:srgbClr val="FFFFFF"/>
                    </a:solidFill>
                  </a:tcPr>
                </a:tc>
                <a:tc>
                  <a:txBody>
                    <a:bodyPr/>
                    <a:lstStyle/>
                    <a:p>
                      <a:r>
                        <a:rPr sz="2100" b="1">
                          <a:solidFill>
                            <a:srgbClr val="A8600A"/>
                          </a:solidFill>
                          <a:latin typeface="Arial"/>
                        </a:rPr>
                        <a:t>tu métrica</a:t>
                      </a:r>
                    </a:p>
                  </a:txBody>
                  <a:tcPr marL="137160" marR="137160" anchor="ctr">
                    <a:solidFill>
                      <a:srgbClr val="FFFFFF"/>
                    </a:solidFill>
                  </a:tcPr>
                </a:tc>
              </a:tr>
            </a:tbl>
          </a:graphicData>
        </a:graphic>
      </p:graphicFrame>
      <p:sp>
        <p:nvSpPr>
          <p:cNvPr id="5" name="TextBox 4"/>
          <p:cNvSpPr txBox="1"/>
          <p:nvPr/>
        </p:nvSpPr>
        <p:spPr>
          <a:xfrm>
            <a:off x="1600200" y="7498079"/>
            <a:ext cx="11521440" cy="822960"/>
          </a:xfrm>
          <a:prstGeom prst="rect">
            <a:avLst/>
          </a:prstGeom>
          <a:noFill/>
        </p:spPr>
        <p:txBody>
          <a:bodyPr wrap="square" lIns="0" rIns="0" tIns="0" bIns="0" anchor="t">
            <a:spAutoFit/>
          </a:bodyPr>
          <a:lstStyle/>
          <a:p>
            <a:pPr algn="l"/>
            <a:r>
              <a:rPr sz="2300" b="1">
                <a:solidFill>
                  <a:srgbClr val="073763"/>
                </a:solidFill>
                <a:latin typeface="Arial"/>
              </a:rPr>
              <a:t>Cuando el juez pasa de los datos a ti, tu trabajo pasa de producir resultados a juzgarlos.</a:t>
            </a:r>
          </a:p>
        </p:txBody>
      </p:sp>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 · IA para la investigación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modelo de lenguaje son dos archivos: muchos números y un programa que los usa</a:t>
            </a:r>
          </a:p>
        </p:txBody>
      </p:sp>
      <p:sp>
        <p:nvSpPr>
          <p:cNvPr id="4" name="Rounded Rectangle 3"/>
          <p:cNvSpPr/>
          <p:nvPr/>
        </p:nvSpPr>
        <p:spPr>
          <a:xfrm>
            <a:off x="1600200" y="3886200"/>
            <a:ext cx="7383779"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3514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Los parámetros</a:t>
            </a:r>
          </a:p>
          <a:p>
            <a:pPr algn="l">
              <a:spcAft>
                <a:spcPts val="800"/>
              </a:spcAft>
            </a:pPr>
            <a:r>
              <a:rPr sz="2000" b="1">
                <a:solidFill>
                  <a:srgbClr val="A8600A"/>
                </a:solidFill>
                <a:latin typeface="Arial"/>
              </a:rPr>
              <a:t>405,000 millones de números</a:t>
            </a:r>
          </a:p>
          <a:p>
            <a:pPr algn="l">
              <a:spcAft>
                <a:spcPts val="800"/>
              </a:spcAft>
            </a:pPr>
            <a:r>
              <a:rPr sz="2000" b="0">
                <a:solidFill>
                  <a:srgbClr val="4A4F57"/>
                </a:solidFill>
                <a:latin typeface="Arial"/>
              </a:rPr>
              <a:t>En Llama 3.1 405B ocupan cientos de gigabytes. Ahí está todo lo que el modelo aprendió.</a:t>
            </a:r>
          </a:p>
        </p:txBody>
      </p:sp>
      <p:sp>
        <p:nvSpPr>
          <p:cNvPr id="6" name="Rounded Rectangle 5"/>
          <p:cNvSpPr/>
          <p:nvPr/>
        </p:nvSpPr>
        <p:spPr>
          <a:xfrm>
            <a:off x="9304019" y="3886200"/>
            <a:ext cx="7383779"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578340" y="4114800"/>
            <a:ext cx="683514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El programa</a:t>
            </a:r>
          </a:p>
          <a:p>
            <a:pPr algn="l">
              <a:spcAft>
                <a:spcPts val="800"/>
              </a:spcAft>
            </a:pPr>
            <a:r>
              <a:rPr sz="2000" b="1">
                <a:solidFill>
                  <a:srgbClr val="A8600A"/>
                </a:solidFill>
                <a:latin typeface="Arial"/>
              </a:rPr>
              <a:t>unos cientos de líneas</a:t>
            </a:r>
          </a:p>
          <a:p>
            <a:pPr algn="l">
              <a:spcAft>
                <a:spcPts val="800"/>
              </a:spcAft>
            </a:pPr>
            <a:r>
              <a:rPr sz="2000" b="0">
                <a:solidFill>
                  <a:srgbClr val="4A4F57"/>
                </a:solidFill>
                <a:latin typeface="Arial"/>
              </a:rPr>
              <a:t>Multiplica esos números con el texto de entrada para predecir qué viene después.</a:t>
            </a:r>
          </a:p>
        </p:txBody>
      </p:sp>
      <p:sp>
        <p:nvSpPr>
          <p:cNvPr id="8" name="TextBox 7"/>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Nadie escribió esos números a mano: salieron de entrenar el modelo con texto.</a:t>
            </a:r>
          </a:p>
        </p:txBody>
      </p:sp>
      <p:sp>
        <p:nvSpPr>
          <p:cNvPr id="9" name="TextBox 8"/>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 · Karpathy (2023), Intro to Large Language Models · Grattafiori et al. (2024), The Llama 3 Herd of Models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modelo no lee palabras: lee tokens, pedazos de texto con un número</a:t>
            </a:r>
          </a:p>
        </p:txBody>
      </p:sp>
      <p:pic>
        <p:nvPicPr>
          <p:cNvPr id="4" name="Picture 3" descr="TOK.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 · Tokenizador Tekken de Mistral (2024): 131,072 tokens en su vocabulario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Su único trabajo: dar una probabilidad a cada token posible</a:t>
            </a:r>
          </a:p>
        </p:txBody>
      </p:sp>
      <p:pic>
        <p:nvPicPr>
          <p:cNvPr id="4" name="Picture 3" descr="F03.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5 · IA para la investigación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Para escribir, repite: elige un token, lo agrega al texto y vuelve a predecir</a:t>
            </a:r>
          </a:p>
        </p:txBody>
      </p:sp>
      <p:pic>
        <p:nvPicPr>
          <p:cNvPr id="4" name="Picture 3" descr="MUES.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6 · IA para la investigación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Cada token se vuelve un vector: tokens con significado parecido quedan cerca</a:t>
            </a:r>
          </a:p>
        </p:txBody>
      </p:sp>
      <p:pic>
        <p:nvPicPr>
          <p:cNvPr id="4" name="Picture 3" descr="EMB.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7 · Mikolov et al. (2013) · posiciones ilustrativas en 2D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EL SIGUIENTE TOKEN</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Aprender es equivocarse menos: la pérdida mide qué tan sorprendido quedó el modelo</a:t>
            </a:r>
          </a:p>
        </p:txBody>
      </p:sp>
      <p:pic>
        <p:nvPicPr>
          <p:cNvPr id="5" name="Picture 4" descr="PERD.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8 · Pérdida de entropía cruzada: −log p(token correcto)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gradiente dice hacia dónde mover cada número para que la pérdida baje</a:t>
            </a:r>
          </a:p>
        </p:txBody>
      </p:sp>
      <p:pic>
        <p:nvPicPr>
          <p:cNvPr id="4" name="Picture 3" descr="GRAD.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9 · IA para la investigación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Entrenar es repetir ese paso millones de veces: el descenso por gradiente</a:t>
            </a:r>
          </a:p>
        </p:txBody>
      </p:sp>
      <p:pic>
        <p:nvPicPr>
          <p:cNvPr id="4" name="Picture 3" descr="DESC.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10 · IA para la investigación · descenso por gradiente calculado sobre una superficie de juguete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Lo mismo, a escala: miles de millones de números ajustados con billones de tokens</a:t>
            </a:r>
          </a:p>
        </p:txBody>
      </p:sp>
      <p:cxnSp>
        <p:nvCxnSpPr>
          <p:cNvPr id="4" name="Connector 3"/>
          <p:cNvCxnSpPr/>
          <p:nvPr/>
        </p:nvCxnSpPr>
        <p:spPr>
          <a:xfrm>
            <a:off x="160020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114800"/>
            <a:ext cx="4663440" cy="533400"/>
          </a:xfrm>
          <a:prstGeom prst="rect">
            <a:avLst/>
          </a:prstGeom>
          <a:noFill/>
        </p:spPr>
        <p:txBody>
          <a:bodyPr wrap="square" lIns="0" rIns="0" tIns="0" bIns="0" anchor="t">
            <a:spAutoFit/>
          </a:bodyPr>
          <a:lstStyle/>
          <a:p>
            <a:pPr algn="l">
              <a:lnSpc>
                <a:spcPct val="90000"/>
              </a:lnSpc>
            </a:pPr>
            <a:r>
              <a:rPr sz="4000" b="1">
                <a:solidFill>
                  <a:srgbClr val="073763"/>
                </a:solidFill>
                <a:latin typeface="Arial"/>
              </a:rPr>
              <a:t>405 mil millones</a:t>
            </a:r>
          </a:p>
        </p:txBody>
      </p:sp>
      <p:sp>
        <p:nvSpPr>
          <p:cNvPr id="6" name="TextBox 5"/>
          <p:cNvSpPr txBox="1"/>
          <p:nvPr/>
        </p:nvSpPr>
        <p:spPr>
          <a:xfrm>
            <a:off x="1600200" y="4739639"/>
            <a:ext cx="4663440" cy="1371600"/>
          </a:xfrm>
          <a:prstGeom prst="rect">
            <a:avLst/>
          </a:prstGeom>
          <a:noFill/>
        </p:spPr>
        <p:txBody>
          <a:bodyPr wrap="square" lIns="0" rIns="0" tIns="0" bIns="0" anchor="t">
            <a:spAutoFit/>
          </a:bodyPr>
          <a:lstStyle/>
          <a:p>
            <a:pPr algn="l"/>
            <a:r>
              <a:rPr sz="2000" b="0">
                <a:solidFill>
                  <a:srgbClr val="4A4F57"/>
                </a:solidFill>
                <a:latin typeface="Arial"/>
              </a:rPr>
              <a:t>parámetros en Llama 3.1 405B</a:t>
            </a:r>
          </a:p>
        </p:txBody>
      </p:sp>
      <p:cxnSp>
        <p:nvCxnSpPr>
          <p:cNvPr id="7" name="Connector 6"/>
          <p:cNvCxnSpPr/>
          <p:nvPr/>
        </p:nvCxnSpPr>
        <p:spPr>
          <a:xfrm>
            <a:off x="6812280" y="3886200"/>
            <a:ext cx="466344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12280" y="4114800"/>
            <a:ext cx="4663440" cy="533400"/>
          </a:xfrm>
          <a:prstGeom prst="rect">
            <a:avLst/>
          </a:prstGeom>
          <a:noFill/>
        </p:spPr>
        <p:txBody>
          <a:bodyPr wrap="square" lIns="0" rIns="0" tIns="0" bIns="0" anchor="t">
            <a:spAutoFit/>
          </a:bodyPr>
          <a:lstStyle/>
          <a:p>
            <a:pPr algn="l">
              <a:lnSpc>
                <a:spcPct val="90000"/>
              </a:lnSpc>
            </a:pPr>
            <a:r>
              <a:rPr sz="4000" b="1">
                <a:solidFill>
                  <a:srgbClr val="A8600A"/>
                </a:solidFill>
                <a:latin typeface="Arial"/>
              </a:rPr>
              <a:t>15.6 billones</a:t>
            </a:r>
          </a:p>
        </p:txBody>
      </p:sp>
      <p:sp>
        <p:nvSpPr>
          <p:cNvPr id="9" name="TextBox 8"/>
          <p:cNvSpPr txBox="1"/>
          <p:nvPr/>
        </p:nvSpPr>
        <p:spPr>
          <a:xfrm>
            <a:off x="6812280" y="4739639"/>
            <a:ext cx="4663440" cy="1371600"/>
          </a:xfrm>
          <a:prstGeom prst="rect">
            <a:avLst/>
          </a:prstGeom>
          <a:noFill/>
        </p:spPr>
        <p:txBody>
          <a:bodyPr wrap="square" lIns="0" rIns="0" tIns="0" bIns="0" anchor="t">
            <a:spAutoFit/>
          </a:bodyPr>
          <a:lstStyle/>
          <a:p>
            <a:pPr algn="l"/>
            <a:r>
              <a:rPr sz="2000" b="0">
                <a:solidFill>
                  <a:srgbClr val="4A4F57"/>
                </a:solidFill>
                <a:latin typeface="Arial"/>
              </a:rPr>
              <a:t>de tokens de texto en el preentrenamiento</a:t>
            </a:r>
          </a:p>
        </p:txBody>
      </p:sp>
      <p:cxnSp>
        <p:nvCxnSpPr>
          <p:cNvPr id="10" name="Connector 9"/>
          <p:cNvCxnSpPr/>
          <p:nvPr/>
        </p:nvCxnSpPr>
        <p:spPr>
          <a:xfrm>
            <a:off x="1202436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024360" y="4114800"/>
            <a:ext cx="4663440" cy="533400"/>
          </a:xfrm>
          <a:prstGeom prst="rect">
            <a:avLst/>
          </a:prstGeom>
          <a:noFill/>
        </p:spPr>
        <p:txBody>
          <a:bodyPr wrap="square" lIns="0" rIns="0" tIns="0" bIns="0" anchor="t">
            <a:spAutoFit/>
          </a:bodyPr>
          <a:lstStyle/>
          <a:p>
            <a:pPr algn="l">
              <a:lnSpc>
                <a:spcPct val="90000"/>
              </a:lnSpc>
            </a:pPr>
            <a:r>
              <a:rPr sz="4000" b="1">
                <a:solidFill>
                  <a:srgbClr val="073763"/>
                </a:solidFill>
                <a:latin typeface="Arial"/>
              </a:rPr>
              <a:t>3.8 × 10²⁵</a:t>
            </a:r>
          </a:p>
        </p:txBody>
      </p:sp>
      <p:sp>
        <p:nvSpPr>
          <p:cNvPr id="12" name="TextBox 11"/>
          <p:cNvSpPr txBox="1"/>
          <p:nvPr/>
        </p:nvSpPr>
        <p:spPr>
          <a:xfrm>
            <a:off x="12024360" y="4739639"/>
            <a:ext cx="4663440" cy="1371600"/>
          </a:xfrm>
          <a:prstGeom prst="rect">
            <a:avLst/>
          </a:prstGeom>
          <a:noFill/>
        </p:spPr>
        <p:txBody>
          <a:bodyPr wrap="square" lIns="0" rIns="0" tIns="0" bIns="0" anchor="t">
            <a:spAutoFit/>
          </a:bodyPr>
          <a:lstStyle/>
          <a:p>
            <a:pPr algn="l"/>
            <a:r>
              <a:rPr sz="2000" b="0">
                <a:solidFill>
                  <a:srgbClr val="4A4F57"/>
                </a:solidFill>
                <a:latin typeface="Arial"/>
              </a:rPr>
              <a:t>operaciones de punto flotante para entrenarlo</a:t>
            </a:r>
          </a:p>
        </p:txBody>
      </p:sp>
      <p:sp>
        <p:nvSpPr>
          <p:cNvPr id="13" name="TextBox 12"/>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11 · Grattafiori et al. (2024), The Llama 3 Herd of Models, Meta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Pero un token solo no basta: su sentido depende de los demás</a:t>
            </a:r>
          </a:p>
        </p:txBody>
      </p:sp>
      <p:sp>
        <p:nvSpPr>
          <p:cNvPr id="4" name="Rounded Rectangle 3"/>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«…porque estaba muy pesada»</a:t>
            </a:r>
          </a:p>
          <a:p>
            <a:pPr algn="l">
              <a:spcAft>
                <a:spcPts val="800"/>
              </a:spcAft>
            </a:pPr>
            <a:r>
              <a:rPr sz="2100" b="0">
                <a:solidFill>
                  <a:srgbClr val="4A4F57"/>
                </a:solidFill>
                <a:latin typeface="Arial"/>
              </a:rPr>
              <a:t>•  El robot no levantó la caja porque estaba muy pesada.</a:t>
            </a:r>
          </a:p>
          <a:p>
            <a:pPr algn="l">
              <a:spcAft>
                <a:spcPts val="800"/>
              </a:spcAft>
            </a:pPr>
            <a:r>
              <a:rPr sz="2100" b="0">
                <a:solidFill>
                  <a:srgbClr val="4A4F57"/>
                </a:solidFill>
                <a:latin typeface="Arial"/>
              </a:rPr>
              <a:t>•  «pesada» habla de la caja</a:t>
            </a:r>
          </a:p>
        </p:txBody>
      </p:sp>
      <p:sp>
        <p:nvSpPr>
          <p:cNvPr id="6" name="Rounded Rectangle 5"/>
          <p:cNvSpPr/>
          <p:nvPr/>
        </p:nvSpPr>
        <p:spPr>
          <a:xfrm>
            <a:off x="932688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«…porque estaba muy cansado»</a:t>
            </a:r>
          </a:p>
          <a:p>
            <a:pPr algn="l">
              <a:spcAft>
                <a:spcPts val="800"/>
              </a:spcAft>
            </a:pPr>
            <a:r>
              <a:rPr sz="2100" b="0">
                <a:solidFill>
                  <a:srgbClr val="4A4F57"/>
                </a:solidFill>
                <a:latin typeface="Arial"/>
              </a:rPr>
              <a:t>•  El robot no levantó la caja porque estaba muy cansado.</a:t>
            </a:r>
          </a:p>
          <a:p>
            <a:pPr algn="l">
              <a:spcAft>
                <a:spcPts val="800"/>
              </a:spcAft>
            </a:pPr>
            <a:r>
              <a:rPr sz="2100" b="0">
                <a:solidFill>
                  <a:srgbClr val="4A4F57"/>
                </a:solidFill>
                <a:latin typeface="Arial"/>
              </a:rPr>
              <a:t>•  «cansado» habla del robot</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12 · Ejemplo tipo Winograd · Levesque et al. (2012)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La atención deja que cada token decida a qué otros tokens mirar</a:t>
            </a:r>
          </a:p>
        </p:txBody>
      </p:sp>
      <p:pic>
        <p:nvPicPr>
          <p:cNvPr id="4" name="Picture 3" descr="S04.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13 · Vaswani et al. (2017), Attention Is All You Need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bloque transformer: la atención mezcla entre tokens; la red MLP trabaja cada uno</a:t>
            </a:r>
          </a:p>
        </p:txBody>
      </p:sp>
      <p:pic>
        <p:nvPicPr>
          <p:cNvPr id="4" name="Picture 3" descr="BLOQ.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14 · Vaswani et al. (2017)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Se apilan decenas de bloques; el vector del último token da las probabilidades</a:t>
            </a:r>
          </a:p>
        </p:txBody>
      </p:sp>
      <p:pic>
        <p:nvPicPr>
          <p:cNvPr id="4" name="Picture 3" descr="PILA.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15 · Llama 3.1 405B: 126 capas · Grattafiori et al.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Todo lo que el modelo ve está en su ventana de contexto: su memoria de trabajo</a:t>
            </a:r>
          </a:p>
        </p:txBody>
      </p:sp>
      <p:pic>
        <p:nvPicPr>
          <p:cNvPr id="4" name="Picture 3" descr="F16.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16 · Claude: 200,000 tokens de contexto · Anthropic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Leyes de escala: la pérdida baja de forma predecible con más parámetros y más datos</a:t>
            </a:r>
          </a:p>
        </p:txBody>
      </p:sp>
      <p:pic>
        <p:nvPicPr>
          <p:cNvPr id="4" name="Picture 3" descr="F17.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17 · Kaplan et al. (2020) · Hoffmann et al. (2022), Chinchilla: curvas calculadas con su ajuste publicado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EL SIGUIENTE TOKEN</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modelo preentrenado solo completa textos: no sigue instrucciones</a:t>
            </a:r>
          </a:p>
        </p:txBody>
      </p:sp>
      <p:sp>
        <p:nvSpPr>
          <p:cNvPr id="5" name="Rounded Rectangle 4"/>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Modelo base</a:t>
            </a:r>
          </a:p>
          <a:p>
            <a:pPr algn="l">
              <a:spcAft>
                <a:spcPts val="800"/>
              </a:spcAft>
            </a:pPr>
            <a:r>
              <a:rPr sz="2100" b="0">
                <a:solidFill>
                  <a:srgbClr val="4A4F57"/>
                </a:solidFill>
                <a:latin typeface="Arial"/>
              </a:rPr>
              <a:t>•  Tú: ¿Cuáles son las fases de la marcha?</a:t>
            </a:r>
          </a:p>
          <a:p>
            <a:pPr algn="l">
              <a:spcAft>
                <a:spcPts val="800"/>
              </a:spcAft>
            </a:pPr>
            <a:r>
              <a:rPr sz="2100" b="0">
                <a:solidFill>
                  <a:srgbClr val="4A4F57"/>
                </a:solidFill>
                <a:latin typeface="Arial"/>
              </a:rPr>
              <a:t>•  Modelo: ¿Cuáles son las fases de la carrera? ¿Qué músculos se activan en cada una? Responda en no más de…</a:t>
            </a:r>
          </a:p>
        </p:txBody>
      </p:sp>
      <p:sp>
        <p:nvSpPr>
          <p:cNvPr id="7" name="Rounded Rectangle 6"/>
          <p:cNvSpPr/>
          <p:nvPr/>
        </p:nvSpPr>
        <p:spPr>
          <a:xfrm>
            <a:off x="9326880" y="3886200"/>
            <a:ext cx="7360920" cy="356616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Lo que queremos</a:t>
            </a:r>
          </a:p>
          <a:p>
            <a:pPr algn="l">
              <a:spcAft>
                <a:spcPts val="800"/>
              </a:spcAft>
            </a:pPr>
            <a:r>
              <a:rPr sz="2100" b="0">
                <a:solidFill>
                  <a:srgbClr val="4A4F57"/>
                </a:solidFill>
                <a:latin typeface="Arial"/>
              </a:rPr>
              <a:t>•  Tú: ¿Cuáles son las fases de la marcha?</a:t>
            </a:r>
          </a:p>
          <a:p>
            <a:pPr algn="l">
              <a:spcAft>
                <a:spcPts val="800"/>
              </a:spcAft>
            </a:pPr>
            <a:r>
              <a:rPr sz="2100" b="0">
                <a:solidFill>
                  <a:srgbClr val="4A4F57"/>
                </a:solidFill>
                <a:latin typeface="Arial"/>
              </a:rPr>
              <a:t>•  Asistente: Dos: apoyo (~60% del ciclo) y balanceo (~40%)…</a:t>
            </a:r>
          </a:p>
        </p:txBody>
      </p:sp>
      <p:sp>
        <p:nvSpPr>
          <p:cNvPr id="9" name="TextBox 8"/>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18 · Ejemplo ilustrativo · Ouyang et al. (2022), InstructGPT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EJEMPLOS HUMANOS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Ajuste fino: se le muestran miles de conversaciones modelo escritas por personas</a:t>
            </a:r>
          </a:p>
        </p:txBody>
      </p:sp>
      <p:sp>
        <p:nvSpPr>
          <p:cNvPr id="5" name="Rounded Rectangle 4"/>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Qué ve</a:t>
            </a:r>
          </a:p>
          <a:p>
            <a:pPr algn="l">
              <a:spcAft>
                <a:spcPts val="800"/>
              </a:spcAft>
            </a:pPr>
            <a:r>
              <a:rPr sz="2000" b="0">
                <a:solidFill>
                  <a:srgbClr val="4A4F57"/>
                </a:solidFill>
                <a:latin typeface="Arial"/>
              </a:rPr>
              <a:t>Pares de instrucción y respuesta ideal, escritos o revisados por personas.</a:t>
            </a:r>
          </a:p>
        </p:txBody>
      </p:sp>
      <p:sp>
        <p:nvSpPr>
          <p:cNvPr id="7" name="Rounded Rectangle 6"/>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Qué aprende</a:t>
            </a:r>
          </a:p>
          <a:p>
            <a:pPr algn="l">
              <a:spcAft>
                <a:spcPts val="800"/>
              </a:spcAft>
            </a:pPr>
            <a:r>
              <a:rPr sz="2000" b="0">
                <a:solidFill>
                  <a:srgbClr val="4A4F57"/>
                </a:solidFill>
                <a:latin typeface="Arial"/>
              </a:rPr>
              <a:t>El formato y el rol: responder, seguir instrucciones, decir cuándo no sabe.</a:t>
            </a:r>
          </a:p>
        </p:txBody>
      </p:sp>
      <p:sp>
        <p:nvSpPr>
          <p:cNvPr id="9" name="Rounded Rectangle 8"/>
          <p:cNvSpPr/>
          <p:nvPr/>
        </p:nvSpPr>
        <p:spPr>
          <a:xfrm>
            <a:off x="1187196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Qué no aprende</a:t>
            </a:r>
          </a:p>
          <a:p>
            <a:pPr algn="l">
              <a:spcAft>
                <a:spcPts val="800"/>
              </a:spcAft>
            </a:pPr>
            <a:r>
              <a:rPr sz="2000" b="0">
                <a:solidFill>
                  <a:srgbClr val="4A4F57"/>
                </a:solidFill>
                <a:latin typeface="Arial"/>
              </a:rPr>
              <a:t>Conocimiento nuevo: casi todo viene del preentrenamiento.</a:t>
            </a:r>
          </a:p>
        </p:txBody>
      </p:sp>
      <p:sp>
        <p:nvSpPr>
          <p:cNvPr id="11" name="TextBox 10"/>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El juez ya no es el texto de internet: son ejemplos humanos de cómo responder.</a:t>
            </a:r>
          </a:p>
        </p:txBody>
      </p:sp>
      <p:sp>
        <p:nvSpPr>
          <p:cNvPr id="12" name="TextBox 11"/>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19 · Ouyang et al. (2022), InstructGPT · Zhou et al. (2023), LIMA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LAS PREFERENCIAS HUMANAS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RLHF: personas eligen la mejor de dos respuestas y el modelo aprende de esa elección</a:t>
            </a:r>
          </a:p>
        </p:txBody>
      </p:sp>
      <p:sp>
        <p:nvSpPr>
          <p:cNvPr id="5" name="Rounded Rectangle 4"/>
          <p:cNvSpPr/>
          <p:nvPr/>
        </p:nvSpPr>
        <p:spPr>
          <a:xfrm>
            <a:off x="160020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069080"/>
            <a:ext cx="3017520" cy="731520"/>
          </a:xfrm>
          <a:prstGeom prst="rect">
            <a:avLst/>
          </a:prstGeom>
          <a:noFill/>
        </p:spPr>
        <p:txBody>
          <a:bodyPr wrap="square" lIns="0" rIns="0" tIns="0" bIns="0" anchor="t">
            <a:spAutoFit/>
          </a:bodyPr>
          <a:lstStyle/>
          <a:p>
            <a:pPr algn="l"/>
            <a:r>
              <a:rPr sz="4400" b="1">
                <a:solidFill>
                  <a:srgbClr val="A8600A"/>
                </a:solidFill>
                <a:latin typeface="Arial"/>
              </a:rPr>
              <a:t>1</a:t>
            </a:r>
          </a:p>
        </p:txBody>
      </p:sp>
      <p:sp>
        <p:nvSpPr>
          <p:cNvPr id="7" name="TextBox 6"/>
          <p:cNvSpPr txBox="1"/>
          <p:nvPr/>
        </p:nvSpPr>
        <p:spPr>
          <a:xfrm>
            <a:off x="1874519"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El modelo escribe dos respuestas a la misma pregunta</a:t>
            </a:r>
          </a:p>
        </p:txBody>
      </p:sp>
      <p:sp>
        <p:nvSpPr>
          <p:cNvPr id="8" name="Rounded Rectangle 7"/>
          <p:cNvSpPr/>
          <p:nvPr/>
        </p:nvSpPr>
        <p:spPr>
          <a:xfrm>
            <a:off x="544068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71500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2</a:t>
            </a:r>
          </a:p>
        </p:txBody>
      </p:sp>
      <p:sp>
        <p:nvSpPr>
          <p:cNvPr id="10" name="TextBox 9"/>
          <p:cNvSpPr txBox="1"/>
          <p:nvPr/>
        </p:nvSpPr>
        <p:spPr>
          <a:xfrm>
            <a:off x="571500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Una persona elige la mejor</a:t>
            </a:r>
          </a:p>
        </p:txBody>
      </p:sp>
      <p:sp>
        <p:nvSpPr>
          <p:cNvPr id="11" name="Rounded Rectangle 10"/>
          <p:cNvSpPr/>
          <p:nvPr/>
        </p:nvSpPr>
        <p:spPr>
          <a:xfrm>
            <a:off x="928116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5548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3</a:t>
            </a:r>
          </a:p>
        </p:txBody>
      </p:sp>
      <p:sp>
        <p:nvSpPr>
          <p:cNvPr id="13" name="TextBox 12"/>
          <p:cNvSpPr txBox="1"/>
          <p:nvPr/>
        </p:nvSpPr>
        <p:spPr>
          <a:xfrm>
            <a:off x="955548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Un modelo de recompensa aprende a predecir esa elección</a:t>
            </a:r>
          </a:p>
        </p:txBody>
      </p:sp>
      <p:sp>
        <p:nvSpPr>
          <p:cNvPr id="14" name="Rounded Rectangle 13"/>
          <p:cNvSpPr/>
          <p:nvPr/>
        </p:nvSpPr>
        <p:spPr>
          <a:xfrm>
            <a:off x="1312164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39596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4</a:t>
            </a:r>
          </a:p>
        </p:txBody>
      </p:sp>
      <p:sp>
        <p:nvSpPr>
          <p:cNvPr id="16" name="TextBox 15"/>
          <p:cNvSpPr txBox="1"/>
          <p:nvPr/>
        </p:nvSpPr>
        <p:spPr>
          <a:xfrm>
            <a:off x="1339596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El modelo se ajusta para ganar más recompensa</a:t>
            </a:r>
          </a:p>
        </p:txBody>
      </p:sp>
      <p:sp>
        <p:nvSpPr>
          <p:cNvPr id="17" name="TextBox 16"/>
          <p:cNvSpPr txBox="1"/>
          <p:nvPr/>
        </p:nvSpPr>
        <p:spPr>
          <a:xfrm>
            <a:off x="1600200" y="6537960"/>
            <a:ext cx="11887200" cy="822960"/>
          </a:xfrm>
          <a:prstGeom prst="rect">
            <a:avLst/>
          </a:prstGeom>
          <a:noFill/>
        </p:spPr>
        <p:txBody>
          <a:bodyPr wrap="square" lIns="0" rIns="0" tIns="0" bIns="0" anchor="t">
            <a:spAutoFit/>
          </a:bodyPr>
          <a:lstStyle/>
          <a:p>
            <a:pPr algn="l"/>
            <a:r>
              <a:rPr sz="2200" b="1">
                <a:solidFill>
                  <a:srgbClr val="A8600A"/>
                </a:solidFill>
                <a:latin typeface="Arial"/>
              </a:rPr>
              <a:t>Moldea utilidad, tono y rechazos. No garantiza la verdad: premia lo que a la gente le parece mejor.</a:t>
            </a:r>
          </a:p>
        </p:txBody>
      </p:sp>
      <p:sp>
        <p:nvSpPr>
          <p:cNvPr id="18" name="TextBox 1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20 · Christiano et al. (2017) · Ouyang et al. (2022) · DPO: Rafailov et al. (2023)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UN VERIFICADOR</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Con un verificador como juez, los modelos aprendieron a razonar paso a paso</a:t>
            </a:r>
          </a:p>
        </p:txBody>
      </p:sp>
      <p:pic>
        <p:nvPicPr>
          <p:cNvPr id="5" name="Picture 4" descr="S06.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21 · DeepSeek-AI (2025), DeepSeek-R1 · simulación de juguete, calculada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UN VERIFICADOR, O UNA RÚBRICA</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Pensar más compra precisión; y sin verificador, el juez puede ser una rúbrica</a:t>
            </a:r>
          </a:p>
        </p:txBody>
      </p:sp>
      <p:sp>
        <p:nvSpPr>
          <p:cNvPr id="5" name="Rounded Rectangle 4"/>
          <p:cNvSpPr/>
          <p:nvPr/>
        </p:nvSpPr>
        <p:spPr>
          <a:xfrm>
            <a:off x="1600200" y="3886200"/>
            <a:ext cx="7383779"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683514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Pensar más</a:t>
            </a:r>
          </a:p>
          <a:p>
            <a:pPr algn="l">
              <a:spcAft>
                <a:spcPts val="800"/>
              </a:spcAft>
            </a:pPr>
            <a:r>
              <a:rPr sz="2000" b="0">
                <a:solidFill>
                  <a:srgbClr val="4A4F57"/>
                </a:solidFill>
                <a:latin typeface="Arial"/>
              </a:rPr>
              <a:t>Más tokens de razonamiento o más intentos con voto. Ayuda si el modelo ya es bueno en la tarea; si no, amplifica el error.</a:t>
            </a:r>
          </a:p>
        </p:txBody>
      </p:sp>
      <p:sp>
        <p:nvSpPr>
          <p:cNvPr id="7" name="Rounded Rectangle 6"/>
          <p:cNvSpPr/>
          <p:nvPr/>
        </p:nvSpPr>
        <p:spPr>
          <a:xfrm>
            <a:off x="9304019" y="3886200"/>
            <a:ext cx="7383779" cy="292608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78340" y="4114800"/>
            <a:ext cx="6835140" cy="256032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Sin respuesta única</a:t>
            </a:r>
          </a:p>
          <a:p>
            <a:pPr algn="l">
              <a:spcAft>
                <a:spcPts val="800"/>
              </a:spcAft>
            </a:pPr>
            <a:r>
              <a:rPr sz="2000" b="0">
                <a:solidFill>
                  <a:srgbClr val="4A4F57"/>
                </a:solidFill>
                <a:latin typeface="Arial"/>
              </a:rPr>
              <a:t>Un reporte de literatura no tiene verificador. DR Tulu entrena con rúbricas que evolucionan durante el entrenamiento, y le va mejor que con rúbricas fijas.</a:t>
            </a:r>
          </a:p>
        </p:txBody>
      </p:sp>
      <p:sp>
        <p:nvSpPr>
          <p:cNvPr id="9" name="TextBox 8"/>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El juez ya no solo evalúa: también entrena.</a:t>
            </a:r>
          </a:p>
        </p:txBody>
      </p:sp>
      <p:sp>
        <p:nvSpPr>
          <p:cNvPr id="10" name="TextBox 9"/>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22 · Snell et al. (2024) · Shao, Asai et al. (ICML 2026), DR Tulu · vía Asai (2026), CMU 11-768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Imágenes, audio y video también se vuelven tokens que lee el mismo transformer</a:t>
            </a:r>
          </a:p>
        </p:txBody>
      </p:sp>
      <p:pic>
        <p:nvPicPr>
          <p:cNvPr id="4" name="Picture 3" descr="S07.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23 · Dosovitskiy et al. (2021), ViT · imagen sintética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Casi todos probamos chatbots; muy pocos usamos agentes</a:t>
            </a:r>
          </a:p>
        </p:txBody>
      </p:sp>
      <p:cxnSp>
        <p:nvCxnSpPr>
          <p:cNvPr id="4" name="Connector 3"/>
          <p:cNvCxnSpPr/>
          <p:nvPr/>
        </p:nvCxnSpPr>
        <p:spPr>
          <a:xfrm>
            <a:off x="1600200" y="3886200"/>
            <a:ext cx="72694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114800"/>
            <a:ext cx="7269480" cy="1733550"/>
          </a:xfrm>
          <a:prstGeom prst="rect">
            <a:avLst/>
          </a:prstGeom>
          <a:noFill/>
        </p:spPr>
        <p:txBody>
          <a:bodyPr wrap="square" lIns="0" rIns="0" tIns="0" bIns="0" anchor="t">
            <a:spAutoFit/>
          </a:bodyPr>
          <a:lstStyle/>
          <a:p>
            <a:pPr algn="l">
              <a:lnSpc>
                <a:spcPct val="90000"/>
              </a:lnSpc>
            </a:pPr>
            <a:r>
              <a:rPr sz="13000" b="1">
                <a:solidFill>
                  <a:srgbClr val="073763"/>
                </a:solidFill>
                <a:latin typeface="Arial"/>
              </a:rPr>
              <a:t>81%</a:t>
            </a:r>
          </a:p>
        </p:txBody>
      </p:sp>
      <p:sp>
        <p:nvSpPr>
          <p:cNvPr id="6" name="TextBox 5"/>
          <p:cNvSpPr txBox="1"/>
          <p:nvPr/>
        </p:nvSpPr>
        <p:spPr>
          <a:xfrm>
            <a:off x="1600200" y="5939790"/>
            <a:ext cx="7269480" cy="1371600"/>
          </a:xfrm>
          <a:prstGeom prst="rect">
            <a:avLst/>
          </a:prstGeom>
          <a:noFill/>
        </p:spPr>
        <p:txBody>
          <a:bodyPr wrap="square" lIns="0" rIns="0" tIns="0" bIns="0" anchor="t">
            <a:spAutoFit/>
          </a:bodyPr>
          <a:lstStyle/>
          <a:p>
            <a:pPr algn="l"/>
            <a:r>
              <a:rPr sz="2400" b="0">
                <a:solidFill>
                  <a:srgbClr val="4A4F57"/>
                </a:solidFill>
                <a:latin typeface="Arial"/>
              </a:rPr>
              <a:t>probó chatbots de IA para investigar</a:t>
            </a:r>
          </a:p>
        </p:txBody>
      </p:sp>
      <p:cxnSp>
        <p:nvCxnSpPr>
          <p:cNvPr id="7" name="Connector 6"/>
          <p:cNvCxnSpPr/>
          <p:nvPr/>
        </p:nvCxnSpPr>
        <p:spPr>
          <a:xfrm>
            <a:off x="9418320" y="3886200"/>
            <a:ext cx="726948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418320" y="4114800"/>
            <a:ext cx="7269480" cy="1733550"/>
          </a:xfrm>
          <a:prstGeom prst="rect">
            <a:avLst/>
          </a:prstGeom>
          <a:noFill/>
        </p:spPr>
        <p:txBody>
          <a:bodyPr wrap="square" lIns="0" rIns="0" tIns="0" bIns="0" anchor="t">
            <a:spAutoFit/>
          </a:bodyPr>
          <a:lstStyle/>
          <a:p>
            <a:pPr algn="l">
              <a:lnSpc>
                <a:spcPct val="90000"/>
              </a:lnSpc>
            </a:pPr>
            <a:r>
              <a:rPr sz="13000" b="1">
                <a:solidFill>
                  <a:srgbClr val="A8600A"/>
                </a:solidFill>
                <a:latin typeface="Arial"/>
              </a:rPr>
              <a:t>20%</a:t>
            </a:r>
          </a:p>
        </p:txBody>
      </p:sp>
      <p:sp>
        <p:nvSpPr>
          <p:cNvPr id="9" name="TextBox 8"/>
          <p:cNvSpPr txBox="1"/>
          <p:nvPr/>
        </p:nvSpPr>
        <p:spPr>
          <a:xfrm>
            <a:off x="9418320" y="5939790"/>
            <a:ext cx="7269480" cy="1371600"/>
          </a:xfrm>
          <a:prstGeom prst="rect">
            <a:avLst/>
          </a:prstGeom>
          <a:noFill/>
        </p:spPr>
        <p:txBody>
          <a:bodyPr wrap="square" lIns="0" rIns="0" tIns="0" bIns="0" anchor="t">
            <a:spAutoFit/>
          </a:bodyPr>
          <a:lstStyle/>
          <a:p>
            <a:pPr algn="l"/>
            <a:r>
              <a:rPr sz="2400" b="0">
                <a:solidFill>
                  <a:srgbClr val="4A4F57"/>
                </a:solidFill>
                <a:latin typeface="Arial"/>
              </a:rPr>
              <a:t>usa agentes de código más de una vez por semana</a:t>
            </a:r>
          </a:p>
        </p:txBody>
      </p:sp>
      <p:sp>
        <p:nvSpPr>
          <p:cNvPr id="10" name="TextBox 9"/>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24 · Lyttelton, Massenkoff y Wilmers (2026), encuesta a 1,260 científicos sociales · muestra no representativa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Qué cambió: un LLM responde una vez; un agente actúa, mira el resultado y sigue</a:t>
            </a:r>
          </a:p>
        </p:txBody>
      </p:sp>
      <p:sp>
        <p:nvSpPr>
          <p:cNvPr id="4" name="Rounded Rectangle 3"/>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Chat</a:t>
            </a:r>
          </a:p>
          <a:p>
            <a:pPr algn="l">
              <a:spcAft>
                <a:spcPts val="800"/>
              </a:spcAft>
            </a:pPr>
            <a:r>
              <a:rPr sz="2100" b="0">
                <a:solidFill>
                  <a:srgbClr val="4A4F57"/>
                </a:solidFill>
                <a:latin typeface="Arial"/>
              </a:rPr>
              <a:t>•  Recibe una pregunta y da una respuesta</a:t>
            </a:r>
          </a:p>
          <a:p>
            <a:pPr algn="l">
              <a:spcAft>
                <a:spcPts val="800"/>
              </a:spcAft>
            </a:pPr>
            <a:r>
              <a:rPr sz="2100" b="0">
                <a:solidFill>
                  <a:srgbClr val="4A4F57"/>
                </a:solidFill>
                <a:latin typeface="Arial"/>
              </a:rPr>
              <a:t>•  Solo sabe lo que está en el contexto</a:t>
            </a:r>
          </a:p>
          <a:p>
            <a:pPr algn="l">
              <a:spcAft>
                <a:spcPts val="800"/>
              </a:spcAft>
            </a:pPr>
            <a:r>
              <a:rPr sz="2100" b="0">
                <a:solidFill>
                  <a:srgbClr val="4A4F57"/>
                </a:solidFill>
                <a:latin typeface="Arial"/>
              </a:rPr>
              <a:t>•  Tú corres el código y le pegas el error</a:t>
            </a:r>
          </a:p>
          <a:p>
            <a:pPr algn="l">
              <a:spcAft>
                <a:spcPts val="800"/>
              </a:spcAft>
            </a:pPr>
            <a:r>
              <a:rPr sz="2100" b="0">
                <a:solidFill>
                  <a:srgbClr val="4A4F57"/>
                </a:solidFill>
                <a:latin typeface="Arial"/>
              </a:rPr>
              <a:t>•  Termina cuando responde</a:t>
            </a:r>
          </a:p>
        </p:txBody>
      </p:sp>
      <p:sp>
        <p:nvSpPr>
          <p:cNvPr id="6" name="Rounded Rectangle 5"/>
          <p:cNvSpPr/>
          <p:nvPr/>
        </p:nvSpPr>
        <p:spPr>
          <a:xfrm>
            <a:off x="9326880" y="3886200"/>
            <a:ext cx="7360920" cy="356616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Agente</a:t>
            </a:r>
          </a:p>
          <a:p>
            <a:pPr algn="l">
              <a:spcAft>
                <a:spcPts val="800"/>
              </a:spcAft>
            </a:pPr>
            <a:r>
              <a:rPr sz="2100" b="0">
                <a:solidFill>
                  <a:srgbClr val="4A4F57"/>
                </a:solidFill>
                <a:latin typeface="Arial"/>
              </a:rPr>
              <a:t>•  Recibe una meta</a:t>
            </a:r>
          </a:p>
          <a:p>
            <a:pPr algn="l">
              <a:spcAft>
                <a:spcPts val="800"/>
              </a:spcAft>
            </a:pPr>
            <a:r>
              <a:rPr sz="2100" b="0">
                <a:solidFill>
                  <a:srgbClr val="4A4F57"/>
                </a:solidFill>
                <a:latin typeface="Arial"/>
              </a:rPr>
              <a:t>•  Busca, lee archivos y corre código por su cuenta</a:t>
            </a:r>
          </a:p>
          <a:p>
            <a:pPr algn="l">
              <a:spcAft>
                <a:spcPts val="800"/>
              </a:spcAft>
            </a:pPr>
            <a:r>
              <a:rPr sz="2100" b="0">
                <a:solidFill>
                  <a:srgbClr val="4A4F57"/>
                </a:solidFill>
                <a:latin typeface="Arial"/>
              </a:rPr>
              <a:t>•  Ve cada resultado y decide el paso siguiente</a:t>
            </a:r>
          </a:p>
          <a:p>
            <a:pPr algn="l">
              <a:spcAft>
                <a:spcPts val="800"/>
              </a:spcAft>
            </a:pPr>
            <a:r>
              <a:rPr sz="2100" b="0">
                <a:solidFill>
                  <a:srgbClr val="4A4F57"/>
                </a:solidFill>
                <a:latin typeface="Arial"/>
              </a:rPr>
              <a:t>•  Termina cuando la tarea está hecha</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25 · IA para la investigación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Tres cosas nuevas: herramientas, estado y muchos pasos</a:t>
            </a:r>
          </a:p>
        </p:txBody>
      </p:sp>
      <p:sp>
        <p:nvSpPr>
          <p:cNvPr id="4" name="Rounded Rectangle 3"/>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Herramientas</a:t>
            </a:r>
          </a:p>
          <a:p>
            <a:pPr algn="l">
              <a:spcAft>
                <a:spcPts val="800"/>
              </a:spcAft>
            </a:pPr>
            <a:r>
              <a:rPr sz="2000" b="0">
                <a:solidFill>
                  <a:srgbClr val="4A4F57"/>
                </a:solidFill>
                <a:latin typeface="Arial"/>
              </a:rPr>
              <a:t>Búsqueda, código, archivos, bases de datos. El modelo pide una acción y recibe el resultado.</a:t>
            </a:r>
          </a:p>
        </p:txBody>
      </p:sp>
      <p:sp>
        <p:nvSpPr>
          <p:cNvPr id="6" name="Rounded Rectangle 5"/>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Estado</a:t>
            </a:r>
          </a:p>
          <a:p>
            <a:pPr algn="l">
              <a:spcAft>
                <a:spcPts val="800"/>
              </a:spcAft>
            </a:pPr>
            <a:r>
              <a:rPr sz="2000" b="0">
                <a:solidFill>
                  <a:srgbClr val="4A4F57"/>
                </a:solidFill>
                <a:latin typeface="Arial"/>
              </a:rPr>
              <a:t>Un plan, notas y archivos que sobreviven entre pasos, fuera de la ventana de contexto.</a:t>
            </a:r>
          </a:p>
        </p:txBody>
      </p:sp>
      <p:sp>
        <p:nvSpPr>
          <p:cNvPr id="8" name="Rounded Rectangle 7"/>
          <p:cNvSpPr/>
          <p:nvPr/>
        </p:nvSpPr>
        <p:spPr>
          <a:xfrm>
            <a:off x="1187196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Muchos pasos</a:t>
            </a:r>
          </a:p>
          <a:p>
            <a:pPr algn="l">
              <a:spcAft>
                <a:spcPts val="800"/>
              </a:spcAft>
            </a:pPr>
            <a:r>
              <a:rPr sz="2000" b="0">
                <a:solidFill>
                  <a:srgbClr val="4A4F57"/>
                </a:solidFill>
                <a:latin typeface="Arial"/>
              </a:rPr>
              <a:t>Decenas o cientos de llamadas para una sola tarea, sin que tú intervengas en cada una.</a:t>
            </a:r>
          </a:p>
        </p:txBody>
      </p:sp>
      <p:sp>
        <p:nvSpPr>
          <p:cNvPr id="10" name="TextBox 9"/>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El mismo modelo de la Parte 1. Lo nuevo está alrededor: eso es el harness de la Parte 3.</a:t>
            </a:r>
          </a:p>
        </p:txBody>
      </p:sp>
      <p:sp>
        <p:nvSpPr>
          <p:cNvPr id="11" name="TextBox 10"/>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26 · IA para la investigación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Una herramienta es texto: el modelo escribe la llamada y el programa la ejecuta</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700" b="0">
                <a:solidFill>
                  <a:srgbClr val="8A96A8"/>
                </a:solidFill>
                <a:latin typeface="Courier New"/>
              </a:rPr>
              <a:t>usuario  </a:t>
            </a:r>
            <a:r>
              <a:rPr sz="1700" b="0">
                <a:solidFill>
                  <a:srgbClr val="DFE6EE"/>
                </a:solidFill>
                <a:latin typeface="Courier New"/>
              </a:rPr>
              <a:t>¿Qué controladores usan los exoesqueletos de rodilla tras un ACV?</a:t>
            </a:r>
          </a:p>
          <a:p>
            <a:pPr algn="l">
              <a:lnSpc>
                <a:spcPct val="105000"/>
              </a:lnSpc>
            </a:pPr>
            <a:r>
              <a:rPr sz="1700" b="0">
                <a:solidFill>
                  <a:srgbClr val="DFE6EE"/>
                </a:solidFill>
                <a:latin typeface="Courier New"/>
              </a:rPr>
              <a:t> </a:t>
            </a:r>
          </a:p>
          <a:p>
            <a:pPr algn="l">
              <a:lnSpc>
                <a:spcPct val="105000"/>
              </a:lnSpc>
            </a:pPr>
            <a:r>
              <a:rPr sz="1700" b="0">
                <a:solidFill>
                  <a:srgbClr val="8A96A8"/>
                </a:solidFill>
                <a:latin typeface="Courier New"/>
              </a:rPr>
              <a:t>modelo   </a:t>
            </a:r>
            <a:r>
              <a:rPr sz="1700" b="0">
                <a:solidFill>
                  <a:srgbClr val="5FA8D3"/>
                </a:solidFill>
                <a:latin typeface="Courier New"/>
              </a:rPr>
              <a:t>&lt;pensar&gt; Necesito ensayos con pacientes, no simulaciones &lt;/pensar&gt;</a:t>
            </a:r>
          </a:p>
          <a:p>
            <a:pPr algn="l">
              <a:lnSpc>
                <a:spcPct val="105000"/>
              </a:lnSpc>
            </a:pPr>
            <a:r>
              <a:rPr sz="1700" b="0">
                <a:solidFill>
                  <a:srgbClr val="8A96A8"/>
                </a:solidFill>
                <a:latin typeface="Courier New"/>
              </a:rPr>
              <a:t>modelo   </a:t>
            </a:r>
            <a:r>
              <a:rPr sz="1700" b="0">
                <a:solidFill>
                  <a:srgbClr val="5FA8D3"/>
                </a:solidFill>
                <a:latin typeface="Courier New"/>
              </a:rPr>
              <a:t>&lt;buscar&gt; "exoesqueleto rodilla ACV control ensayo" &lt;/buscar&gt;</a:t>
            </a:r>
          </a:p>
          <a:p>
            <a:pPr algn="l">
              <a:lnSpc>
                <a:spcPct val="105000"/>
              </a:lnSpc>
            </a:pPr>
            <a:r>
              <a:rPr sz="1700" b="0">
                <a:solidFill>
                  <a:srgbClr val="DFE6EE"/>
                </a:solidFill>
                <a:latin typeface="Courier New"/>
              </a:rPr>
              <a:t> </a:t>
            </a:r>
          </a:p>
          <a:p>
            <a:pPr algn="l">
              <a:lnSpc>
                <a:spcPct val="105000"/>
              </a:lnSpc>
            </a:pPr>
            <a:r>
              <a:rPr sz="1700" b="0">
                <a:solidFill>
                  <a:srgbClr val="8A96A8"/>
                </a:solidFill>
                <a:latin typeface="Courier New"/>
              </a:rPr>
              <a:t>programa </a:t>
            </a:r>
            <a:r>
              <a:rPr sz="1700" b="0">
                <a:solidFill>
                  <a:srgbClr val="8A96A8"/>
                </a:solidFill>
                <a:latin typeface="Courier New"/>
              </a:rPr>
              <a:t>[1] Ensayo con 24 pacientes, control por impedancia…</a:t>
            </a:r>
          </a:p>
          <a:p>
            <a:pPr algn="l">
              <a:lnSpc>
                <a:spcPct val="105000"/>
              </a:lnSpc>
            </a:pPr>
            <a:r>
              <a:rPr sz="1700" b="0">
                <a:solidFill>
                  <a:srgbClr val="8A96A8"/>
                </a:solidFill>
                <a:latin typeface="Courier New"/>
              </a:rPr>
              <a:t>programa </a:t>
            </a:r>
            <a:r>
              <a:rPr sz="1700" b="0">
                <a:solidFill>
                  <a:srgbClr val="8A96A8"/>
                </a:solidFill>
                <a:latin typeface="Courier New"/>
              </a:rPr>
              <a:t>[2] Simulación musculoesquelética, sin pacientes…</a:t>
            </a:r>
          </a:p>
          <a:p>
            <a:pPr algn="l">
              <a:lnSpc>
                <a:spcPct val="105000"/>
              </a:lnSpc>
            </a:pPr>
            <a:r>
              <a:rPr sz="1700" b="0">
                <a:solidFill>
                  <a:srgbClr val="DFE6EE"/>
                </a:solidFill>
                <a:latin typeface="Courier New"/>
              </a:rPr>
              <a:t> </a:t>
            </a:r>
          </a:p>
          <a:p>
            <a:pPr algn="l">
              <a:lnSpc>
                <a:spcPct val="105000"/>
              </a:lnSpc>
            </a:pPr>
            <a:r>
              <a:rPr sz="1700" b="0">
                <a:solidFill>
                  <a:srgbClr val="8A96A8"/>
                </a:solidFill>
                <a:latin typeface="Courier New"/>
              </a:rPr>
              <a:t>modelo   </a:t>
            </a:r>
            <a:r>
              <a:rPr sz="1700" b="0">
                <a:solidFill>
                  <a:srgbClr val="5FA8D3"/>
                </a:solidFill>
                <a:latin typeface="Courier New"/>
              </a:rPr>
              <a:t>&lt;pensar&gt; [2] no tiene pacientes: lo descarto. Abro [1] &lt;/pensar&gt;</a:t>
            </a:r>
          </a:p>
          <a:p>
            <a:pPr algn="l">
              <a:lnSpc>
                <a:spcPct val="105000"/>
              </a:lnSpc>
            </a:pPr>
            <a:r>
              <a:rPr sz="1700" b="0">
                <a:solidFill>
                  <a:srgbClr val="8A96A8"/>
                </a:solidFill>
                <a:latin typeface="Courier New"/>
              </a:rPr>
              <a:t>modelo   </a:t>
            </a:r>
            <a:r>
              <a:rPr sz="1700" b="0">
                <a:solidFill>
                  <a:srgbClr val="5FA8D3"/>
                </a:solidFill>
                <a:latin typeface="Courier New"/>
              </a:rPr>
              <a:t>&lt;abrir&gt; [1] &lt;/abrir&gt;</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Azul</a:t>
            </a:r>
          </a:p>
          <a:p>
            <a:pPr algn="l">
              <a:spcAft>
                <a:spcPts val="600"/>
              </a:spcAft>
            </a:pPr>
            <a:r>
              <a:rPr sz="1800" b="0">
                <a:solidFill>
                  <a:srgbClr val="4A4F57"/>
                </a:solidFill>
                <a:latin typeface="Arial"/>
              </a:rPr>
              <a:t>lo escribe el modelo</a:t>
            </a:r>
          </a:p>
          <a:p>
            <a:pPr algn="l">
              <a:spcAft>
                <a:spcPts val="600"/>
              </a:spcAft>
            </a:pPr>
            <a:r>
              <a:rPr sz="2100" b="1">
                <a:solidFill>
                  <a:srgbClr val="A8600A"/>
                </a:solidFill>
                <a:latin typeface="Arial"/>
              </a:rPr>
              <a:t>Gris</a:t>
            </a:r>
          </a:p>
          <a:p>
            <a:pPr algn="l">
              <a:spcAft>
                <a:spcPts val="600"/>
              </a:spcAft>
            </a:pPr>
            <a:r>
              <a:rPr sz="1800" b="0">
                <a:solidFill>
                  <a:srgbClr val="4A4F57"/>
                </a:solidFill>
                <a:latin typeface="Arial"/>
              </a:rPr>
              <a:t>lo pone el programa: la pregunta y los resultados</a:t>
            </a:r>
          </a:p>
          <a:p>
            <a:pPr algn="l">
              <a:spcAft>
                <a:spcPts val="600"/>
              </a:spcAft>
            </a:pPr>
            <a:r>
              <a:rPr sz="2100" b="1">
                <a:solidFill>
                  <a:srgbClr val="A8600A"/>
                </a:solidFill>
                <a:latin typeface="Arial"/>
              </a:rPr>
              <a:t>El juez</a:t>
            </a:r>
          </a:p>
          <a:p>
            <a:pPr algn="l">
              <a:spcAft>
                <a:spcPts val="600"/>
              </a:spcAft>
            </a:pPr>
            <a:r>
              <a:rPr sz="1800" b="0">
                <a:solidFill>
                  <a:srgbClr val="4A4F57"/>
                </a:solidFill>
                <a:latin typeface="Arial"/>
              </a:rPr>
              <a:t>cada resultado decide el siguiente paso</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27 · Patrón ReAct: Yao et al. (2023) · traza ilustrativa · formato según Asai (2026), CMU 11-768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LAS HERRAMIENTAS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agente cierra el ciclo con el mundo: las herramientas le responden</a:t>
            </a:r>
          </a:p>
        </p:txBody>
      </p:sp>
      <p:pic>
        <p:nvPicPr>
          <p:cNvPr id="5" name="Picture 4" descr="S09.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28 · Yao et al. (2023), ReAct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Por qué ahora: los modelos se entrenan para usar herramientas, no solo para conversar</a:t>
            </a:r>
          </a:p>
        </p:txBody>
      </p:sp>
      <p:cxnSp>
        <p:nvCxnSpPr>
          <p:cNvPr id="4" name="Connector 3"/>
          <p:cNvCxnSpPr/>
          <p:nvPr/>
        </p:nvCxnSpPr>
        <p:spPr>
          <a:xfrm>
            <a:off x="1600200" y="4069080"/>
            <a:ext cx="34975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297680"/>
            <a:ext cx="3497580" cy="822960"/>
          </a:xfrm>
          <a:prstGeom prst="rect">
            <a:avLst/>
          </a:prstGeom>
          <a:noFill/>
        </p:spPr>
        <p:txBody>
          <a:bodyPr wrap="square" lIns="0" rIns="0" tIns="0" bIns="0" anchor="t">
            <a:spAutoFit/>
          </a:bodyPr>
          <a:lstStyle/>
          <a:p>
            <a:pPr algn="l"/>
            <a:r>
              <a:rPr sz="4000" b="1">
                <a:solidFill>
                  <a:srgbClr val="073763"/>
                </a:solidFill>
                <a:latin typeface="Arial"/>
              </a:rPr>
              <a:t>2022</a:t>
            </a:r>
          </a:p>
        </p:txBody>
      </p:sp>
      <p:sp>
        <p:nvSpPr>
          <p:cNvPr id="6" name="TextBox 5"/>
          <p:cNvSpPr txBox="1"/>
          <p:nvPr/>
        </p:nvSpPr>
        <p:spPr>
          <a:xfrm>
            <a:off x="1600200" y="5212080"/>
            <a:ext cx="3497580" cy="2194560"/>
          </a:xfrm>
          <a:prstGeom prst="rect">
            <a:avLst/>
          </a:prstGeom>
          <a:noFill/>
        </p:spPr>
        <p:txBody>
          <a:bodyPr wrap="square" lIns="0" rIns="0" tIns="0" bIns="0" anchor="t">
            <a:spAutoFit/>
          </a:bodyPr>
          <a:lstStyle/>
          <a:p>
            <a:pPr algn="l"/>
            <a:r>
              <a:rPr sz="2100" b="0">
                <a:solidFill>
                  <a:srgbClr val="4A4F57"/>
                </a:solidFill>
                <a:latin typeface="Arial"/>
              </a:rPr>
              <a:t>ReAct: pedirle al modelo que alterne razonar y actuar</a:t>
            </a:r>
          </a:p>
        </p:txBody>
      </p:sp>
      <p:cxnSp>
        <p:nvCxnSpPr>
          <p:cNvPr id="7" name="Connector 6"/>
          <p:cNvCxnSpPr/>
          <p:nvPr/>
        </p:nvCxnSpPr>
        <p:spPr>
          <a:xfrm>
            <a:off x="5463540" y="4069080"/>
            <a:ext cx="34975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63540" y="4297680"/>
            <a:ext cx="3497580" cy="822960"/>
          </a:xfrm>
          <a:prstGeom prst="rect">
            <a:avLst/>
          </a:prstGeom>
          <a:noFill/>
        </p:spPr>
        <p:txBody>
          <a:bodyPr wrap="square" lIns="0" rIns="0" tIns="0" bIns="0" anchor="t">
            <a:spAutoFit/>
          </a:bodyPr>
          <a:lstStyle/>
          <a:p>
            <a:pPr algn="l"/>
            <a:r>
              <a:rPr sz="4000" b="1">
                <a:solidFill>
                  <a:srgbClr val="073763"/>
                </a:solidFill>
                <a:latin typeface="Arial"/>
              </a:rPr>
              <a:t>2023</a:t>
            </a:r>
          </a:p>
        </p:txBody>
      </p:sp>
      <p:sp>
        <p:nvSpPr>
          <p:cNvPr id="9" name="TextBox 8"/>
          <p:cNvSpPr txBox="1"/>
          <p:nvPr/>
        </p:nvSpPr>
        <p:spPr>
          <a:xfrm>
            <a:off x="5463540" y="5212080"/>
            <a:ext cx="3497580" cy="2194560"/>
          </a:xfrm>
          <a:prstGeom prst="rect">
            <a:avLst/>
          </a:prstGeom>
          <a:noFill/>
        </p:spPr>
        <p:txBody>
          <a:bodyPr wrap="square" lIns="0" rIns="0" tIns="0" bIns="0" anchor="t">
            <a:spAutoFit/>
          </a:bodyPr>
          <a:lstStyle/>
          <a:p>
            <a:pPr algn="l"/>
            <a:r>
              <a:rPr sz="2100" b="0">
                <a:solidFill>
                  <a:srgbClr val="4A4F57"/>
                </a:solidFill>
                <a:latin typeface="Arial"/>
              </a:rPr>
              <a:t>Toolformer y las llamadas a funciones: el modelo aprende el formato</a:t>
            </a:r>
          </a:p>
        </p:txBody>
      </p:sp>
      <p:cxnSp>
        <p:nvCxnSpPr>
          <p:cNvPr id="10" name="Connector 9"/>
          <p:cNvCxnSpPr/>
          <p:nvPr/>
        </p:nvCxnSpPr>
        <p:spPr>
          <a:xfrm>
            <a:off x="9326880" y="4069080"/>
            <a:ext cx="34975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326880" y="4297680"/>
            <a:ext cx="3497580" cy="822960"/>
          </a:xfrm>
          <a:prstGeom prst="rect">
            <a:avLst/>
          </a:prstGeom>
          <a:noFill/>
        </p:spPr>
        <p:txBody>
          <a:bodyPr wrap="square" lIns="0" rIns="0" tIns="0" bIns="0" anchor="t">
            <a:spAutoFit/>
          </a:bodyPr>
          <a:lstStyle/>
          <a:p>
            <a:pPr algn="l"/>
            <a:r>
              <a:rPr sz="4000" b="1">
                <a:solidFill>
                  <a:srgbClr val="073763"/>
                </a:solidFill>
                <a:latin typeface="Arial"/>
              </a:rPr>
              <a:t>2024–25</a:t>
            </a:r>
          </a:p>
        </p:txBody>
      </p:sp>
      <p:sp>
        <p:nvSpPr>
          <p:cNvPr id="12" name="TextBox 11"/>
          <p:cNvSpPr txBox="1"/>
          <p:nvPr/>
        </p:nvSpPr>
        <p:spPr>
          <a:xfrm>
            <a:off x="9326880" y="5212080"/>
            <a:ext cx="3497580" cy="2194560"/>
          </a:xfrm>
          <a:prstGeom prst="rect">
            <a:avLst/>
          </a:prstGeom>
          <a:noFill/>
        </p:spPr>
        <p:txBody>
          <a:bodyPr wrap="square" lIns="0" rIns="0" tIns="0" bIns="0" anchor="t">
            <a:spAutoFit/>
          </a:bodyPr>
          <a:lstStyle/>
          <a:p>
            <a:pPr algn="l"/>
            <a:r>
              <a:rPr sz="2100" b="0">
                <a:solidFill>
                  <a:srgbClr val="4A4F57"/>
                </a:solidFill>
                <a:latin typeface="Arial"/>
              </a:rPr>
              <a:t>Aprendizaje por refuerzo sobre tareas de agente completas</a:t>
            </a:r>
          </a:p>
        </p:txBody>
      </p:sp>
      <p:cxnSp>
        <p:nvCxnSpPr>
          <p:cNvPr id="13" name="Connector 12"/>
          <p:cNvCxnSpPr/>
          <p:nvPr/>
        </p:nvCxnSpPr>
        <p:spPr>
          <a:xfrm>
            <a:off x="13190220" y="4069080"/>
            <a:ext cx="349758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3190220" y="4297680"/>
            <a:ext cx="3497580" cy="822960"/>
          </a:xfrm>
          <a:prstGeom prst="rect">
            <a:avLst/>
          </a:prstGeom>
          <a:noFill/>
        </p:spPr>
        <p:txBody>
          <a:bodyPr wrap="square" lIns="0" rIns="0" tIns="0" bIns="0" anchor="t">
            <a:spAutoFit/>
          </a:bodyPr>
          <a:lstStyle/>
          <a:p>
            <a:pPr algn="l"/>
            <a:r>
              <a:rPr sz="4000" b="1">
                <a:solidFill>
                  <a:srgbClr val="A8600A"/>
                </a:solidFill>
                <a:latin typeface="Arial"/>
              </a:rPr>
              <a:t>2025</a:t>
            </a:r>
          </a:p>
        </p:txBody>
      </p:sp>
      <p:sp>
        <p:nvSpPr>
          <p:cNvPr id="15" name="TextBox 14"/>
          <p:cNvSpPr txBox="1"/>
          <p:nvPr/>
        </p:nvSpPr>
        <p:spPr>
          <a:xfrm>
            <a:off x="13190220" y="5212080"/>
            <a:ext cx="3497580" cy="2194560"/>
          </a:xfrm>
          <a:prstGeom prst="rect">
            <a:avLst/>
          </a:prstGeom>
          <a:noFill/>
        </p:spPr>
        <p:txBody>
          <a:bodyPr wrap="square" lIns="0" rIns="0" tIns="0" bIns="0" anchor="t">
            <a:spAutoFit/>
          </a:bodyPr>
          <a:lstStyle/>
          <a:p>
            <a:pPr algn="l"/>
            <a:r>
              <a:rPr sz="2100" b="0">
                <a:solidFill>
                  <a:srgbClr val="4A4F57"/>
                </a:solidFill>
                <a:latin typeface="Arial"/>
              </a:rPr>
              <a:t>La duración de las tareas que completan se duplica cada ~7 meses</a:t>
            </a:r>
          </a:p>
        </p:txBody>
      </p:sp>
      <p:sp>
        <p:nvSpPr>
          <p:cNvPr id="16" name="TextBox 15"/>
          <p:cNvSpPr txBox="1"/>
          <p:nvPr/>
        </p:nvSpPr>
        <p:spPr>
          <a:xfrm>
            <a:off x="1600200" y="8732520"/>
            <a:ext cx="12344400" cy="411480"/>
          </a:xfrm>
          <a:prstGeom prst="rect">
            <a:avLst/>
          </a:prstGeom>
          <a:noFill/>
        </p:spPr>
        <p:txBody>
          <a:bodyPr wrap="square" lIns="0" rIns="0" tIns="0" bIns="0" anchor="t">
            <a:spAutoFit/>
          </a:bodyPr>
          <a:lstStyle/>
          <a:p>
            <a:pPr algn="l"/>
            <a:r>
              <a:rPr sz="1500" b="0">
                <a:solidFill>
                  <a:srgbClr val="757070"/>
                </a:solidFill>
                <a:latin typeface="Arial"/>
              </a:rPr>
              <a:t>29 · Yao et al. (2023) · Schick et al. (2023) · Kwa et al. (2025), METR, Measuring AI Ability to Complete Long Tasks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Deep research: preguntas que necesitan muchas búsquedas y una síntesis con fuentes</a:t>
            </a:r>
          </a:p>
        </p:txBody>
      </p:sp>
      <p:sp>
        <p:nvSpPr>
          <p:cNvPr id="4" name="Rounded Rectangle 3"/>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Una búsqueda basta</a:t>
            </a:r>
          </a:p>
          <a:p>
            <a:pPr algn="l">
              <a:spcAft>
                <a:spcPts val="800"/>
              </a:spcAft>
            </a:pPr>
            <a:r>
              <a:rPr sz="2100" b="0">
                <a:solidFill>
                  <a:srgbClr val="4A4F57"/>
                </a:solidFill>
                <a:latin typeface="Arial"/>
              </a:rPr>
              <a:t>•  ¿Cuál es la oficina de Akari Asai en CMU?</a:t>
            </a:r>
          </a:p>
          <a:p>
            <a:pPr algn="l">
              <a:spcAft>
                <a:spcPts val="800"/>
              </a:spcAft>
            </a:pPr>
            <a:r>
              <a:rPr sz="2100" b="0">
                <a:solidFill>
                  <a:srgbClr val="4A4F57"/>
                </a:solidFill>
                <a:latin typeface="Arial"/>
              </a:rPr>
              <a:t>•  buscar → leer → responder</a:t>
            </a:r>
          </a:p>
        </p:txBody>
      </p:sp>
      <p:sp>
        <p:nvSpPr>
          <p:cNvPr id="6" name="Rounded Rectangle 5"/>
          <p:cNvSpPr/>
          <p:nvPr/>
        </p:nvSpPr>
        <p:spPr>
          <a:xfrm>
            <a:off x="9326880" y="3886200"/>
            <a:ext cx="7360920" cy="356616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Muchas búsquedas</a:t>
            </a:r>
          </a:p>
          <a:p>
            <a:pPr algn="l">
              <a:spcAft>
                <a:spcPts val="800"/>
              </a:spcAft>
            </a:pPr>
            <a:r>
              <a:rPr sz="2100" b="0">
                <a:solidFill>
                  <a:srgbClr val="4A4F57"/>
                </a:solidFill>
                <a:latin typeface="Arial"/>
              </a:rPr>
              <a:t>•  ¿Pueden los agentes sintetizar literatura científica tan bien como expertos?</a:t>
            </a:r>
          </a:p>
          <a:p>
            <a:pPr algn="l">
              <a:spcAft>
                <a:spcPts val="800"/>
              </a:spcAft>
            </a:pPr>
            <a:r>
              <a:rPr sz="2100" b="0">
                <a:solidFill>
                  <a:srgbClr val="4A4F57"/>
                </a:solidFill>
                <a:latin typeface="Arial"/>
              </a:rPr>
              <a:t>•  planear → buscar → reflexionar → buscar de nuevo → responder con citas</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30 · Asai (2026), Deep Research Agents, CMU 11-768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Por dentro: un agente líder reparte la búsqueda entre subagentes</a:t>
            </a:r>
          </a:p>
        </p:txBody>
      </p:sp>
      <p:pic>
        <p:nvPicPr>
          <p:cNvPr id="4" name="Picture 3" descr="F10.png"/>
          <p:cNvPicPr>
            <a:picLocks noChangeAspect="1"/>
          </p:cNvPicPr>
          <p:nvPr/>
        </p:nvPicPr>
        <p:blipFill>
          <a:blip r:embed="rId3"/>
          <a:stretch>
            <a:fillRect/>
          </a:stretch>
        </p:blipFill>
        <p:spPr>
          <a:xfrm>
            <a:off x="1600200" y="3794760"/>
            <a:ext cx="11521440" cy="2640330"/>
          </a:xfrm>
          <a:prstGeom prst="rect">
            <a:avLst/>
          </a:prstGeom>
        </p:spPr>
      </p:pic>
      <p:sp>
        <p:nvSpPr>
          <p:cNvPr id="5" name="TextBox 4"/>
          <p:cNvSpPr txBox="1"/>
          <p:nvPr/>
        </p:nvSpPr>
        <p:spPr>
          <a:xfrm>
            <a:off x="1600200" y="6629400"/>
            <a:ext cx="3840480" cy="822960"/>
          </a:xfrm>
          <a:prstGeom prst="rect">
            <a:avLst/>
          </a:prstGeom>
          <a:noFill/>
        </p:spPr>
        <p:txBody>
          <a:bodyPr wrap="square" lIns="0" rIns="0" tIns="0" bIns="0" anchor="t">
            <a:spAutoFit/>
          </a:bodyPr>
          <a:lstStyle/>
          <a:p>
            <a:pPr algn="l"/>
            <a:r>
              <a:rPr sz="5600" b="1">
                <a:solidFill>
                  <a:srgbClr val="A8600A"/>
                </a:solidFill>
                <a:latin typeface="Arial"/>
              </a:rPr>
              <a:t>+90.2%</a:t>
            </a:r>
          </a:p>
        </p:txBody>
      </p:sp>
      <p:sp>
        <p:nvSpPr>
          <p:cNvPr id="6" name="TextBox 5"/>
          <p:cNvSpPr txBox="1"/>
          <p:nvPr/>
        </p:nvSpPr>
        <p:spPr>
          <a:xfrm>
            <a:off x="1600200" y="7452360"/>
            <a:ext cx="3840480" cy="822960"/>
          </a:xfrm>
          <a:prstGeom prst="rect">
            <a:avLst/>
          </a:prstGeom>
          <a:noFill/>
        </p:spPr>
        <p:txBody>
          <a:bodyPr wrap="square" lIns="0" rIns="0" tIns="0" bIns="0" anchor="t">
            <a:spAutoFit/>
          </a:bodyPr>
          <a:lstStyle/>
          <a:p>
            <a:pPr algn="l"/>
            <a:r>
              <a:rPr sz="1900" b="0">
                <a:solidFill>
                  <a:srgbClr val="4A4F57"/>
                </a:solidFill>
                <a:latin typeface="Arial"/>
              </a:rPr>
              <a:t>mejor que un solo agente en su evaluación interna</a:t>
            </a:r>
          </a:p>
        </p:txBody>
      </p:sp>
      <p:sp>
        <p:nvSpPr>
          <p:cNvPr id="7" name="TextBox 6"/>
          <p:cNvSpPr txBox="1"/>
          <p:nvPr/>
        </p:nvSpPr>
        <p:spPr>
          <a:xfrm>
            <a:off x="5669280" y="6629400"/>
            <a:ext cx="3840480" cy="822960"/>
          </a:xfrm>
          <a:prstGeom prst="rect">
            <a:avLst/>
          </a:prstGeom>
          <a:noFill/>
        </p:spPr>
        <p:txBody>
          <a:bodyPr wrap="square" lIns="0" rIns="0" tIns="0" bIns="0" anchor="t">
            <a:spAutoFit/>
          </a:bodyPr>
          <a:lstStyle/>
          <a:p>
            <a:pPr algn="l"/>
            <a:r>
              <a:rPr sz="5600" b="1">
                <a:solidFill>
                  <a:srgbClr val="073763"/>
                </a:solidFill>
                <a:latin typeface="Arial"/>
              </a:rPr>
              <a:t>~15×</a:t>
            </a:r>
          </a:p>
        </p:txBody>
      </p:sp>
      <p:sp>
        <p:nvSpPr>
          <p:cNvPr id="8" name="TextBox 7"/>
          <p:cNvSpPr txBox="1"/>
          <p:nvPr/>
        </p:nvSpPr>
        <p:spPr>
          <a:xfrm>
            <a:off x="5669280" y="7452360"/>
            <a:ext cx="3840480" cy="822960"/>
          </a:xfrm>
          <a:prstGeom prst="rect">
            <a:avLst/>
          </a:prstGeom>
          <a:noFill/>
        </p:spPr>
        <p:txBody>
          <a:bodyPr wrap="square" lIns="0" rIns="0" tIns="0" bIns="0" anchor="t">
            <a:spAutoFit/>
          </a:bodyPr>
          <a:lstStyle/>
          <a:p>
            <a:pPr algn="l"/>
            <a:r>
              <a:rPr sz="1900" b="0">
                <a:solidFill>
                  <a:srgbClr val="4A4F57"/>
                </a:solidFill>
                <a:latin typeface="Arial"/>
              </a:rPr>
              <a:t>más tokens que una conversación de chat</a:t>
            </a:r>
          </a:p>
        </p:txBody>
      </p:sp>
      <p:sp>
        <p:nvSpPr>
          <p:cNvPr id="9" name="TextBox 8"/>
          <p:cNvSpPr txBox="1"/>
          <p:nvPr/>
        </p:nvSpPr>
        <p:spPr>
          <a:xfrm>
            <a:off x="9738360" y="6629400"/>
            <a:ext cx="3840480" cy="822960"/>
          </a:xfrm>
          <a:prstGeom prst="rect">
            <a:avLst/>
          </a:prstGeom>
          <a:noFill/>
        </p:spPr>
        <p:txBody>
          <a:bodyPr wrap="square" lIns="0" rIns="0" tIns="0" bIns="0" anchor="t">
            <a:spAutoFit/>
          </a:bodyPr>
          <a:lstStyle/>
          <a:p>
            <a:pPr algn="l"/>
            <a:r>
              <a:rPr sz="5600" b="1">
                <a:solidFill>
                  <a:srgbClr val="073763"/>
                </a:solidFill>
                <a:latin typeface="Arial"/>
              </a:rPr>
              <a:t>80%</a:t>
            </a:r>
          </a:p>
        </p:txBody>
      </p:sp>
      <p:sp>
        <p:nvSpPr>
          <p:cNvPr id="10" name="TextBox 9"/>
          <p:cNvSpPr txBox="1"/>
          <p:nvPr/>
        </p:nvSpPr>
        <p:spPr>
          <a:xfrm>
            <a:off x="9738360" y="7452360"/>
            <a:ext cx="3840480" cy="822960"/>
          </a:xfrm>
          <a:prstGeom prst="rect">
            <a:avLst/>
          </a:prstGeom>
          <a:noFill/>
        </p:spPr>
        <p:txBody>
          <a:bodyPr wrap="square" lIns="0" rIns="0" tIns="0" bIns="0" anchor="t">
            <a:spAutoFit/>
          </a:bodyPr>
          <a:lstStyle/>
          <a:p>
            <a:pPr algn="l"/>
            <a:r>
              <a:rPr sz="1900" b="0">
                <a:solidFill>
                  <a:srgbClr val="4A4F57"/>
                </a:solidFill>
                <a:latin typeface="Arial"/>
              </a:rPr>
              <a:t>del desempeño lo explica solo el uso de tokens</a:t>
            </a:r>
          </a:p>
        </p:txBody>
      </p:sp>
      <p:sp>
        <p:nvSpPr>
          <p:cNvPr id="11" name="TextBox 10"/>
          <p:cNvSpPr txBox="1"/>
          <p:nvPr/>
        </p:nvSpPr>
        <p:spPr>
          <a:xfrm>
            <a:off x="1600200" y="8732520"/>
            <a:ext cx="10515600" cy="411480"/>
          </a:xfrm>
          <a:prstGeom prst="rect">
            <a:avLst/>
          </a:prstGeom>
          <a:noFill/>
        </p:spPr>
        <p:txBody>
          <a:bodyPr wrap="square" lIns="0" rIns="0" tIns="0" bIns="0" anchor="t">
            <a:spAutoFit/>
          </a:bodyPr>
          <a:lstStyle/>
          <a:p>
            <a:pPr algn="l"/>
            <a:r>
              <a:rPr sz="1500" b="0">
                <a:solidFill>
                  <a:srgbClr val="757070"/>
                </a:solidFill>
                <a:latin typeface="Arial"/>
              </a:rPr>
              <a:t>31 · Hadfield et al. (2025), How we built our multi-agent research system, Anthropic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Cómo se mide: BrowseComp, preguntas hechas para obligar a buscar mucho</a:t>
            </a:r>
          </a:p>
        </p:txBody>
      </p:sp>
      <p:pic>
        <p:nvPicPr>
          <p:cNvPr id="4" name="Picture 3" descr="F32.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32 · Wei et al. (2025), BrowseComp, OpenAI · vía Asai (2026), CMU 11-768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LA RESPUESTA CORRECTA, O UNA RÚBRICA</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agente de deep research se entrena con las mismas tres etapas, ahora con herramientas</a:t>
            </a:r>
          </a:p>
        </p:txBody>
      </p:sp>
      <p:sp>
        <p:nvSpPr>
          <p:cNvPr id="5" name="Rounded Rectangle 4"/>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1 · Preentrenamiento agéntico</a:t>
            </a:r>
          </a:p>
          <a:p>
            <a:pPr algn="l">
              <a:spcAft>
                <a:spcPts val="800"/>
              </a:spcAft>
            </a:pPr>
            <a:r>
              <a:rPr sz="2000" b="0">
                <a:solidFill>
                  <a:srgbClr val="4A4F57"/>
                </a:solidFill>
                <a:latin typeface="Arial"/>
              </a:rPr>
              <a:t>Trayectorias de agente mezcladas con texto general, para que el modelo base ya sepa buscar.</a:t>
            </a:r>
          </a:p>
        </p:txBody>
      </p:sp>
      <p:sp>
        <p:nvSpPr>
          <p:cNvPr id="7" name="Rounded Rectangle 6"/>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2 · Ajuste fino</a:t>
            </a:r>
          </a:p>
          <a:p>
            <a:pPr algn="l">
              <a:spcAft>
                <a:spcPts val="800"/>
              </a:spcAft>
            </a:pPr>
            <a:r>
              <a:rPr sz="2000" b="0">
                <a:solidFill>
                  <a:srgbClr val="4A4F57"/>
                </a:solidFill>
                <a:latin typeface="Arial"/>
              </a:rPr>
              <a:t>Imitar trayectorias de un modelo maestro, filtradas: solo las que llegan bien y con buen formato.</a:t>
            </a:r>
          </a:p>
        </p:txBody>
      </p:sp>
      <p:sp>
        <p:nvSpPr>
          <p:cNvPr id="9" name="Rounded Rectangle 8"/>
          <p:cNvSpPr/>
          <p:nvPr/>
        </p:nvSpPr>
        <p:spPr>
          <a:xfrm>
            <a:off x="11871960" y="3886200"/>
            <a:ext cx="4815840" cy="292608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3 · Refuerzo</a:t>
            </a:r>
          </a:p>
          <a:p>
            <a:pPr algn="l">
              <a:spcAft>
                <a:spcPts val="800"/>
              </a:spcAft>
            </a:pPr>
            <a:r>
              <a:rPr sz="2000" b="1">
                <a:solidFill>
                  <a:srgbClr val="A8600A"/>
                </a:solidFill>
                <a:latin typeface="Arial"/>
              </a:rPr>
              <a:t>el juez</a:t>
            </a:r>
          </a:p>
          <a:p>
            <a:pPr algn="l">
              <a:spcAft>
                <a:spcPts val="800"/>
              </a:spcAft>
            </a:pPr>
            <a:r>
              <a:rPr sz="2000" b="0">
                <a:solidFill>
                  <a:srgbClr val="4A4F57"/>
                </a:solidFill>
                <a:latin typeface="Arial"/>
              </a:rPr>
              <a:t>Recompensa por respuesta correcta; para reportes abiertos, rúbricas que evolucionan (DR Tulu).</a:t>
            </a:r>
          </a:p>
        </p:txBody>
      </p:sp>
      <p:sp>
        <p:nvSpPr>
          <p:cNvPr id="11" name="TextBox 10"/>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33 · Tongyi DeepResearch (2025) · Search-R1 (COLM 2025) · DR Tulu (ICML 2026) · vía Asai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Para buscar, el agente usa embeddings: la pregunta y los documentos como vectores</a:t>
            </a:r>
          </a:p>
        </p:txBody>
      </p:sp>
      <p:sp>
        <p:nvSpPr>
          <p:cNvPr id="4" name="Rounded Rectangle 3"/>
          <p:cNvSpPr/>
          <p:nvPr/>
        </p:nvSpPr>
        <p:spPr>
          <a:xfrm>
            <a:off x="160020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069080"/>
            <a:ext cx="3017520" cy="731520"/>
          </a:xfrm>
          <a:prstGeom prst="rect">
            <a:avLst/>
          </a:prstGeom>
          <a:noFill/>
        </p:spPr>
        <p:txBody>
          <a:bodyPr wrap="square" lIns="0" rIns="0" tIns="0" bIns="0" anchor="t">
            <a:spAutoFit/>
          </a:bodyPr>
          <a:lstStyle/>
          <a:p>
            <a:pPr algn="l"/>
            <a:r>
              <a:rPr sz="4400" b="1">
                <a:solidFill>
                  <a:srgbClr val="A8600A"/>
                </a:solidFill>
                <a:latin typeface="Arial"/>
              </a:rPr>
              <a:t>1</a:t>
            </a:r>
          </a:p>
        </p:txBody>
      </p:sp>
      <p:sp>
        <p:nvSpPr>
          <p:cNvPr id="6" name="TextBox 5"/>
          <p:cNvSpPr txBox="1"/>
          <p:nvPr/>
        </p:nvSpPr>
        <p:spPr>
          <a:xfrm>
            <a:off x="1874519"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Cada documento se convierte en un vector y se guarda en un índice</a:t>
            </a:r>
          </a:p>
        </p:txBody>
      </p:sp>
      <p:sp>
        <p:nvSpPr>
          <p:cNvPr id="7" name="Rounded Rectangle 6"/>
          <p:cNvSpPr/>
          <p:nvPr/>
        </p:nvSpPr>
        <p:spPr>
          <a:xfrm>
            <a:off x="544068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71500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2</a:t>
            </a:r>
          </a:p>
        </p:txBody>
      </p:sp>
      <p:sp>
        <p:nvSpPr>
          <p:cNvPr id="9" name="TextBox 8"/>
          <p:cNvSpPr txBox="1"/>
          <p:nvPr/>
        </p:nvSpPr>
        <p:spPr>
          <a:xfrm>
            <a:off x="571500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La consulta del agente también se convierte en vector</a:t>
            </a:r>
          </a:p>
        </p:txBody>
      </p:sp>
      <p:sp>
        <p:nvSpPr>
          <p:cNvPr id="10" name="Rounded Rectangle 9"/>
          <p:cNvSpPr/>
          <p:nvPr/>
        </p:nvSpPr>
        <p:spPr>
          <a:xfrm>
            <a:off x="928116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5548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3</a:t>
            </a:r>
          </a:p>
        </p:txBody>
      </p:sp>
      <p:sp>
        <p:nvSpPr>
          <p:cNvPr id="12" name="TextBox 11"/>
          <p:cNvSpPr txBox="1"/>
          <p:nvPr/>
        </p:nvSpPr>
        <p:spPr>
          <a:xfrm>
            <a:off x="955548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Se devuelven los documentos más cercanos</a:t>
            </a:r>
          </a:p>
        </p:txBody>
      </p:sp>
      <p:sp>
        <p:nvSpPr>
          <p:cNvPr id="13" name="Rounded Rectangle 12"/>
          <p:cNvSpPr/>
          <p:nvPr/>
        </p:nvSpPr>
        <p:spPr>
          <a:xfrm>
            <a:off x="1312164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39596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4</a:t>
            </a:r>
          </a:p>
        </p:txBody>
      </p:sp>
      <p:sp>
        <p:nvSpPr>
          <p:cNvPr id="15" name="TextBox 14"/>
          <p:cNvSpPr txBox="1"/>
          <p:nvPr/>
        </p:nvSpPr>
        <p:spPr>
          <a:xfrm>
            <a:off x="1339596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El agente los lee y decide si basta</a:t>
            </a:r>
          </a:p>
        </p:txBody>
      </p:sp>
      <p:sp>
        <p:nvSpPr>
          <p:cNvPr id="16" name="TextBox 15"/>
          <p:cNvSpPr txBox="1"/>
          <p:nvPr/>
        </p:nvSpPr>
        <p:spPr>
          <a:xfrm>
            <a:off x="1600200" y="6537960"/>
            <a:ext cx="11887200" cy="822960"/>
          </a:xfrm>
          <a:prstGeom prst="rect">
            <a:avLst/>
          </a:prstGeom>
          <a:noFill/>
        </p:spPr>
        <p:txBody>
          <a:bodyPr wrap="square" lIns="0" rIns="0" tIns="0" bIns="0" anchor="t">
            <a:spAutoFit/>
          </a:bodyPr>
          <a:lstStyle/>
          <a:p>
            <a:pPr algn="l"/>
            <a:r>
              <a:rPr sz="2200" b="1">
                <a:solidFill>
                  <a:srgbClr val="A8600A"/>
                </a:solidFill>
                <a:latin typeface="Arial"/>
              </a:rPr>
              <a:t>Los mismos embeddings de la Parte 1. Darle al buscador el razonamiento del agente, y no solo la consulta, encuentra más con menos búsquedas (AgentIR).</a:t>
            </a:r>
          </a:p>
        </p:txBody>
      </p:sp>
      <p:sp>
        <p:nvSpPr>
          <p:cNvPr id="17" name="TextBox 16"/>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34 · Karpukhin et al. (2020), DPR · Chen et al. (COLM 2026), AgentIR · vía Asai (2026)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harness junta todo lo anterior: modelo, contexto, herramientas, reglas y jueces</a:t>
            </a:r>
          </a:p>
        </p:txBody>
      </p:sp>
      <p:pic>
        <p:nvPicPr>
          <p:cNvPr id="4" name="Picture 3" descr="F11.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35 · Lopopolo (2026), OpenAI · Böckeler (2026), Thoughtworks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TÚ, EN REGLAS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Instrucciones: un CLAUDE.md que el agente lee al empezar cada sesión</a:t>
            </a:r>
          </a:p>
        </p:txBody>
      </p:sp>
      <p:sp>
        <p:nvSpPr>
          <p:cNvPr id="5" name="Rounded Rectangle 4"/>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500" b="0">
                <a:solidFill>
                  <a:srgbClr val="F2A541"/>
                </a:solidFill>
                <a:latin typeface="Courier New"/>
              </a:rPr>
              <a:t># Laboratorio de biomecánica: marcha y exoesqueletos</a:t>
            </a:r>
          </a:p>
          <a:p>
            <a:pPr algn="l">
              <a:lnSpc>
                <a:spcPct val="105000"/>
              </a:lnSpc>
            </a:pPr>
            <a:r>
              <a:rPr sz="1500" b="0">
                <a:solidFill>
                  <a:srgbClr val="DFE6EE"/>
                </a:solidFill>
                <a:latin typeface="Courier New"/>
              </a:rPr>
              <a:t> </a:t>
            </a:r>
          </a:p>
          <a:p>
            <a:pPr algn="l">
              <a:lnSpc>
                <a:spcPct val="105000"/>
              </a:lnSpc>
            </a:pPr>
            <a:r>
              <a:rPr sz="1500" b="0">
                <a:solidFill>
                  <a:srgbClr val="F2A541"/>
                </a:solidFill>
                <a:latin typeface="Courier New"/>
              </a:rPr>
              <a:t>## Contexto</a:t>
            </a:r>
          </a:p>
          <a:p>
            <a:pPr algn="l">
              <a:lnSpc>
                <a:spcPct val="105000"/>
              </a:lnSpc>
            </a:pPr>
            <a:r>
              <a:rPr sz="1500" b="0">
                <a:solidFill>
                  <a:srgbClr val="DFE6EE"/>
                </a:solidFill>
                <a:latin typeface="Courier New"/>
              </a:rPr>
              <a:t>- Datos de captura (Vicon, IMU) en data/raw/: solo lectura</a:t>
            </a:r>
          </a:p>
          <a:p>
            <a:pPr algn="l">
              <a:lnSpc>
                <a:spcPct val="105000"/>
              </a:lnSpc>
            </a:pPr>
            <a:r>
              <a:rPr sz="1500" b="0">
                <a:solidFill>
                  <a:srgbClr val="DFE6EE"/>
                </a:solidFill>
                <a:latin typeface="Courier New"/>
              </a:rPr>
              <a:t>- Análisis en src/ con Python 3.11</a:t>
            </a:r>
          </a:p>
          <a:p>
            <a:pPr algn="l">
              <a:lnSpc>
                <a:spcPct val="105000"/>
              </a:lnSpc>
            </a:pPr>
            <a:r>
              <a:rPr sz="1500" b="0">
                <a:solidFill>
                  <a:srgbClr val="DFE6EE"/>
                </a:solidFill>
                <a:latin typeface="Courier New"/>
              </a:rPr>
              <a:t> </a:t>
            </a:r>
          </a:p>
          <a:p>
            <a:pPr algn="l">
              <a:lnSpc>
                <a:spcPct val="105000"/>
              </a:lnSpc>
            </a:pPr>
            <a:r>
              <a:rPr sz="1500" b="0">
                <a:solidFill>
                  <a:srgbClr val="F2A541"/>
                </a:solidFill>
                <a:latin typeface="Courier New"/>
              </a:rPr>
              <a:t>## Reglas</a:t>
            </a:r>
          </a:p>
          <a:p>
            <a:pPr algn="l">
              <a:lnSpc>
                <a:spcPct val="105000"/>
              </a:lnSpc>
            </a:pPr>
            <a:r>
              <a:rPr sz="1500" b="0">
                <a:solidFill>
                  <a:srgbClr val="DFE6EE"/>
                </a:solidFill>
                <a:latin typeface="Courier New"/>
              </a:rPr>
              <a:t>- Toda cifra lleva su fuente: archivo, tabla o DOI</a:t>
            </a:r>
          </a:p>
          <a:p>
            <a:pPr algn="l">
              <a:lnSpc>
                <a:spcPct val="105000"/>
              </a:lnSpc>
            </a:pPr>
            <a:r>
              <a:rPr sz="1500" b="0">
                <a:solidFill>
                  <a:srgbClr val="DFE6EE"/>
                </a:solidFill>
                <a:latin typeface="Courier New"/>
              </a:rPr>
              <a:t>- Si no encuentras una cita, dilo; nunca la inventes</a:t>
            </a:r>
          </a:p>
          <a:p>
            <a:pPr algn="l">
              <a:lnSpc>
                <a:spcPct val="105000"/>
              </a:lnSpc>
            </a:pPr>
            <a:r>
              <a:rPr sz="1500" b="0">
                <a:solidFill>
                  <a:srgbClr val="DFE6EE"/>
                </a:solidFill>
                <a:latin typeface="Courier New"/>
              </a:rPr>
              <a:t>- Antes de dar por terminado un cambio, corre pytest</a:t>
            </a:r>
          </a:p>
          <a:p>
            <a:pPr algn="l">
              <a:lnSpc>
                <a:spcPct val="105000"/>
              </a:lnSpc>
            </a:pPr>
            <a:r>
              <a:rPr sz="1500" b="0">
                <a:solidFill>
                  <a:srgbClr val="DFE6EE"/>
                </a:solidFill>
                <a:latin typeface="Courier New"/>
              </a:rPr>
              <a:t> </a:t>
            </a:r>
          </a:p>
          <a:p>
            <a:pPr algn="l">
              <a:lnSpc>
                <a:spcPct val="105000"/>
              </a:lnSpc>
            </a:pPr>
            <a:r>
              <a:rPr sz="1500" b="0">
                <a:solidFill>
                  <a:srgbClr val="F2A541"/>
                </a:solidFill>
                <a:latin typeface="Courier New"/>
              </a:rPr>
              <a:t>## Al terminar</a:t>
            </a:r>
          </a:p>
          <a:p>
            <a:pPr algn="l">
              <a:lnSpc>
                <a:spcPct val="105000"/>
              </a:lnSpc>
            </a:pPr>
            <a:r>
              <a:rPr sz="1500" b="0">
                <a:solidFill>
                  <a:srgbClr val="DFE6EE"/>
                </a:solidFill>
                <a:latin typeface="Courier New"/>
              </a:rPr>
              <a:t>- Resume qué cambiaste y qué no pudiste verificar</a:t>
            </a:r>
          </a:p>
        </p:txBody>
      </p:sp>
      <p:sp>
        <p:nvSpPr>
          <p:cNvPr id="7" name="Rounded Rectangle 6"/>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Se carga siempre</a:t>
            </a:r>
          </a:p>
          <a:p>
            <a:pPr algn="l">
              <a:spcAft>
                <a:spcPts val="600"/>
              </a:spcAft>
            </a:pPr>
            <a:r>
              <a:rPr sz="1800" b="0">
                <a:solidFill>
                  <a:srgbClr val="4A4F57"/>
                </a:solidFill>
                <a:latin typeface="Arial"/>
              </a:rPr>
              <a:t>Al inicio de cada sesión, antes de tu primer mensaje</a:t>
            </a:r>
          </a:p>
          <a:p>
            <a:pPr algn="l">
              <a:spcAft>
                <a:spcPts val="600"/>
              </a:spcAft>
            </a:pPr>
            <a:r>
              <a:rPr sz="2100" b="1">
                <a:solidFill>
                  <a:srgbClr val="A8600A"/>
                </a:solidFill>
                <a:latin typeface="Arial"/>
              </a:rPr>
              <a:t>Corto</a:t>
            </a:r>
          </a:p>
          <a:p>
            <a:pPr algn="l">
              <a:spcAft>
                <a:spcPts val="600"/>
              </a:spcAft>
            </a:pPr>
            <a:r>
              <a:rPr sz="1800" b="0">
                <a:solidFill>
                  <a:srgbClr val="4A4F57"/>
                </a:solidFill>
                <a:latin typeface="Arial"/>
              </a:rPr>
              <a:t>Un mapa, no un manual: OpenAI usa unas 100 líneas</a:t>
            </a:r>
          </a:p>
          <a:p>
            <a:pPr algn="l">
              <a:spcAft>
                <a:spcPts val="600"/>
              </a:spcAft>
            </a:pPr>
            <a:r>
              <a:rPr sz="2100" b="1">
                <a:solidFill>
                  <a:srgbClr val="A8600A"/>
                </a:solidFill>
                <a:latin typeface="Arial"/>
              </a:rPr>
              <a:t>Es tu criterio</a:t>
            </a:r>
          </a:p>
          <a:p>
            <a:pPr algn="l">
              <a:spcAft>
                <a:spcPts val="600"/>
              </a:spcAft>
            </a:pPr>
            <a:r>
              <a:rPr sz="1800" b="0">
                <a:solidFill>
                  <a:srgbClr val="4A4F57"/>
                </a:solidFill>
                <a:latin typeface="Arial"/>
              </a:rPr>
              <a:t>Lo que repetirías en cada conversación, escrito una vez</a:t>
            </a:r>
          </a:p>
        </p:txBody>
      </p:sp>
      <p:sp>
        <p:nvSpPr>
          <p:cNvPr id="9" name="TextBox 8"/>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36 · Anthropic (2025), Claude Code: memoria y CLAUDE.md · Lopopolo (2026), OpenAI · ejemplo propio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Contexto: lo que el agente tiene a la vista, y hay que elegir qué entra</a:t>
            </a:r>
          </a:p>
        </p:txBody>
      </p:sp>
      <p:sp>
        <p:nvSpPr>
          <p:cNvPr id="4" name="Rounded Rectangle 3"/>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Entra siempre</a:t>
            </a:r>
          </a:p>
          <a:p>
            <a:pPr algn="l">
              <a:spcAft>
                <a:spcPts val="800"/>
              </a:spcAft>
            </a:pPr>
            <a:r>
              <a:rPr sz="2000" b="0">
                <a:solidFill>
                  <a:srgbClr val="4A4F57"/>
                </a:solidFill>
                <a:latin typeface="Arial"/>
              </a:rPr>
              <a:t>Instrucciones del sistema, CLAUDE.md y la descripción de cada skill.</a:t>
            </a:r>
          </a:p>
        </p:txBody>
      </p:sp>
      <p:sp>
        <p:nvSpPr>
          <p:cNvPr id="6" name="Rounded Rectangle 5"/>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Entra al trabajar</a:t>
            </a:r>
          </a:p>
          <a:p>
            <a:pPr algn="l">
              <a:spcAft>
                <a:spcPts val="800"/>
              </a:spcAft>
            </a:pPr>
            <a:r>
              <a:rPr sz="2000" b="0">
                <a:solidFill>
                  <a:srgbClr val="4A4F57"/>
                </a:solidFill>
                <a:latin typeface="Arial"/>
              </a:rPr>
              <a:t>Tus mensajes, los archivos que abre y los resultados de cada herramienta.</a:t>
            </a:r>
          </a:p>
        </p:txBody>
      </p:sp>
      <p:sp>
        <p:nvSpPr>
          <p:cNvPr id="8" name="Rounded Rectangle 7"/>
          <p:cNvSpPr/>
          <p:nvPr/>
        </p:nvSpPr>
        <p:spPr>
          <a:xfrm>
            <a:off x="11871960" y="3886200"/>
            <a:ext cx="4815840" cy="292608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Cuando se llena</a:t>
            </a:r>
          </a:p>
          <a:p>
            <a:pPr algn="l">
              <a:spcAft>
                <a:spcPts val="800"/>
              </a:spcAft>
            </a:pPr>
            <a:r>
              <a:rPr sz="2000" b="0">
                <a:solidFill>
                  <a:srgbClr val="4A4F57"/>
                </a:solidFill>
                <a:latin typeface="Arial"/>
              </a:rPr>
              <a:t>El agente resume lo anterior, o reparte el trabajo en subagentes con su propia ventana.</a:t>
            </a:r>
          </a:p>
        </p:txBody>
      </p:sp>
      <p:sp>
        <p:nvSpPr>
          <p:cNvPr id="10" name="TextBox 9"/>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Más contexto no siempre es mejor: lo irrelevante distrae. Dale lo justo, y dile dónde buscar lo demás.</a:t>
            </a:r>
          </a:p>
        </p:txBody>
      </p:sp>
      <p:sp>
        <p:nvSpPr>
          <p:cNvPr id="11" name="TextBox 10"/>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37 · Anthropic (2025), Effective context engineering for AI agents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Herramientas y permisos: qué puede hacer el agente, y qué no sin preguntarte</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700" b="0">
                <a:solidFill>
                  <a:srgbClr val="8A96A8"/>
                </a:solidFill>
                <a:latin typeface="Courier New"/>
              </a:rPr>
              <a:t>.claude/settings.json</a:t>
            </a:r>
          </a:p>
          <a:p>
            <a:pPr algn="l">
              <a:lnSpc>
                <a:spcPct val="105000"/>
              </a:lnSpc>
            </a:pPr>
            <a:r>
              <a:rPr sz="1700" b="0">
                <a:solidFill>
                  <a:srgbClr val="DFE6EE"/>
                </a:solidFill>
                <a:latin typeface="Courier New"/>
              </a:rPr>
              <a:t>{</a:t>
            </a:r>
          </a:p>
          <a:p>
            <a:pPr algn="l">
              <a:lnSpc>
                <a:spcPct val="105000"/>
              </a:lnSpc>
            </a:pPr>
            <a:r>
              <a:rPr sz="1700" b="0">
                <a:solidFill>
                  <a:srgbClr val="F2A541"/>
                </a:solidFill>
                <a:latin typeface="Courier New"/>
              </a:rPr>
              <a:t>  "permissions"</a:t>
            </a:r>
            <a:r>
              <a:rPr sz="1700" b="0">
                <a:solidFill>
                  <a:srgbClr val="DFE6EE"/>
                </a:solidFill>
                <a:latin typeface="Courier New"/>
              </a:rPr>
              <a:t>: {</a:t>
            </a:r>
          </a:p>
          <a:p>
            <a:pPr algn="l">
              <a:lnSpc>
                <a:spcPct val="105000"/>
              </a:lnSpc>
            </a:pPr>
            <a:r>
              <a:rPr sz="1700" b="0">
                <a:solidFill>
                  <a:srgbClr val="F2A541"/>
                </a:solidFill>
                <a:latin typeface="Courier New"/>
              </a:rPr>
              <a:t>    "allow"</a:t>
            </a:r>
            <a:r>
              <a:rPr sz="1700" b="0">
                <a:solidFill>
                  <a:srgbClr val="DFE6EE"/>
                </a:solidFill>
                <a:latin typeface="Courier New"/>
              </a:rPr>
              <a:t>: ["WebSearch", "Read", "Bash(pytest:*)"],</a:t>
            </a:r>
          </a:p>
          <a:p>
            <a:pPr algn="l">
              <a:lnSpc>
                <a:spcPct val="105000"/>
              </a:lnSpc>
            </a:pPr>
            <a:r>
              <a:rPr sz="1700" b="0">
                <a:solidFill>
                  <a:srgbClr val="F2A541"/>
                </a:solidFill>
                <a:latin typeface="Courier New"/>
              </a:rPr>
              <a:t>    "deny"</a:t>
            </a:r>
            <a:r>
              <a:rPr sz="1700" b="0">
                <a:solidFill>
                  <a:srgbClr val="DFE6EE"/>
                </a:solidFill>
                <a:latin typeface="Courier New"/>
              </a:rPr>
              <a:t>:  ["Bash(rm:*)", "Read(./data/pacientes/**)"]</a:t>
            </a:r>
          </a:p>
          <a:p>
            <a:pPr algn="l">
              <a:lnSpc>
                <a:spcPct val="105000"/>
              </a:lnSpc>
            </a:pPr>
            <a:r>
              <a:rPr sz="1700" b="0">
                <a:solidFill>
                  <a:srgbClr val="DFE6EE"/>
                </a:solidFill>
                <a:latin typeface="Courier New"/>
              </a:rPr>
              <a:t>  }</a:t>
            </a:r>
          </a:p>
          <a:p>
            <a:pPr algn="l">
              <a:lnSpc>
                <a:spcPct val="105000"/>
              </a:lnSpc>
            </a:pPr>
            <a:r>
              <a:rPr sz="1700" b="0">
                <a:solidFill>
                  <a:srgbClr val="DFE6EE"/>
                </a:solidFill>
                <a:latin typeface="Courier New"/>
              </a:rPr>
              <a:t>}</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Herramientas</a:t>
            </a:r>
          </a:p>
          <a:p>
            <a:pPr algn="l">
              <a:spcAft>
                <a:spcPts val="600"/>
              </a:spcAft>
            </a:pPr>
            <a:r>
              <a:rPr sz="1800" b="0">
                <a:solidFill>
                  <a:srgbClr val="4A4F57"/>
                </a:solidFill>
                <a:latin typeface="Arial"/>
              </a:rPr>
              <a:t>Búsqueda, código y archivos vienen incluidos; MCP conecta otras: Zotero, una base de datos, tu correo</a:t>
            </a:r>
          </a:p>
          <a:p>
            <a:pPr algn="l">
              <a:spcAft>
                <a:spcPts val="600"/>
              </a:spcAft>
            </a:pPr>
            <a:r>
              <a:rPr sz="2100" b="1">
                <a:solidFill>
                  <a:srgbClr val="A8600A"/>
                </a:solidFill>
                <a:latin typeface="Arial"/>
              </a:rPr>
              <a:t>allow</a:t>
            </a:r>
          </a:p>
          <a:p>
            <a:pPr algn="l">
              <a:spcAft>
                <a:spcPts val="600"/>
              </a:spcAft>
            </a:pPr>
            <a:r>
              <a:rPr sz="1800" b="0">
                <a:solidFill>
                  <a:srgbClr val="4A4F57"/>
                </a:solidFill>
                <a:latin typeface="Arial"/>
              </a:rPr>
              <a:t>lo hace sin preguntar</a:t>
            </a:r>
          </a:p>
          <a:p>
            <a:pPr algn="l">
              <a:spcAft>
                <a:spcPts val="600"/>
              </a:spcAft>
            </a:pPr>
            <a:r>
              <a:rPr sz="2100" b="1">
                <a:solidFill>
                  <a:srgbClr val="A8600A"/>
                </a:solidFill>
                <a:latin typeface="Arial"/>
              </a:rPr>
              <a:t>deny</a:t>
            </a:r>
          </a:p>
          <a:p>
            <a:pPr algn="l">
              <a:spcAft>
                <a:spcPts val="600"/>
              </a:spcAft>
            </a:pPr>
            <a:r>
              <a:rPr sz="1800" b="0">
                <a:solidFill>
                  <a:srgbClr val="4A4F57"/>
                </a:solidFill>
                <a:latin typeface="Arial"/>
              </a:rPr>
              <a:t>no lo hace nunca: aquí van los datos de pacientes</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38 · Anthropic (2025), Claude Code: configuración de permisos · Model Context Protocol (2024)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skill es una carpeta con instrucciones que el agente abre solo cuando la necesita</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700" b="0">
                <a:solidFill>
                  <a:srgbClr val="DFE6EE"/>
                </a:solidFill>
                <a:latin typeface="Courier New"/>
              </a:rPr>
              <a:t>revisar-figura/</a:t>
            </a:r>
          </a:p>
          <a:p>
            <a:pPr algn="l">
              <a:lnSpc>
                <a:spcPct val="105000"/>
              </a:lnSpc>
            </a:pPr>
            <a:r>
              <a:rPr sz="1700" b="0">
                <a:solidFill>
                  <a:srgbClr val="8A96A8"/>
                </a:solidFill>
                <a:latin typeface="Courier New"/>
              </a:rPr>
              <a:t>├── </a:t>
            </a:r>
            <a:r>
              <a:rPr sz="1700" b="0">
                <a:solidFill>
                  <a:srgbClr val="F2A541"/>
                </a:solidFill>
                <a:latin typeface="Courier New"/>
              </a:rPr>
              <a:t>SKILL.md</a:t>
            </a:r>
            <a:r>
              <a:rPr sz="1700" b="0">
                <a:solidFill>
                  <a:srgbClr val="8A96A8"/>
                </a:solidFill>
                <a:latin typeface="Courier New"/>
              </a:rPr>
              <a:t>          instrucciones y cuándo usarlas</a:t>
            </a:r>
          </a:p>
          <a:p>
            <a:pPr algn="l">
              <a:lnSpc>
                <a:spcPct val="105000"/>
              </a:lnSpc>
            </a:pPr>
            <a:r>
              <a:rPr sz="1700" b="0">
                <a:solidFill>
                  <a:srgbClr val="8A96A8"/>
                </a:solidFill>
                <a:latin typeface="Courier New"/>
              </a:rPr>
              <a:t>├── </a:t>
            </a:r>
            <a:r>
              <a:rPr sz="1700" b="0">
                <a:solidFill>
                  <a:srgbClr val="DFE6EE"/>
                </a:solidFill>
                <a:latin typeface="Courier New"/>
              </a:rPr>
              <a:t>checklist.md</a:t>
            </a:r>
            <a:r>
              <a:rPr sz="1700" b="0">
                <a:solidFill>
                  <a:srgbClr val="8A96A8"/>
                </a:solidFill>
                <a:latin typeface="Courier New"/>
              </a:rPr>
              <a:t>      referencia: qué revisar</a:t>
            </a:r>
          </a:p>
          <a:p>
            <a:pPr algn="l">
              <a:lnSpc>
                <a:spcPct val="105000"/>
              </a:lnSpc>
            </a:pPr>
            <a:r>
              <a:rPr sz="1700" b="0">
                <a:solidFill>
                  <a:srgbClr val="8A96A8"/>
                </a:solidFill>
                <a:latin typeface="Courier New"/>
              </a:rPr>
              <a:t>└── </a:t>
            </a:r>
            <a:r>
              <a:rPr sz="1700" b="0">
                <a:solidFill>
                  <a:srgbClr val="DFE6EE"/>
                </a:solidFill>
                <a:latin typeface="Courier New"/>
              </a:rPr>
              <a:t>scripts/</a:t>
            </a:r>
          </a:p>
          <a:p>
            <a:pPr algn="l">
              <a:lnSpc>
                <a:spcPct val="105000"/>
              </a:lnSpc>
            </a:pPr>
            <a:r>
              <a:rPr sz="1700" b="0">
                <a:solidFill>
                  <a:srgbClr val="8A96A8"/>
                </a:solidFill>
                <a:latin typeface="Courier New"/>
              </a:rPr>
              <a:t>    └── </a:t>
            </a:r>
            <a:r>
              <a:rPr sz="1700" b="0">
                <a:solidFill>
                  <a:srgbClr val="DFE6EE"/>
                </a:solidFill>
                <a:latin typeface="Courier New"/>
              </a:rPr>
              <a:t>contraste.py</a:t>
            </a:r>
            <a:r>
              <a:rPr sz="1700" b="0">
                <a:solidFill>
                  <a:srgbClr val="8A96A8"/>
                </a:solidFill>
                <a:latin typeface="Courier New"/>
              </a:rPr>
              <a:t>   lo mecánico, como código</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Es texto</a:t>
            </a:r>
          </a:p>
          <a:p>
            <a:pPr algn="l">
              <a:spcAft>
                <a:spcPts val="600"/>
              </a:spcAft>
            </a:pPr>
            <a:r>
              <a:rPr sz="1800" b="0">
                <a:solidFill>
                  <a:srgbClr val="4A4F57"/>
                </a:solidFill>
                <a:latin typeface="Arial"/>
              </a:rPr>
              <a:t>Se lee, se edita y se versiona en git como cualquier código</a:t>
            </a:r>
          </a:p>
          <a:p>
            <a:pPr algn="l">
              <a:spcAft>
                <a:spcPts val="600"/>
              </a:spcAft>
            </a:pPr>
            <a:r>
              <a:rPr sz="2100" b="1">
                <a:solidFill>
                  <a:srgbClr val="A8600A"/>
                </a:solidFill>
                <a:latin typeface="Arial"/>
              </a:rPr>
              <a:t>Es portátil</a:t>
            </a:r>
          </a:p>
          <a:p>
            <a:pPr algn="l">
              <a:spcAft>
                <a:spcPts val="600"/>
              </a:spcAft>
            </a:pPr>
            <a:r>
              <a:rPr sz="1800" b="0">
                <a:solidFill>
                  <a:srgbClr val="4A4F57"/>
                </a:solidFill>
                <a:latin typeface="Arial"/>
              </a:rPr>
              <a:t>Estándar abierto desde diciembre de 2025: no depende de una sola herramienta</a:t>
            </a:r>
          </a:p>
          <a:p>
            <a:pPr algn="l">
              <a:spcAft>
                <a:spcPts val="600"/>
              </a:spcAft>
            </a:pPr>
            <a:r>
              <a:rPr sz="2100" b="1">
                <a:solidFill>
                  <a:srgbClr val="A8600A"/>
                </a:solidFill>
                <a:latin typeface="Arial"/>
              </a:rPr>
              <a:t>Ejemplo</a:t>
            </a:r>
          </a:p>
          <a:p>
            <a:pPr algn="l">
              <a:spcAft>
                <a:spcPts val="600"/>
              </a:spcAft>
            </a:pPr>
            <a:r>
              <a:rPr sz="1800" b="0">
                <a:solidFill>
                  <a:srgbClr val="4A4F57"/>
                </a:solidFill>
                <a:latin typeface="Arial"/>
              </a:rPr>
              <a:t>revisar-figura: revisar una figura científica antes de enviarla</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39 · Zhang, Lazuka y Murag (2025), Anthropic · estándar abierto: agentskills.io</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Carga progresiva: el agente lee cada parte del skill solo cuando la necesita</a:t>
            </a:r>
          </a:p>
        </p:txBody>
      </p:sp>
      <p:sp>
        <p:nvSpPr>
          <p:cNvPr id="4" name="Rounded Rectangle 3"/>
          <p:cNvSpPr/>
          <p:nvPr/>
        </p:nvSpPr>
        <p:spPr>
          <a:xfrm>
            <a:off x="160020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069080"/>
            <a:ext cx="3017520" cy="731520"/>
          </a:xfrm>
          <a:prstGeom prst="rect">
            <a:avLst/>
          </a:prstGeom>
          <a:noFill/>
        </p:spPr>
        <p:txBody>
          <a:bodyPr wrap="square" lIns="0" rIns="0" tIns="0" bIns="0" anchor="t">
            <a:spAutoFit/>
          </a:bodyPr>
          <a:lstStyle/>
          <a:p>
            <a:pPr algn="l"/>
            <a:r>
              <a:rPr sz="4400" b="1">
                <a:solidFill>
                  <a:srgbClr val="A8600A"/>
                </a:solidFill>
                <a:latin typeface="Arial"/>
              </a:rPr>
              <a:t>1</a:t>
            </a:r>
          </a:p>
        </p:txBody>
      </p:sp>
      <p:sp>
        <p:nvSpPr>
          <p:cNvPr id="6" name="TextBox 5"/>
          <p:cNvSpPr txBox="1"/>
          <p:nvPr/>
        </p:nvSpPr>
        <p:spPr>
          <a:xfrm>
            <a:off x="1874519"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Al iniciar: solo el nombre y la descripción de cada skill</a:t>
            </a:r>
          </a:p>
        </p:txBody>
      </p:sp>
      <p:sp>
        <p:nvSpPr>
          <p:cNvPr id="7" name="Rounded Rectangle 6"/>
          <p:cNvSpPr/>
          <p:nvPr/>
        </p:nvSpPr>
        <p:spPr>
          <a:xfrm>
            <a:off x="544068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71500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2</a:t>
            </a:r>
          </a:p>
        </p:txBody>
      </p:sp>
      <p:sp>
        <p:nvSpPr>
          <p:cNvPr id="9" name="TextBox 8"/>
          <p:cNvSpPr txBox="1"/>
          <p:nvPr/>
        </p:nvSpPr>
        <p:spPr>
          <a:xfrm>
            <a:off x="571500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Si la tarea coincide: el SKILL.md completo</a:t>
            </a:r>
          </a:p>
        </p:txBody>
      </p:sp>
      <p:sp>
        <p:nvSpPr>
          <p:cNvPr id="10" name="Rounded Rectangle 9"/>
          <p:cNvSpPr/>
          <p:nvPr/>
        </p:nvSpPr>
        <p:spPr>
          <a:xfrm>
            <a:off x="928116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5548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3</a:t>
            </a:r>
          </a:p>
        </p:txBody>
      </p:sp>
      <p:sp>
        <p:nvSpPr>
          <p:cNvPr id="12" name="TextBox 11"/>
          <p:cNvSpPr txBox="1"/>
          <p:nvPr/>
        </p:nvSpPr>
        <p:spPr>
          <a:xfrm>
            <a:off x="955548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Si hace falta: los archivos de referencia</a:t>
            </a:r>
          </a:p>
        </p:txBody>
      </p:sp>
      <p:sp>
        <p:nvSpPr>
          <p:cNvPr id="13" name="Rounded Rectangle 12"/>
          <p:cNvSpPr/>
          <p:nvPr/>
        </p:nvSpPr>
        <p:spPr>
          <a:xfrm>
            <a:off x="1312164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39596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4</a:t>
            </a:r>
          </a:p>
        </p:txBody>
      </p:sp>
      <p:sp>
        <p:nvSpPr>
          <p:cNvPr id="15" name="TextBox 14"/>
          <p:cNvSpPr txBox="1"/>
          <p:nvPr/>
        </p:nvSpPr>
        <p:spPr>
          <a:xfrm>
            <a:off x="1339596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Los scripts corren sin entrar al contexto</a:t>
            </a:r>
          </a:p>
        </p:txBody>
      </p:sp>
      <p:sp>
        <p:nvSpPr>
          <p:cNvPr id="16" name="TextBox 15"/>
          <p:cNvSpPr txBox="1"/>
          <p:nvPr/>
        </p:nvSpPr>
        <p:spPr>
          <a:xfrm>
            <a:off x="1600200" y="6537960"/>
            <a:ext cx="11887200" cy="822960"/>
          </a:xfrm>
          <a:prstGeom prst="rect">
            <a:avLst/>
          </a:prstGeom>
          <a:noFill/>
        </p:spPr>
        <p:txBody>
          <a:bodyPr wrap="square" lIns="0" rIns="0" tIns="0" bIns="0" anchor="t">
            <a:spAutoFit/>
          </a:bodyPr>
          <a:lstStyle/>
          <a:p>
            <a:pPr algn="l"/>
            <a:r>
              <a:rPr sz="2200" b="1">
                <a:solidFill>
                  <a:srgbClr val="A8600A"/>
                </a:solidFill>
                <a:latin typeface="Arial"/>
              </a:rPr>
              <a:t>Por eso puedes tener decenas de skills instalados sin llenar la ventana de contexto.</a:t>
            </a:r>
          </a:p>
        </p:txBody>
      </p:sp>
      <p:sp>
        <p:nvSpPr>
          <p:cNvPr id="17" name="TextBox 16"/>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40 · Zhang, Lazuka y Murag (2025), Equipping agents for the real world with Agent Skills, Anthropic</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Anatomía de un SKILL.md: la descripción decide cuándo se activa</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500" b="0">
                <a:solidFill>
                  <a:srgbClr val="8A96A8"/>
                </a:solidFill>
                <a:latin typeface="Courier New"/>
              </a:rPr>
              <a:t>---</a:t>
            </a:r>
          </a:p>
          <a:p>
            <a:pPr algn="l">
              <a:lnSpc>
                <a:spcPct val="105000"/>
              </a:lnSpc>
            </a:pPr>
            <a:r>
              <a:rPr sz="1500" b="0">
                <a:solidFill>
                  <a:srgbClr val="F2A541"/>
                </a:solidFill>
                <a:latin typeface="Courier New"/>
              </a:rPr>
              <a:t>name:</a:t>
            </a:r>
            <a:r>
              <a:rPr sz="1500" b="0">
                <a:solidFill>
                  <a:srgbClr val="DFE6EE"/>
                </a:solidFill>
                <a:latin typeface="Courier New"/>
              </a:rPr>
              <a:t> revisar-figura</a:t>
            </a:r>
          </a:p>
          <a:p>
            <a:pPr algn="l">
              <a:lnSpc>
                <a:spcPct val="105000"/>
              </a:lnSpc>
            </a:pPr>
            <a:r>
              <a:rPr sz="1500" b="0">
                <a:solidFill>
                  <a:srgbClr val="F2A541"/>
                </a:solidFill>
                <a:latin typeface="Courier New"/>
              </a:rPr>
              <a:t>description:</a:t>
            </a:r>
            <a:r>
              <a:rPr sz="1500" b="0">
                <a:solidFill>
                  <a:srgbClr val="DFE6EE"/>
                </a:solidFill>
                <a:latin typeface="Courier New"/>
              </a:rPr>
              <a:t> Revisa una figura científica (ejes, unidades,</a:t>
            </a:r>
          </a:p>
          <a:p>
            <a:pPr algn="l">
              <a:lnSpc>
                <a:spcPct val="105000"/>
              </a:lnSpc>
            </a:pPr>
            <a:r>
              <a:rPr sz="1500" b="0">
                <a:solidFill>
                  <a:srgbClr val="DFE6EE"/>
                </a:solidFill>
                <a:latin typeface="Courier New"/>
              </a:rPr>
              <a:t>  color, leyenda) antes de enviarla. Úsalo cuando el usuario</a:t>
            </a:r>
          </a:p>
          <a:p>
            <a:pPr algn="l">
              <a:lnSpc>
                <a:spcPct val="105000"/>
              </a:lnSpc>
            </a:pPr>
            <a:r>
              <a:rPr sz="1500" b="0">
                <a:solidFill>
                  <a:srgbClr val="DFE6EE"/>
                </a:solidFill>
                <a:latin typeface="Courier New"/>
              </a:rPr>
              <a:t>  pida revisar o mejorar una figura.</a:t>
            </a:r>
          </a:p>
          <a:p>
            <a:pPr algn="l">
              <a:lnSpc>
                <a:spcPct val="105000"/>
              </a:lnSpc>
            </a:pPr>
            <a:r>
              <a:rPr sz="1500" b="0">
                <a:solidFill>
                  <a:srgbClr val="8A96A8"/>
                </a:solidFill>
                <a:latin typeface="Courier New"/>
              </a:rPr>
              <a:t>---</a:t>
            </a:r>
          </a:p>
          <a:p>
            <a:pPr algn="l">
              <a:lnSpc>
                <a:spcPct val="105000"/>
              </a:lnSpc>
            </a:pPr>
            <a:r>
              <a:rPr sz="1500" b="0">
                <a:solidFill>
                  <a:srgbClr val="F2A541"/>
                </a:solidFill>
                <a:latin typeface="Courier New"/>
              </a:rPr>
              <a:t># Revisar figura</a:t>
            </a:r>
          </a:p>
          <a:p>
            <a:pPr algn="l">
              <a:lnSpc>
                <a:spcPct val="105000"/>
              </a:lnSpc>
            </a:pPr>
            <a:r>
              <a:rPr sz="1500" b="0">
                <a:solidFill>
                  <a:srgbClr val="DFE6EE"/>
                </a:solidFill>
                <a:latin typeface="Courier New"/>
              </a:rPr>
              <a:t>1. Abre la imagen y el script que la generó.</a:t>
            </a:r>
          </a:p>
          <a:p>
            <a:pPr algn="l">
              <a:lnSpc>
                <a:spcPct val="105000"/>
              </a:lnSpc>
            </a:pPr>
            <a:r>
              <a:rPr sz="1500" b="0">
                <a:solidFill>
                  <a:srgbClr val="DFE6EE"/>
                </a:solidFill>
                <a:latin typeface="Courier New"/>
              </a:rPr>
              <a:t>2. Recorre checklist.md: unidades en los ejes, legible en gris…</a:t>
            </a:r>
          </a:p>
          <a:p>
            <a:pPr algn="l">
              <a:lnSpc>
                <a:spcPct val="105000"/>
              </a:lnSpc>
            </a:pPr>
            <a:r>
              <a:rPr sz="1500" b="0">
                <a:solidFill>
                  <a:srgbClr val="DFE6EE"/>
                </a:solidFill>
                <a:latin typeface="Courier New"/>
              </a:rPr>
              <a:t>3. Corre scripts/contraste.py para el contraste de color.</a:t>
            </a:r>
          </a:p>
          <a:p>
            <a:pPr algn="l">
              <a:lnSpc>
                <a:spcPct val="105000"/>
              </a:lnSpc>
            </a:pPr>
            <a:r>
              <a:rPr sz="1500" b="0">
                <a:solidFill>
                  <a:srgbClr val="DFE6EE"/>
                </a:solidFill>
                <a:latin typeface="Courier New"/>
              </a:rPr>
              <a:t>4. Entrega los problemas, del más grave al menos grave.</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name</a:t>
            </a:r>
          </a:p>
          <a:p>
            <a:pPr algn="l">
              <a:spcAft>
                <a:spcPts val="600"/>
              </a:spcAft>
            </a:pPr>
            <a:r>
              <a:rPr sz="1800" b="0">
                <a:solidFill>
                  <a:srgbClr val="4A4F57"/>
                </a:solidFill>
                <a:latin typeface="Arial"/>
              </a:rPr>
              <a:t>el identificador del skill</a:t>
            </a:r>
          </a:p>
          <a:p>
            <a:pPr algn="l">
              <a:spcAft>
                <a:spcPts val="600"/>
              </a:spcAft>
            </a:pPr>
            <a:r>
              <a:rPr sz="2100" b="1">
                <a:solidFill>
                  <a:srgbClr val="A8600A"/>
                </a:solidFill>
                <a:latin typeface="Arial"/>
              </a:rPr>
              <a:t>description</a:t>
            </a:r>
          </a:p>
          <a:p>
            <a:pPr algn="l">
              <a:spcAft>
                <a:spcPts val="600"/>
              </a:spcAft>
            </a:pPr>
            <a:r>
              <a:rPr sz="1800" b="0">
                <a:solidFill>
                  <a:srgbClr val="4A4F57"/>
                </a:solidFill>
                <a:latin typeface="Arial"/>
              </a:rPr>
              <a:t>lo único que el agente ve al principio: si es vaga, nunca se activa</a:t>
            </a:r>
          </a:p>
          <a:p>
            <a:pPr algn="l">
              <a:spcAft>
                <a:spcPts val="600"/>
              </a:spcAft>
            </a:pPr>
            <a:r>
              <a:rPr sz="2100" b="1">
                <a:solidFill>
                  <a:srgbClr val="A8600A"/>
                </a:solidFill>
                <a:latin typeface="Arial"/>
              </a:rPr>
              <a:t>cuerpo</a:t>
            </a:r>
          </a:p>
          <a:p>
            <a:pPr algn="l">
              <a:spcAft>
                <a:spcPts val="600"/>
              </a:spcAft>
            </a:pPr>
            <a:r>
              <a:rPr sz="1800" b="0">
                <a:solidFill>
                  <a:srgbClr val="4A4F57"/>
                </a:solidFill>
                <a:latin typeface="Arial"/>
              </a:rPr>
              <a:t>los pasos, como se los explicarías a un estudiante</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41 · Zhang, Lazuka y Murag (2025), Anthropic</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Crear un skill: de una tarea repetida a una instrucción reutilizable</a:t>
            </a:r>
          </a:p>
        </p:txBody>
      </p:sp>
      <p:sp>
        <p:nvSpPr>
          <p:cNvPr id="4" name="Rounded Rectangle 3"/>
          <p:cNvSpPr/>
          <p:nvPr/>
        </p:nvSpPr>
        <p:spPr>
          <a:xfrm>
            <a:off x="1600200"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069080"/>
            <a:ext cx="2249424" cy="731520"/>
          </a:xfrm>
          <a:prstGeom prst="rect">
            <a:avLst/>
          </a:prstGeom>
          <a:noFill/>
        </p:spPr>
        <p:txBody>
          <a:bodyPr wrap="square" lIns="0" rIns="0" tIns="0" bIns="0" anchor="t">
            <a:spAutoFit/>
          </a:bodyPr>
          <a:lstStyle/>
          <a:p>
            <a:pPr algn="l"/>
            <a:r>
              <a:rPr sz="4400" b="1">
                <a:solidFill>
                  <a:srgbClr val="A8600A"/>
                </a:solidFill>
                <a:latin typeface="Arial"/>
              </a:rPr>
              <a:t>1</a:t>
            </a:r>
          </a:p>
        </p:txBody>
      </p:sp>
      <p:sp>
        <p:nvSpPr>
          <p:cNvPr id="6" name="TextBox 5"/>
          <p:cNvSpPr txBox="1"/>
          <p:nvPr/>
        </p:nvSpPr>
        <p:spPr>
          <a:xfrm>
            <a:off x="1874519"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Elige algo que ya hiciste tres veces</a:t>
            </a:r>
          </a:p>
        </p:txBody>
      </p:sp>
      <p:sp>
        <p:nvSpPr>
          <p:cNvPr id="7" name="Rounded Rectangle 6"/>
          <p:cNvSpPr/>
          <p:nvPr/>
        </p:nvSpPr>
        <p:spPr>
          <a:xfrm>
            <a:off x="4672583"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946903" y="4069080"/>
            <a:ext cx="2249424" cy="731520"/>
          </a:xfrm>
          <a:prstGeom prst="rect">
            <a:avLst/>
          </a:prstGeom>
          <a:noFill/>
        </p:spPr>
        <p:txBody>
          <a:bodyPr wrap="square" lIns="0" rIns="0" tIns="0" bIns="0" anchor="t">
            <a:spAutoFit/>
          </a:bodyPr>
          <a:lstStyle/>
          <a:p>
            <a:pPr algn="l"/>
            <a:r>
              <a:rPr sz="4400" b="1">
                <a:solidFill>
                  <a:srgbClr val="A8600A"/>
                </a:solidFill>
                <a:latin typeface="Arial"/>
              </a:rPr>
              <a:t>2</a:t>
            </a:r>
          </a:p>
        </p:txBody>
      </p:sp>
      <p:sp>
        <p:nvSpPr>
          <p:cNvPr id="9" name="TextBox 8"/>
          <p:cNvSpPr txBox="1"/>
          <p:nvPr/>
        </p:nvSpPr>
        <p:spPr>
          <a:xfrm>
            <a:off x="4946903"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Escribe los pasos y los errores típicos</a:t>
            </a:r>
          </a:p>
        </p:txBody>
      </p:sp>
      <p:sp>
        <p:nvSpPr>
          <p:cNvPr id="10" name="Rounded Rectangle 9"/>
          <p:cNvSpPr/>
          <p:nvPr/>
        </p:nvSpPr>
        <p:spPr>
          <a:xfrm>
            <a:off x="7744967"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19288" y="4069080"/>
            <a:ext cx="2249424" cy="731520"/>
          </a:xfrm>
          <a:prstGeom prst="rect">
            <a:avLst/>
          </a:prstGeom>
          <a:noFill/>
        </p:spPr>
        <p:txBody>
          <a:bodyPr wrap="square" lIns="0" rIns="0" tIns="0" bIns="0" anchor="t">
            <a:spAutoFit/>
          </a:bodyPr>
          <a:lstStyle/>
          <a:p>
            <a:pPr algn="l"/>
            <a:r>
              <a:rPr sz="4400" b="1">
                <a:solidFill>
                  <a:srgbClr val="A8600A"/>
                </a:solidFill>
                <a:latin typeface="Arial"/>
              </a:rPr>
              <a:t>3</a:t>
            </a:r>
          </a:p>
        </p:txBody>
      </p:sp>
      <p:sp>
        <p:nvSpPr>
          <p:cNvPr id="12" name="TextBox 11"/>
          <p:cNvSpPr txBox="1"/>
          <p:nvPr/>
        </p:nvSpPr>
        <p:spPr>
          <a:xfrm>
            <a:off x="8019288"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Describe cuándo usarlo: eso lo activa</a:t>
            </a:r>
          </a:p>
        </p:txBody>
      </p:sp>
      <p:sp>
        <p:nvSpPr>
          <p:cNvPr id="13" name="Rounded Rectangle 12"/>
          <p:cNvSpPr/>
          <p:nvPr/>
        </p:nvSpPr>
        <p:spPr>
          <a:xfrm>
            <a:off x="10817352"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1091672" y="4069080"/>
            <a:ext cx="2249424" cy="731520"/>
          </a:xfrm>
          <a:prstGeom prst="rect">
            <a:avLst/>
          </a:prstGeom>
          <a:noFill/>
        </p:spPr>
        <p:txBody>
          <a:bodyPr wrap="square" lIns="0" rIns="0" tIns="0" bIns="0" anchor="t">
            <a:spAutoFit/>
          </a:bodyPr>
          <a:lstStyle/>
          <a:p>
            <a:pPr algn="l"/>
            <a:r>
              <a:rPr sz="4400" b="1">
                <a:solidFill>
                  <a:srgbClr val="A8600A"/>
                </a:solidFill>
                <a:latin typeface="Arial"/>
              </a:rPr>
              <a:t>4</a:t>
            </a:r>
          </a:p>
        </p:txBody>
      </p:sp>
      <p:sp>
        <p:nvSpPr>
          <p:cNvPr id="15" name="TextBox 14"/>
          <p:cNvSpPr txBox="1"/>
          <p:nvPr/>
        </p:nvSpPr>
        <p:spPr>
          <a:xfrm>
            <a:off x="11091672"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Pasa lo mecánico a un script</a:t>
            </a:r>
          </a:p>
        </p:txBody>
      </p:sp>
      <p:sp>
        <p:nvSpPr>
          <p:cNvPr id="16" name="Rounded Rectangle 15"/>
          <p:cNvSpPr/>
          <p:nvPr/>
        </p:nvSpPr>
        <p:spPr>
          <a:xfrm>
            <a:off x="13889736"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4164056" y="4069080"/>
            <a:ext cx="2249424" cy="731520"/>
          </a:xfrm>
          <a:prstGeom prst="rect">
            <a:avLst/>
          </a:prstGeom>
          <a:noFill/>
        </p:spPr>
        <p:txBody>
          <a:bodyPr wrap="square" lIns="0" rIns="0" tIns="0" bIns="0" anchor="t">
            <a:spAutoFit/>
          </a:bodyPr>
          <a:lstStyle/>
          <a:p>
            <a:pPr algn="l"/>
            <a:r>
              <a:rPr sz="4400" b="1">
                <a:solidFill>
                  <a:srgbClr val="A8600A"/>
                </a:solidFill>
                <a:latin typeface="Arial"/>
              </a:rPr>
              <a:t>5</a:t>
            </a:r>
          </a:p>
        </p:txBody>
      </p:sp>
      <p:sp>
        <p:nvSpPr>
          <p:cNvPr id="18" name="TextBox 17"/>
          <p:cNvSpPr txBox="1"/>
          <p:nvPr/>
        </p:nvSpPr>
        <p:spPr>
          <a:xfrm>
            <a:off x="14164056"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Pruébalo en tres casos reales e itera</a:t>
            </a:r>
          </a:p>
        </p:txBody>
      </p:sp>
      <p:sp>
        <p:nvSpPr>
          <p:cNvPr id="19" name="Rounded Rectangle 18"/>
          <p:cNvSpPr/>
          <p:nvPr/>
        </p:nvSpPr>
        <p:spPr>
          <a:xfrm>
            <a:off x="1600200" y="6537960"/>
            <a:ext cx="12710160" cy="731520"/>
          </a:xfrm>
          <a:prstGeom prst="roundRect">
            <a:avLst>
              <a:gd name="adj" fmla="val 12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920240" y="6537960"/>
            <a:ext cx="12161520" cy="731520"/>
          </a:xfrm>
          <a:prstGeom prst="rect">
            <a:avLst/>
          </a:prstGeom>
          <a:noFill/>
        </p:spPr>
        <p:txBody>
          <a:bodyPr wrap="square" lIns="0" rIns="0" tIns="0" bIns="0" anchor="ctr">
            <a:spAutoFit/>
          </a:bodyPr>
          <a:lstStyle/>
          <a:p>
            <a:pPr algn="l"/>
            <a:r>
              <a:rPr sz="1800" b="0">
                <a:solidFill>
                  <a:srgbClr val="DFE6EE"/>
                </a:solidFill>
                <a:latin typeface="Courier New"/>
              </a:rPr>
              <a:t>Demo · «Crea un skill revisar-figura con estos pasos y pruébalo con esta figura»</a:t>
            </a:r>
          </a:p>
        </p:txBody>
      </p:sp>
      <p:sp>
        <p:nvSpPr>
          <p:cNvPr id="21" name="TextBox 20"/>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42 · Buenas prácticas: Zhang, Lazuka y Murag (2025), Anthropic</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No empieces de cero: ya hay skills para investigar</a:t>
            </a:r>
          </a:p>
        </p:txBody>
      </p:sp>
      <p:sp>
        <p:nvSpPr>
          <p:cNvPr id="4" name="Rounded Rectangle 3"/>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Revisar papers</a:t>
            </a:r>
          </a:p>
          <a:p>
            <a:pPr algn="l">
              <a:spcAft>
                <a:spcPts val="800"/>
              </a:spcAft>
            </a:pPr>
            <a:r>
              <a:rPr sz="2000" b="0">
                <a:solidFill>
                  <a:srgbClr val="4A4F57"/>
                </a:solidFill>
                <a:latin typeface="Arial"/>
              </a:rPr>
              <a:t>/review-paper de Bäckman: varios agentes revisores escriben un reporte de árbitro en 10 a 15 minutos (licencia MIT)</a:t>
            </a:r>
          </a:p>
        </p:txBody>
      </p:sp>
      <p:sp>
        <p:nvSpPr>
          <p:cNvPr id="6" name="Rounded Rectangle 5"/>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Ciencias de la vida</a:t>
            </a:r>
          </a:p>
          <a:p>
            <a:pPr algn="l">
              <a:spcAft>
                <a:spcPts val="800"/>
              </a:spcAft>
            </a:pPr>
            <a:r>
              <a:rPr sz="2000" b="0">
                <a:solidFill>
                  <a:srgbClr val="4A4F57"/>
                </a:solidFill>
                <a:latin typeface="Arial"/>
              </a:rPr>
              <a:t>claude-scientific-skills de K-Dense: conecta al agente con bases como PubMed, ChEMBL y UniProt</a:t>
            </a:r>
          </a:p>
        </p:txBody>
      </p:sp>
      <p:sp>
        <p:nvSpPr>
          <p:cNvPr id="8" name="Rounded Rectangle 7"/>
          <p:cNvSpPr/>
          <p:nvPr/>
        </p:nvSpPr>
        <p:spPr>
          <a:xfrm>
            <a:off x="1187196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Experimentos</a:t>
            </a:r>
          </a:p>
          <a:p>
            <a:pPr algn="l">
              <a:spcAft>
                <a:spcPts val="800"/>
              </a:spcAft>
            </a:pPr>
            <a:r>
              <a:rPr sz="2000" b="0">
                <a:solidFill>
                  <a:srgbClr val="4A4F57"/>
                </a:solidFill>
                <a:latin typeface="Arial"/>
              </a:rPr>
              <a:t>autoresearch empaquetado como skill: el ciclo de proponer, correr y evaluar para cualquier métrica</a:t>
            </a:r>
          </a:p>
        </p:txBody>
      </p:sp>
      <p:sp>
        <p:nvSpPr>
          <p:cNvPr id="10" name="Rounded Rectangle 9"/>
          <p:cNvSpPr/>
          <p:nvPr/>
        </p:nvSpPr>
        <p:spPr>
          <a:xfrm>
            <a:off x="1600200" y="7178040"/>
            <a:ext cx="11887200" cy="868680"/>
          </a:xfrm>
          <a:prstGeom prst="roundRect">
            <a:avLst>
              <a:gd name="adj" fmla="val 10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874519" y="7178040"/>
            <a:ext cx="11338560" cy="868680"/>
          </a:xfrm>
          <a:prstGeom prst="rect">
            <a:avLst/>
          </a:prstGeom>
          <a:noFill/>
        </p:spPr>
        <p:txBody>
          <a:bodyPr wrap="square" lIns="0" rIns="0" tIns="0" bIns="0" anchor="ctr">
            <a:spAutoFit/>
          </a:bodyPr>
          <a:lstStyle/>
          <a:p>
            <a:pPr algn="l"/>
            <a:r>
              <a:rPr sz="1800" b="0">
                <a:solidFill>
                  <a:srgbClr val="8A3B26"/>
                </a:solidFill>
                <a:latin typeface="Arial"/>
              </a:rPr>
              <a:t>Instala solo de fuentes confiables y léelos antes: un skill puede ordenarle al agente acciones que no quieres.</a:t>
            </a:r>
          </a:p>
        </p:txBody>
      </p:sp>
      <p:sp>
        <p:nvSpPr>
          <p:cNvPr id="12" name="TextBox 11"/>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43 · github.com/claesbackman/AI-research-feedback · github.com/WecoAI/awesome-autoresearch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TÚ, EN REGLAS Y CHECKS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La última pieza, la evaluación: harness engineering es diseñar el juez</a:t>
            </a:r>
          </a:p>
        </p:txBody>
      </p:sp>
      <p:sp>
        <p:nvSpPr>
          <p:cNvPr id="5" name="Rounded Rectangle 4"/>
          <p:cNvSpPr/>
          <p:nvPr/>
        </p:nvSpPr>
        <p:spPr>
          <a:xfrm>
            <a:off x="1600200" y="3886200"/>
            <a:ext cx="7383779"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683514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Un mapa, no un manual</a:t>
            </a:r>
          </a:p>
          <a:p>
            <a:pPr algn="l">
              <a:spcAft>
                <a:spcPts val="800"/>
              </a:spcAft>
            </a:pPr>
            <a:r>
              <a:rPr sz="1800" b="0">
                <a:solidFill>
                  <a:srgbClr val="4A4F57"/>
                </a:solidFill>
                <a:latin typeface="Arial"/>
              </a:rPr>
              <a:t>Un CLAUDE.md o AGENTS.md corto que apunta a lo demás</a:t>
            </a:r>
          </a:p>
        </p:txBody>
      </p:sp>
      <p:sp>
        <p:nvSpPr>
          <p:cNvPr id="7" name="Rounded Rectangle 6"/>
          <p:cNvSpPr/>
          <p:nvPr/>
        </p:nvSpPr>
        <p:spPr>
          <a:xfrm>
            <a:off x="9304019" y="3886200"/>
            <a:ext cx="7383779"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78340" y="4114800"/>
            <a:ext cx="683514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Restricciones mecánicas</a:t>
            </a:r>
          </a:p>
          <a:p>
            <a:pPr algn="l">
              <a:spcAft>
                <a:spcPts val="800"/>
              </a:spcAft>
            </a:pPr>
            <a:r>
              <a:rPr sz="1800" b="0">
                <a:solidFill>
                  <a:srgbClr val="4A4F57"/>
                </a:solidFill>
                <a:latin typeface="Arial"/>
              </a:rPr>
              <a:t>Tests y linters que el agente no puede saltarse</a:t>
            </a:r>
          </a:p>
        </p:txBody>
      </p:sp>
      <p:sp>
        <p:nvSpPr>
          <p:cNvPr id="9" name="Rounded Rectangle 8"/>
          <p:cNvSpPr/>
          <p:nvPr/>
        </p:nvSpPr>
        <p:spPr>
          <a:xfrm>
            <a:off x="1600200" y="5532120"/>
            <a:ext cx="7383779"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874519" y="5760720"/>
            <a:ext cx="683514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Evaluar el comportamiento</a:t>
            </a:r>
          </a:p>
          <a:p>
            <a:pPr algn="l">
              <a:spcAft>
                <a:spcPts val="800"/>
              </a:spcAft>
            </a:pPr>
            <a:r>
              <a:rPr sz="1800" b="0">
                <a:solidFill>
                  <a:srgbClr val="4A4F57"/>
                </a:solidFill>
                <a:latin typeface="Arial"/>
              </a:rPr>
              <a:t>¿Corrió el validador? ¿Preguntó antes de asumir?</a:t>
            </a:r>
          </a:p>
        </p:txBody>
      </p:sp>
      <p:sp>
        <p:nvSpPr>
          <p:cNvPr id="11" name="Rounded Rectangle 10"/>
          <p:cNvSpPr/>
          <p:nvPr/>
        </p:nvSpPr>
        <p:spPr>
          <a:xfrm>
            <a:off x="9304019" y="5532120"/>
            <a:ext cx="7383779"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78340" y="5760720"/>
            <a:ext cx="683514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Un revisor independiente</a:t>
            </a:r>
          </a:p>
          <a:p>
            <a:pPr algn="l">
              <a:spcAft>
                <a:spcPts val="800"/>
              </a:spcAft>
            </a:pPr>
            <a:r>
              <a:rPr sz="1800" b="0">
                <a:solidFill>
                  <a:srgbClr val="4A4F57"/>
                </a:solidFill>
                <a:latin typeface="Arial"/>
              </a:rPr>
              <a:t>Otro agente, u otro modelo, ataca el resultado</a:t>
            </a:r>
          </a:p>
        </p:txBody>
      </p:sp>
      <p:sp>
        <p:nvSpPr>
          <p:cNvPr id="13" name="TextBox 12"/>
          <p:cNvSpPr txBox="1"/>
          <p:nvPr/>
        </p:nvSpPr>
        <p:spPr>
          <a:xfrm>
            <a:off x="1600200" y="7315200"/>
            <a:ext cx="11887200" cy="822960"/>
          </a:xfrm>
          <a:prstGeom prst="rect">
            <a:avLst/>
          </a:prstGeom>
          <a:noFill/>
        </p:spPr>
        <p:txBody>
          <a:bodyPr wrap="square" lIns="0" rIns="0" tIns="0" bIns="0" anchor="t">
            <a:spAutoFit/>
          </a:bodyPr>
          <a:lstStyle/>
          <a:p>
            <a:pPr algn="l"/>
            <a:r>
              <a:rPr sz="2200" b="1">
                <a:solidFill>
                  <a:srgbClr val="A8600A"/>
                </a:solidFill>
                <a:latin typeface="Arial"/>
              </a:rPr>
              <a:t>En autoresearch, el harness es el experimento: program.md + train.py + una métrica.</a:t>
            </a:r>
          </a:p>
        </p:txBody>
      </p:sp>
      <p:sp>
        <p:nvSpPr>
          <p:cNvPr id="14" name="TextBox 13"/>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44 · Lopopolo (2026), OpenAI · Mullen y Gunderman (2026), Google · Hadfield et al. (2025), Anthropic</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TU MÉTRICA</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En autoresearch, tu métrica es el juez y el agente hace el resto</a:t>
            </a:r>
          </a:p>
        </p:txBody>
      </p:sp>
      <p:pic>
        <p:nvPicPr>
          <p:cNvPr id="5" name="Picture 4" descr="S16.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45 · github.com/karpathy/autoresearch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Tú escribes program.md; el agente escribe train.py</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700" b="0">
                <a:solidFill>
                  <a:srgbClr val="F2A541"/>
                </a:solidFill>
                <a:latin typeface="Courier New"/>
              </a:rPr>
              <a:t># program.md (resumen)</a:t>
            </a:r>
          </a:p>
          <a:p>
            <a:pPr algn="l">
              <a:lnSpc>
                <a:spcPct val="105000"/>
              </a:lnSpc>
            </a:pPr>
            <a:r>
              <a:rPr sz="1700" b="0">
                <a:solidFill>
                  <a:srgbClr val="DFE6EE"/>
                </a:solidFill>
                <a:latin typeface="Courier New"/>
              </a:rPr>
              <a:t> </a:t>
            </a:r>
          </a:p>
          <a:p>
            <a:pPr algn="l">
              <a:lnSpc>
                <a:spcPct val="105000"/>
              </a:lnSpc>
            </a:pPr>
            <a:r>
              <a:rPr sz="1700" b="0">
                <a:solidFill>
                  <a:srgbClr val="DFE6EE"/>
                </a:solidFill>
                <a:latin typeface="Courier New"/>
              </a:rPr>
              <a:t>Meta: bajar val_bpb en el conjunto de validación.</a:t>
            </a:r>
          </a:p>
          <a:p>
            <a:pPr algn="l">
              <a:lnSpc>
                <a:spcPct val="105000"/>
              </a:lnSpc>
            </a:pPr>
            <a:r>
              <a:rPr sz="1700" b="0">
                <a:solidFill>
                  <a:srgbClr val="DFE6EE"/>
                </a:solidFill>
                <a:latin typeface="Courier New"/>
              </a:rPr>
              <a:t>Solo puedes editar train.py.</a:t>
            </a:r>
          </a:p>
          <a:p>
            <a:pPr algn="l">
              <a:lnSpc>
                <a:spcPct val="105000"/>
              </a:lnSpc>
            </a:pPr>
            <a:r>
              <a:rPr sz="1700" b="0">
                <a:solidFill>
                  <a:srgbClr val="DFE6EE"/>
                </a:solidFill>
                <a:latin typeface="Courier New"/>
              </a:rPr>
              <a:t>Cada experimento entrena 5 minutos, ni uno más.</a:t>
            </a:r>
          </a:p>
          <a:p>
            <a:pPr algn="l">
              <a:lnSpc>
                <a:spcPct val="105000"/>
              </a:lnSpc>
            </a:pPr>
            <a:r>
              <a:rPr sz="1700" b="0">
                <a:solidFill>
                  <a:srgbClr val="DFE6EE"/>
                </a:solidFill>
                <a:latin typeface="Courier New"/>
              </a:rPr>
              <a:t>Si mejora, haz commit. Si no, vuelve al commit anterior.</a:t>
            </a:r>
          </a:p>
          <a:p>
            <a:pPr algn="l">
              <a:lnSpc>
                <a:spcPct val="105000"/>
              </a:lnSpc>
            </a:pPr>
            <a:r>
              <a:rPr sz="1700" b="0">
                <a:solidFill>
                  <a:srgbClr val="DFE6EE"/>
                </a:solidFill>
                <a:latin typeface="Courier New"/>
              </a:rPr>
              <a:t>Anota cada intento en results.tsv.</a:t>
            </a:r>
          </a:p>
          <a:p>
            <a:pPr algn="l">
              <a:lnSpc>
                <a:spcPct val="105000"/>
              </a:lnSpc>
            </a:pPr>
            <a:r>
              <a:rPr sz="1700" b="0">
                <a:solidFill>
                  <a:srgbClr val="DFE6EE"/>
                </a:solidFill>
                <a:latin typeface="Courier New"/>
              </a:rPr>
              <a:t>No pares: sigue proponiendo hasta que te detengan.</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La métrica</a:t>
            </a:r>
          </a:p>
          <a:p>
            <a:pPr algn="l">
              <a:spcAft>
                <a:spcPts val="600"/>
              </a:spcAft>
            </a:pPr>
            <a:r>
              <a:rPr sz="1800" b="0">
                <a:solidFill>
                  <a:srgbClr val="4A4F57"/>
                </a:solidFill>
                <a:latin typeface="Arial"/>
              </a:rPr>
              <a:t>es el juez: el agente no la puede cambiar</a:t>
            </a:r>
          </a:p>
          <a:p>
            <a:pPr algn="l">
              <a:spcAft>
                <a:spcPts val="600"/>
              </a:spcAft>
            </a:pPr>
            <a:r>
              <a:rPr sz="2100" b="1">
                <a:solidFill>
                  <a:srgbClr val="A8600A"/>
                </a:solidFill>
                <a:latin typeface="Arial"/>
              </a:rPr>
              <a:t>El tiempo fijo</a:t>
            </a:r>
          </a:p>
          <a:p>
            <a:pPr algn="l">
              <a:spcAft>
                <a:spcPts val="600"/>
              </a:spcAft>
            </a:pPr>
            <a:r>
              <a:rPr sz="1800" b="0">
                <a:solidFill>
                  <a:srgbClr val="4A4F57"/>
                </a:solidFill>
                <a:latin typeface="Arial"/>
              </a:rPr>
              <a:t>hace comparables todas las corridas</a:t>
            </a:r>
          </a:p>
          <a:p>
            <a:pPr algn="l">
              <a:spcAft>
                <a:spcPts val="600"/>
              </a:spcAft>
            </a:pPr>
            <a:r>
              <a:rPr sz="2100" b="1">
                <a:solidFill>
                  <a:srgbClr val="A8600A"/>
                </a:solidFill>
                <a:latin typeface="Arial"/>
              </a:rPr>
              <a:t>Git</a:t>
            </a:r>
          </a:p>
          <a:p>
            <a:pPr algn="l">
              <a:spcAft>
                <a:spcPts val="600"/>
              </a:spcAft>
            </a:pPr>
            <a:r>
              <a:rPr sz="1800" b="0">
                <a:solidFill>
                  <a:srgbClr val="4A4F57"/>
                </a:solidFill>
                <a:latin typeface="Arial"/>
              </a:rPr>
              <a:t>es la memoria: cada mejora queda guardada</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46 · github.com/karpathy/autoresearch · resumen propio, no el texto literal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Co-Scientist: seis agentes que proponen, critican y ordenan hipótesis</a:t>
            </a:r>
          </a:p>
        </p:txBody>
      </p:sp>
      <p:sp>
        <p:nvSpPr>
          <p:cNvPr id="4" name="Rounded Rectangle 3"/>
          <p:cNvSpPr/>
          <p:nvPr/>
        </p:nvSpPr>
        <p:spPr>
          <a:xfrm>
            <a:off x="1600200" y="388620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Generación</a:t>
            </a:r>
          </a:p>
          <a:p>
            <a:pPr algn="l">
              <a:spcAft>
                <a:spcPts val="800"/>
              </a:spcAft>
            </a:pPr>
            <a:r>
              <a:rPr sz="1800" b="0">
                <a:solidFill>
                  <a:srgbClr val="4A4F57"/>
                </a:solidFill>
                <a:latin typeface="Arial"/>
              </a:rPr>
              <a:t>Propone hipótesis a partir de la literatura</a:t>
            </a:r>
          </a:p>
        </p:txBody>
      </p:sp>
      <p:sp>
        <p:nvSpPr>
          <p:cNvPr id="6" name="Rounded Rectangle 5"/>
          <p:cNvSpPr/>
          <p:nvPr/>
        </p:nvSpPr>
        <p:spPr>
          <a:xfrm>
            <a:off x="6736080" y="388620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10399" y="411480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Reflexión</a:t>
            </a:r>
          </a:p>
          <a:p>
            <a:pPr algn="l">
              <a:spcAft>
                <a:spcPts val="800"/>
              </a:spcAft>
            </a:pPr>
            <a:r>
              <a:rPr sz="1800" b="0">
                <a:solidFill>
                  <a:srgbClr val="4A4F57"/>
                </a:solidFill>
                <a:latin typeface="Arial"/>
              </a:rPr>
              <a:t>Las critica como un revisor</a:t>
            </a:r>
          </a:p>
        </p:txBody>
      </p:sp>
      <p:sp>
        <p:nvSpPr>
          <p:cNvPr id="8" name="Rounded Rectangle 7"/>
          <p:cNvSpPr/>
          <p:nvPr/>
        </p:nvSpPr>
        <p:spPr>
          <a:xfrm>
            <a:off x="11871960" y="3886200"/>
            <a:ext cx="4815840" cy="141732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146280" y="4114800"/>
            <a:ext cx="4267200" cy="1051560"/>
          </a:xfrm>
          <a:prstGeom prst="rect">
            <a:avLst/>
          </a:prstGeom>
          <a:noFill/>
        </p:spPr>
        <p:txBody>
          <a:bodyPr wrap="square" lIns="0" rIns="0" tIns="0" bIns="0" anchor="t">
            <a:spAutoFit/>
          </a:bodyPr>
          <a:lstStyle/>
          <a:p>
            <a:pPr algn="l">
              <a:spcAft>
                <a:spcPts val="800"/>
              </a:spcAft>
            </a:pPr>
            <a:r>
              <a:rPr sz="2200" b="1">
                <a:solidFill>
                  <a:srgbClr val="A8600A"/>
                </a:solidFill>
                <a:latin typeface="Arial"/>
              </a:rPr>
              <a:t>Ranking</a:t>
            </a:r>
          </a:p>
          <a:p>
            <a:pPr algn="l">
              <a:spcAft>
                <a:spcPts val="800"/>
              </a:spcAft>
            </a:pPr>
            <a:r>
              <a:rPr sz="1800" b="0">
                <a:solidFill>
                  <a:srgbClr val="4A4F57"/>
                </a:solidFill>
                <a:latin typeface="Arial"/>
              </a:rPr>
              <a:t>Torneo con Elo entre pares de hipótesis</a:t>
            </a:r>
          </a:p>
        </p:txBody>
      </p:sp>
      <p:sp>
        <p:nvSpPr>
          <p:cNvPr id="10" name="Rounded Rectangle 9"/>
          <p:cNvSpPr/>
          <p:nvPr/>
        </p:nvSpPr>
        <p:spPr>
          <a:xfrm>
            <a:off x="1600200" y="553212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874519" y="576072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Evolución</a:t>
            </a:r>
          </a:p>
          <a:p>
            <a:pPr algn="l">
              <a:spcAft>
                <a:spcPts val="800"/>
              </a:spcAft>
            </a:pPr>
            <a:r>
              <a:rPr sz="1800" b="0">
                <a:solidFill>
                  <a:srgbClr val="4A4F57"/>
                </a:solidFill>
                <a:latin typeface="Arial"/>
              </a:rPr>
              <a:t>Combina y mejora las mejores</a:t>
            </a:r>
          </a:p>
        </p:txBody>
      </p:sp>
      <p:sp>
        <p:nvSpPr>
          <p:cNvPr id="12" name="Rounded Rectangle 11"/>
          <p:cNvSpPr/>
          <p:nvPr/>
        </p:nvSpPr>
        <p:spPr>
          <a:xfrm>
            <a:off x="6736080" y="553212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010399" y="576072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Proximidad</a:t>
            </a:r>
          </a:p>
          <a:p>
            <a:pPr algn="l">
              <a:spcAft>
                <a:spcPts val="800"/>
              </a:spcAft>
            </a:pPr>
            <a:r>
              <a:rPr sz="1800" b="0">
                <a:solidFill>
                  <a:srgbClr val="4A4F57"/>
                </a:solidFill>
                <a:latin typeface="Arial"/>
              </a:rPr>
              <a:t>Agrupa las que se parecen</a:t>
            </a:r>
          </a:p>
        </p:txBody>
      </p:sp>
      <p:sp>
        <p:nvSpPr>
          <p:cNvPr id="14" name="Rounded Rectangle 13"/>
          <p:cNvSpPr/>
          <p:nvPr/>
        </p:nvSpPr>
        <p:spPr>
          <a:xfrm>
            <a:off x="11871960" y="553212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146280" y="576072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Meta-revisión</a:t>
            </a:r>
          </a:p>
          <a:p>
            <a:pPr algn="l">
              <a:spcAft>
                <a:spcPts val="800"/>
              </a:spcAft>
            </a:pPr>
            <a:r>
              <a:rPr sz="1800" b="0">
                <a:solidFill>
                  <a:srgbClr val="4A4F57"/>
                </a:solidFill>
                <a:latin typeface="Arial"/>
              </a:rPr>
              <a:t>Resume patrones de las críticas</a:t>
            </a:r>
          </a:p>
        </p:txBody>
      </p:sp>
      <p:sp>
        <p:nvSpPr>
          <p:cNvPr id="16" name="TextBox 15"/>
          <p:cNvSpPr txBox="1"/>
          <p:nvPr/>
        </p:nvSpPr>
        <p:spPr>
          <a:xfrm>
            <a:off x="1600200" y="7315200"/>
            <a:ext cx="11887200" cy="822960"/>
          </a:xfrm>
          <a:prstGeom prst="rect">
            <a:avLst/>
          </a:prstGeom>
          <a:noFill/>
        </p:spPr>
        <p:txBody>
          <a:bodyPr wrap="square" lIns="0" rIns="0" tIns="0" bIns="0" anchor="t">
            <a:spAutoFit/>
          </a:bodyPr>
          <a:lstStyle/>
          <a:p>
            <a:pPr algn="l"/>
            <a:r>
              <a:rPr sz="2200" b="1">
                <a:solidFill>
                  <a:srgbClr val="A8600A"/>
                </a:solidFill>
                <a:latin typeface="Arial"/>
              </a:rPr>
              <a:t>Un supervisor reparte el trabajo. Corre sobre Gemini 2.0.</a:t>
            </a:r>
          </a:p>
        </p:txBody>
      </p:sp>
      <p:sp>
        <p:nvSpPr>
          <p:cNvPr id="17" name="TextBox 16"/>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47 · Gottweis et al. (2026), Accelerating scientific discovery with Co-Scientist, Nature 655</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AGENTES, LUEGO EL LABORATORIO</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torneo: los agentes juzgan cada par de hipótesis y el Elo las ordena</a:t>
            </a:r>
          </a:p>
        </p:txBody>
      </p:sp>
      <p:pic>
        <p:nvPicPr>
          <p:cNvPr id="5" name="Picture 4" descr="S17.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48 · Gottweis et al. (2026), Nature 655 · torneo ilustrativo, Elo calculado</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Lo que se validó en el laboratorio</a:t>
            </a:r>
          </a:p>
        </p:txBody>
      </p:sp>
      <p:cxnSp>
        <p:nvCxnSpPr>
          <p:cNvPr id="4" name="Connector 3"/>
          <p:cNvCxnSpPr/>
          <p:nvPr/>
        </p:nvCxnSpPr>
        <p:spPr>
          <a:xfrm>
            <a:off x="1600200" y="3886200"/>
            <a:ext cx="466344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114800"/>
            <a:ext cx="4663440" cy="720090"/>
          </a:xfrm>
          <a:prstGeom prst="rect">
            <a:avLst/>
          </a:prstGeom>
          <a:noFill/>
        </p:spPr>
        <p:txBody>
          <a:bodyPr wrap="square" lIns="0" rIns="0" tIns="0" bIns="0" anchor="t">
            <a:spAutoFit/>
          </a:bodyPr>
          <a:lstStyle/>
          <a:p>
            <a:pPr algn="l">
              <a:lnSpc>
                <a:spcPct val="90000"/>
              </a:lnSpc>
            </a:pPr>
            <a:r>
              <a:rPr sz="5400" b="1">
                <a:solidFill>
                  <a:srgbClr val="A8600A"/>
                </a:solidFill>
                <a:latin typeface="Arial"/>
              </a:rPr>
              <a:t>18×</a:t>
            </a:r>
          </a:p>
        </p:txBody>
      </p:sp>
      <p:sp>
        <p:nvSpPr>
          <p:cNvPr id="6" name="TextBox 5"/>
          <p:cNvSpPr txBox="1"/>
          <p:nvPr/>
        </p:nvSpPr>
        <p:spPr>
          <a:xfrm>
            <a:off x="1600200" y="4926329"/>
            <a:ext cx="4663440" cy="1371600"/>
          </a:xfrm>
          <a:prstGeom prst="rect">
            <a:avLst/>
          </a:prstGeom>
          <a:noFill/>
        </p:spPr>
        <p:txBody>
          <a:bodyPr wrap="square" lIns="0" rIns="0" tIns="0" bIns="0" anchor="t">
            <a:spAutoFit/>
          </a:bodyPr>
          <a:lstStyle/>
          <a:p>
            <a:pPr algn="l"/>
            <a:r>
              <a:rPr sz="2000" b="0">
                <a:solidFill>
                  <a:srgbClr val="4A4F57"/>
                </a:solidFill>
                <a:latin typeface="Arial"/>
              </a:rPr>
              <a:t>ventana de KIRA6 en leucemia mieloide aguda: IC50 de 10 nM frente a 180 nM en células control</a:t>
            </a:r>
          </a:p>
        </p:txBody>
      </p:sp>
      <p:cxnSp>
        <p:nvCxnSpPr>
          <p:cNvPr id="7" name="Connector 6"/>
          <p:cNvCxnSpPr/>
          <p:nvPr/>
        </p:nvCxnSpPr>
        <p:spPr>
          <a:xfrm>
            <a:off x="681228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12280" y="4114800"/>
            <a:ext cx="4663440" cy="720090"/>
          </a:xfrm>
          <a:prstGeom prst="rect">
            <a:avLst/>
          </a:prstGeom>
          <a:noFill/>
        </p:spPr>
        <p:txBody>
          <a:bodyPr wrap="square" lIns="0" rIns="0" tIns="0" bIns="0" anchor="t">
            <a:spAutoFit/>
          </a:bodyPr>
          <a:lstStyle/>
          <a:p>
            <a:pPr algn="l">
              <a:lnSpc>
                <a:spcPct val="90000"/>
              </a:lnSpc>
            </a:pPr>
            <a:r>
              <a:rPr sz="5400" b="1">
                <a:solidFill>
                  <a:srgbClr val="073763"/>
                </a:solidFill>
                <a:latin typeface="Arial"/>
              </a:rPr>
              <a:t>2 de 3</a:t>
            </a:r>
          </a:p>
        </p:txBody>
      </p:sp>
      <p:sp>
        <p:nvSpPr>
          <p:cNvPr id="9" name="TextBox 8"/>
          <p:cNvSpPr txBox="1"/>
          <p:nvPr/>
        </p:nvSpPr>
        <p:spPr>
          <a:xfrm>
            <a:off x="6812280" y="4926329"/>
            <a:ext cx="4663440" cy="1371600"/>
          </a:xfrm>
          <a:prstGeom prst="rect">
            <a:avLst/>
          </a:prstGeom>
          <a:noFill/>
        </p:spPr>
        <p:txBody>
          <a:bodyPr wrap="square" lIns="0" rIns="0" tIns="0" bIns="0" anchor="t">
            <a:spAutoFit/>
          </a:bodyPr>
          <a:lstStyle/>
          <a:p>
            <a:pPr algn="l"/>
            <a:r>
              <a:rPr sz="2000" b="0">
                <a:solidFill>
                  <a:srgbClr val="4A4F57"/>
                </a:solidFill>
                <a:latin typeface="Arial"/>
              </a:rPr>
              <a:t>fármacos propuestos para fibrosis hepática mostraron actividad en organoides humanos</a:t>
            </a:r>
          </a:p>
        </p:txBody>
      </p:sp>
      <p:cxnSp>
        <p:nvCxnSpPr>
          <p:cNvPr id="10" name="Connector 9"/>
          <p:cNvCxnSpPr/>
          <p:nvPr/>
        </p:nvCxnSpPr>
        <p:spPr>
          <a:xfrm>
            <a:off x="1202436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024360" y="4114800"/>
            <a:ext cx="4663440" cy="720090"/>
          </a:xfrm>
          <a:prstGeom prst="rect">
            <a:avLst/>
          </a:prstGeom>
          <a:noFill/>
        </p:spPr>
        <p:txBody>
          <a:bodyPr wrap="square" lIns="0" rIns="0" tIns="0" bIns="0" anchor="t">
            <a:spAutoFit/>
          </a:bodyPr>
          <a:lstStyle/>
          <a:p>
            <a:pPr algn="l">
              <a:lnSpc>
                <a:spcPct val="90000"/>
              </a:lnSpc>
            </a:pPr>
            <a:r>
              <a:rPr sz="5400" b="1">
                <a:solidFill>
                  <a:srgbClr val="073763"/>
                </a:solidFill>
                <a:latin typeface="Arial"/>
              </a:rPr>
              <a:t>~2 días</a:t>
            </a:r>
          </a:p>
        </p:txBody>
      </p:sp>
      <p:sp>
        <p:nvSpPr>
          <p:cNvPr id="12" name="TextBox 11"/>
          <p:cNvSpPr txBox="1"/>
          <p:nvPr/>
        </p:nvSpPr>
        <p:spPr>
          <a:xfrm>
            <a:off x="12024360" y="4926329"/>
            <a:ext cx="4663440" cy="1371600"/>
          </a:xfrm>
          <a:prstGeom prst="rect">
            <a:avLst/>
          </a:prstGeom>
          <a:noFill/>
        </p:spPr>
        <p:txBody>
          <a:bodyPr wrap="square" lIns="0" rIns="0" tIns="0" bIns="0" anchor="t">
            <a:spAutoFit/>
          </a:bodyPr>
          <a:lstStyle/>
          <a:p>
            <a:pPr algn="l"/>
            <a:r>
              <a:rPr sz="2000" b="0">
                <a:solidFill>
                  <a:srgbClr val="4A4F57"/>
                </a:solidFill>
                <a:latin typeface="Arial"/>
              </a:rPr>
              <a:t>para proponer una hipótesis de resistencia antimicrobiana que coincidía con un estudio aún no publicado</a:t>
            </a:r>
          </a:p>
        </p:txBody>
      </p:sp>
      <p:sp>
        <p:nvSpPr>
          <p:cNvPr id="13" name="Rounded Rectangle 12"/>
          <p:cNvSpPr/>
          <p:nvPr/>
        </p:nvSpPr>
        <p:spPr>
          <a:xfrm>
            <a:off x="1600200" y="7223760"/>
            <a:ext cx="11887200" cy="868680"/>
          </a:xfrm>
          <a:prstGeom prst="roundRect">
            <a:avLst>
              <a:gd name="adj" fmla="val 10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874519" y="7223760"/>
            <a:ext cx="11338560" cy="868680"/>
          </a:xfrm>
          <a:prstGeom prst="rect">
            <a:avLst/>
          </a:prstGeom>
          <a:noFill/>
        </p:spPr>
        <p:txBody>
          <a:bodyPr wrap="square" lIns="0" rIns="0" tIns="0" bIns="0" anchor="ctr">
            <a:spAutoFit/>
          </a:bodyPr>
          <a:lstStyle/>
          <a:p>
            <a:pPr algn="l"/>
            <a:r>
              <a:rPr sz="1800" b="0">
                <a:solidFill>
                  <a:srgbClr val="8A3B26"/>
                </a:solidFill>
                <a:latin typeface="Arial"/>
              </a:rPr>
              <a:t>Validación preliminar: líneas celulares y organoides, no pacientes. El Elo es un proxy, no la verdad.</a:t>
            </a:r>
          </a:p>
        </p:txBody>
      </p:sp>
      <p:sp>
        <p:nvSpPr>
          <p:cNvPr id="15" name="TextBox 14"/>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49 · Gottweis et al. (2026), Nature 655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UN EVALUADOR AUTOMÁTICO</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ERA y AlphaEvolve escriben código y dejan que un evaluador lo juzgue</a:t>
            </a:r>
          </a:p>
        </p:txBody>
      </p:sp>
      <p:pic>
        <p:nvPicPr>
          <p:cNvPr id="5" name="Picture 4" descr="S18.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50 · Aygün et al. (2026), Nature 654 · Novikov et al. (2025), arXiv 2506.13131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Ya hay investigación de punta a punta; el juicio sigue siendo el cuello de botella</a:t>
            </a:r>
          </a:p>
        </p:txBody>
      </p:sp>
      <p:cxnSp>
        <p:nvCxnSpPr>
          <p:cNvPr id="4" name="Connector 3"/>
          <p:cNvCxnSpPr/>
          <p:nvPr/>
        </p:nvCxnSpPr>
        <p:spPr>
          <a:xfrm>
            <a:off x="160020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114800"/>
            <a:ext cx="4663440" cy="1066800"/>
          </a:xfrm>
          <a:prstGeom prst="rect">
            <a:avLst/>
          </a:prstGeom>
          <a:noFill/>
        </p:spPr>
        <p:txBody>
          <a:bodyPr wrap="square" lIns="0" rIns="0" tIns="0" bIns="0" anchor="t">
            <a:spAutoFit/>
          </a:bodyPr>
          <a:lstStyle/>
          <a:p>
            <a:pPr algn="l">
              <a:lnSpc>
                <a:spcPct val="90000"/>
              </a:lnSpc>
            </a:pPr>
            <a:r>
              <a:rPr sz="8000" b="1">
                <a:solidFill>
                  <a:srgbClr val="073763"/>
                </a:solidFill>
                <a:latin typeface="Arial"/>
              </a:rPr>
              <a:t>6.33</a:t>
            </a:r>
          </a:p>
        </p:txBody>
      </p:sp>
      <p:sp>
        <p:nvSpPr>
          <p:cNvPr id="6" name="TextBox 5"/>
          <p:cNvSpPr txBox="1"/>
          <p:nvPr/>
        </p:nvSpPr>
        <p:spPr>
          <a:xfrm>
            <a:off x="1600200" y="5273040"/>
            <a:ext cx="4663440" cy="1371600"/>
          </a:xfrm>
          <a:prstGeom prst="rect">
            <a:avLst/>
          </a:prstGeom>
          <a:noFill/>
        </p:spPr>
        <p:txBody>
          <a:bodyPr wrap="square" lIns="0" rIns="0" tIns="0" bIns="0" anchor="t">
            <a:spAutoFit/>
          </a:bodyPr>
          <a:lstStyle/>
          <a:p>
            <a:pPr algn="l"/>
            <a:r>
              <a:rPr sz="2000" b="0">
                <a:solidFill>
                  <a:srgbClr val="4A4F57"/>
                </a:solidFill>
                <a:latin typeface="Arial"/>
              </a:rPr>
              <a:t>puntaje del primer paper 100% IA que pasó revisión en un workshop de ICLR 2025</a:t>
            </a:r>
          </a:p>
        </p:txBody>
      </p:sp>
      <p:sp>
        <p:nvSpPr>
          <p:cNvPr id="7" name="TextBox 6"/>
          <p:cNvSpPr txBox="1"/>
          <p:nvPr/>
        </p:nvSpPr>
        <p:spPr>
          <a:xfrm>
            <a:off x="1600200" y="6507480"/>
            <a:ext cx="4663440" cy="411480"/>
          </a:xfrm>
          <a:prstGeom prst="rect">
            <a:avLst/>
          </a:prstGeom>
          <a:noFill/>
        </p:spPr>
        <p:txBody>
          <a:bodyPr wrap="square" lIns="0" rIns="0" tIns="0" bIns="0" anchor="t">
            <a:spAutoFit/>
          </a:bodyPr>
          <a:lstStyle/>
          <a:p>
            <a:pPr algn="l"/>
            <a:r>
              <a:rPr sz="1500" b="1">
                <a:solidFill>
                  <a:srgbClr val="757070"/>
                </a:solidFill>
                <a:latin typeface="Arial"/>
              </a:rPr>
              <a:t>The AI Scientist · Nature 2026</a:t>
            </a:r>
          </a:p>
        </p:txBody>
      </p:sp>
      <p:cxnSp>
        <p:nvCxnSpPr>
          <p:cNvPr id="8" name="Connector 7"/>
          <p:cNvCxnSpPr/>
          <p:nvPr/>
        </p:nvCxnSpPr>
        <p:spPr>
          <a:xfrm>
            <a:off x="681228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12280" y="4114800"/>
            <a:ext cx="4663440" cy="1066800"/>
          </a:xfrm>
          <a:prstGeom prst="rect">
            <a:avLst/>
          </a:prstGeom>
          <a:noFill/>
        </p:spPr>
        <p:txBody>
          <a:bodyPr wrap="square" lIns="0" rIns="0" tIns="0" bIns="0" anchor="t">
            <a:spAutoFit/>
          </a:bodyPr>
          <a:lstStyle/>
          <a:p>
            <a:pPr algn="l">
              <a:lnSpc>
                <a:spcPct val="90000"/>
              </a:lnSpc>
            </a:pPr>
            <a:r>
              <a:rPr sz="8000" b="1">
                <a:solidFill>
                  <a:srgbClr val="073763"/>
                </a:solidFill>
                <a:latin typeface="Arial"/>
              </a:rPr>
              <a:t>79.4%</a:t>
            </a:r>
          </a:p>
        </p:txBody>
      </p:sp>
      <p:sp>
        <p:nvSpPr>
          <p:cNvPr id="10" name="TextBox 9"/>
          <p:cNvSpPr txBox="1"/>
          <p:nvPr/>
        </p:nvSpPr>
        <p:spPr>
          <a:xfrm>
            <a:off x="6812280" y="5273040"/>
            <a:ext cx="4663440" cy="1371600"/>
          </a:xfrm>
          <a:prstGeom prst="rect">
            <a:avLst/>
          </a:prstGeom>
          <a:noFill/>
        </p:spPr>
        <p:txBody>
          <a:bodyPr wrap="square" lIns="0" rIns="0" tIns="0" bIns="0" anchor="t">
            <a:spAutoFit/>
          </a:bodyPr>
          <a:lstStyle/>
          <a:p>
            <a:pPr algn="l"/>
            <a:r>
              <a:rPr sz="2000" b="0">
                <a:solidFill>
                  <a:srgbClr val="4A4F57"/>
                </a:solidFill>
                <a:latin typeface="Arial"/>
              </a:rPr>
              <a:t>de las afirmaciones de Kosmos son correctas: cerca de 1 de cada 5 no lo es</a:t>
            </a:r>
          </a:p>
        </p:txBody>
      </p:sp>
      <p:sp>
        <p:nvSpPr>
          <p:cNvPr id="11" name="TextBox 10"/>
          <p:cNvSpPr txBox="1"/>
          <p:nvPr/>
        </p:nvSpPr>
        <p:spPr>
          <a:xfrm>
            <a:off x="6812280" y="6507480"/>
            <a:ext cx="4663440" cy="411480"/>
          </a:xfrm>
          <a:prstGeom prst="rect">
            <a:avLst/>
          </a:prstGeom>
          <a:noFill/>
        </p:spPr>
        <p:txBody>
          <a:bodyPr wrap="square" lIns="0" rIns="0" tIns="0" bIns="0" anchor="t">
            <a:spAutoFit/>
          </a:bodyPr>
          <a:lstStyle/>
          <a:p>
            <a:pPr algn="l"/>
            <a:r>
              <a:rPr sz="1500" b="1">
                <a:solidFill>
                  <a:srgbClr val="757070"/>
                </a:solidFill>
                <a:latin typeface="Arial"/>
              </a:rPr>
              <a:t>Kosmos · arXiv 2511.02824</a:t>
            </a:r>
          </a:p>
        </p:txBody>
      </p:sp>
      <p:cxnSp>
        <p:nvCxnSpPr>
          <p:cNvPr id="12" name="Connector 11"/>
          <p:cNvCxnSpPr/>
          <p:nvPr/>
        </p:nvCxnSpPr>
        <p:spPr>
          <a:xfrm>
            <a:off x="12024360" y="3886200"/>
            <a:ext cx="466344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2024360" y="4114800"/>
            <a:ext cx="4663440" cy="1066800"/>
          </a:xfrm>
          <a:prstGeom prst="rect">
            <a:avLst/>
          </a:prstGeom>
          <a:noFill/>
        </p:spPr>
        <p:txBody>
          <a:bodyPr wrap="square" lIns="0" rIns="0" tIns="0" bIns="0" anchor="t">
            <a:spAutoFit/>
          </a:bodyPr>
          <a:lstStyle/>
          <a:p>
            <a:pPr algn="l">
              <a:lnSpc>
                <a:spcPct val="90000"/>
              </a:lnSpc>
            </a:pPr>
            <a:r>
              <a:rPr sz="8000" b="1">
                <a:solidFill>
                  <a:srgbClr val="A8600A"/>
                </a:solidFill>
                <a:latin typeface="Arial"/>
              </a:rPr>
              <a:t>88.1%</a:t>
            </a:r>
          </a:p>
        </p:txBody>
      </p:sp>
      <p:sp>
        <p:nvSpPr>
          <p:cNvPr id="14" name="TextBox 13"/>
          <p:cNvSpPr txBox="1"/>
          <p:nvPr/>
        </p:nvSpPr>
        <p:spPr>
          <a:xfrm>
            <a:off x="12024360" y="5273040"/>
            <a:ext cx="4663440" cy="1371600"/>
          </a:xfrm>
          <a:prstGeom prst="rect">
            <a:avLst/>
          </a:prstGeom>
          <a:noFill/>
        </p:spPr>
        <p:txBody>
          <a:bodyPr wrap="square" lIns="0" rIns="0" tIns="0" bIns="0" anchor="t">
            <a:spAutoFit/>
          </a:bodyPr>
          <a:lstStyle/>
          <a:p>
            <a:pPr algn="l"/>
            <a:r>
              <a:rPr sz="2000" b="0">
                <a:solidFill>
                  <a:srgbClr val="4A4F57"/>
                </a:solidFill>
                <a:latin typeface="Arial"/>
              </a:rPr>
              <a:t>de las veces, un juez prefiere el paper humano frente a los ~1,000 papers de Project APE</a:t>
            </a:r>
          </a:p>
        </p:txBody>
      </p:sp>
      <p:sp>
        <p:nvSpPr>
          <p:cNvPr id="15" name="TextBox 14"/>
          <p:cNvSpPr txBox="1"/>
          <p:nvPr/>
        </p:nvSpPr>
        <p:spPr>
          <a:xfrm>
            <a:off x="12024360" y="6507480"/>
            <a:ext cx="4663440" cy="411480"/>
          </a:xfrm>
          <a:prstGeom prst="rect">
            <a:avLst/>
          </a:prstGeom>
          <a:noFill/>
        </p:spPr>
        <p:txBody>
          <a:bodyPr wrap="square" lIns="0" rIns="0" tIns="0" bIns="0" anchor="t">
            <a:spAutoFit/>
          </a:bodyPr>
          <a:lstStyle/>
          <a:p>
            <a:pPr algn="l"/>
            <a:r>
              <a:rPr sz="1500" b="1">
                <a:solidFill>
                  <a:srgbClr val="757070"/>
                </a:solidFill>
                <a:latin typeface="Arial"/>
              </a:rPr>
              <a:t>Project APE · Universidad de Zurich</a:t>
            </a:r>
          </a:p>
        </p:txBody>
      </p:sp>
      <p:sp>
        <p:nvSpPr>
          <p:cNvPr id="16" name="TextBox 15"/>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51 · IA para la investigación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Demo: deep research sobre exoesqueletos, hecho solo con archivos de texto</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500" b="0">
                <a:solidFill>
                  <a:srgbClr val="DFE6EE"/>
                </a:solidFill>
                <a:latin typeface="Courier New"/>
              </a:rPr>
              <a:t>exo-deep-research/</a:t>
            </a:r>
          </a:p>
          <a:p>
            <a:pPr algn="l">
              <a:lnSpc>
                <a:spcPct val="105000"/>
              </a:lnSpc>
            </a:pPr>
            <a:r>
              <a:rPr sz="1500" b="0">
                <a:solidFill>
                  <a:srgbClr val="8A96A8"/>
                </a:solidFill>
                <a:latin typeface="Courier New"/>
              </a:rPr>
              <a:t>├── </a:t>
            </a:r>
            <a:r>
              <a:rPr sz="1500" b="0">
                <a:solidFill>
                  <a:srgbClr val="F2A541"/>
                </a:solidFill>
                <a:latin typeface="Courier New"/>
              </a:rPr>
              <a:t>CLAUDE.md</a:t>
            </a:r>
            <a:r>
              <a:rPr sz="1500" b="0">
                <a:solidFill>
                  <a:srgbClr val="8A96A8"/>
                </a:solidFill>
                <a:latin typeface="Courier New"/>
              </a:rPr>
              <a:t>                    reglas del grupo</a:t>
            </a:r>
          </a:p>
          <a:p>
            <a:pPr algn="l">
              <a:lnSpc>
                <a:spcPct val="105000"/>
              </a:lnSpc>
            </a:pPr>
            <a:r>
              <a:rPr sz="1500" b="0">
                <a:solidFill>
                  <a:srgbClr val="8A96A8"/>
                </a:solidFill>
                <a:latin typeface="Courier New"/>
              </a:rPr>
              <a:t>├── </a:t>
            </a:r>
            <a:r>
              <a:rPr sz="1500" b="0">
                <a:solidFill>
                  <a:srgbClr val="F2A541"/>
                </a:solidFill>
                <a:latin typeface="Courier New"/>
              </a:rPr>
              <a:t>rubrica.md</a:t>
            </a:r>
            <a:r>
              <a:rPr sz="1500" b="0">
                <a:solidFill>
                  <a:srgbClr val="8A96A8"/>
                </a:solidFill>
                <a:latin typeface="Courier New"/>
              </a:rPr>
              <a:t>                   los criterios del juez</a:t>
            </a:r>
          </a:p>
          <a:p>
            <a:pPr algn="l">
              <a:lnSpc>
                <a:spcPct val="105000"/>
              </a:lnSpc>
            </a:pPr>
            <a:r>
              <a:rPr sz="1500" b="0">
                <a:solidFill>
                  <a:srgbClr val="8A96A8"/>
                </a:solidFill>
                <a:latin typeface="Courier New"/>
              </a:rPr>
              <a:t>└── </a:t>
            </a:r>
            <a:r>
              <a:rPr sz="1500" b="0">
                <a:solidFill>
                  <a:srgbClr val="DFE6EE"/>
                </a:solidFill>
                <a:latin typeface="Courier New"/>
              </a:rPr>
              <a:t>.claude/</a:t>
            </a:r>
          </a:p>
          <a:p>
            <a:pPr algn="l">
              <a:lnSpc>
                <a:spcPct val="105000"/>
              </a:lnSpc>
            </a:pPr>
            <a:r>
              <a:rPr sz="1500" b="0">
                <a:solidFill>
                  <a:srgbClr val="8A96A8"/>
                </a:solidFill>
                <a:latin typeface="Courier New"/>
              </a:rPr>
              <a:t>    ├── </a:t>
            </a:r>
            <a:r>
              <a:rPr sz="1500" b="0">
                <a:solidFill>
                  <a:srgbClr val="F2A541"/>
                </a:solidFill>
                <a:latin typeface="Courier New"/>
              </a:rPr>
              <a:t>skills/investigar/SKILL.md</a:t>
            </a:r>
            <a:r>
              <a:rPr sz="1500" b="0">
                <a:solidFill>
                  <a:srgbClr val="8A96A8"/>
                </a:solidFill>
                <a:latin typeface="Courier New"/>
              </a:rPr>
              <a:t>   el agente líder</a:t>
            </a:r>
          </a:p>
          <a:p>
            <a:pPr algn="l">
              <a:lnSpc>
                <a:spcPct val="105000"/>
              </a:lnSpc>
            </a:pPr>
            <a:r>
              <a:rPr sz="1500" b="0">
                <a:solidFill>
                  <a:srgbClr val="8A96A8"/>
                </a:solidFill>
                <a:latin typeface="Courier New"/>
              </a:rPr>
              <a:t>    └── </a:t>
            </a:r>
            <a:r>
              <a:rPr sz="1500" b="0">
                <a:solidFill>
                  <a:srgbClr val="DFE6EE"/>
                </a:solidFill>
                <a:latin typeface="Courier New"/>
              </a:rPr>
              <a:t>agents/</a:t>
            </a:r>
          </a:p>
          <a:p>
            <a:pPr algn="l">
              <a:lnSpc>
                <a:spcPct val="105000"/>
              </a:lnSpc>
            </a:pPr>
            <a:r>
              <a:rPr sz="1500" b="0">
                <a:solidFill>
                  <a:srgbClr val="8A96A8"/>
                </a:solidFill>
                <a:latin typeface="Courier New"/>
              </a:rPr>
              <a:t>        ├── </a:t>
            </a:r>
            <a:r>
              <a:rPr sz="1500" b="0">
                <a:solidFill>
                  <a:srgbClr val="DFE6EE"/>
                </a:solidFill>
                <a:latin typeface="Courier New"/>
              </a:rPr>
              <a:t>investigador.md</a:t>
            </a:r>
            <a:r>
              <a:rPr sz="1500" b="0">
                <a:solidFill>
                  <a:srgbClr val="8A96A8"/>
                </a:solidFill>
                <a:latin typeface="Courier New"/>
              </a:rPr>
              <a:t>       busca una subpregunta</a:t>
            </a:r>
          </a:p>
          <a:p>
            <a:pPr algn="l">
              <a:lnSpc>
                <a:spcPct val="105000"/>
              </a:lnSpc>
            </a:pPr>
            <a:r>
              <a:rPr sz="1500" b="0">
                <a:solidFill>
                  <a:srgbClr val="8A96A8"/>
                </a:solidFill>
                <a:latin typeface="Courier New"/>
              </a:rPr>
              <a:t>        ├── </a:t>
            </a:r>
            <a:r>
              <a:rPr sz="1500" b="0">
                <a:solidFill>
                  <a:srgbClr val="DFE6EE"/>
                </a:solidFill>
                <a:latin typeface="Courier New"/>
              </a:rPr>
              <a:t>verificador-citas.md</a:t>
            </a:r>
            <a:r>
              <a:rPr sz="1500" b="0">
                <a:solidFill>
                  <a:srgbClr val="8A96A8"/>
                </a:solidFill>
                <a:latin typeface="Courier New"/>
              </a:rPr>
              <a:t>  abre cada fuente</a:t>
            </a:r>
          </a:p>
          <a:p>
            <a:pPr algn="l">
              <a:lnSpc>
                <a:spcPct val="105000"/>
              </a:lnSpc>
            </a:pPr>
            <a:r>
              <a:rPr sz="1500" b="0">
                <a:solidFill>
                  <a:srgbClr val="8A96A8"/>
                </a:solidFill>
                <a:latin typeface="Courier New"/>
              </a:rPr>
              <a:t>        └── </a:t>
            </a:r>
            <a:r>
              <a:rPr sz="1500" b="0">
                <a:solidFill>
                  <a:srgbClr val="DFE6EE"/>
                </a:solidFill>
                <a:latin typeface="Courier New"/>
              </a:rPr>
              <a:t>juez.md</a:t>
            </a:r>
            <a:r>
              <a:rPr sz="1500" b="0">
                <a:solidFill>
                  <a:srgbClr val="8A96A8"/>
                </a:solidFill>
                <a:latin typeface="Courier New"/>
              </a:rPr>
              <a:t>               califica con la rúbrica</a:t>
            </a:r>
          </a:p>
          <a:p>
            <a:pPr algn="l">
              <a:lnSpc>
                <a:spcPct val="105000"/>
              </a:lnSpc>
            </a:pPr>
            <a:r>
              <a:rPr sz="1500" b="0">
                <a:solidFill>
                  <a:srgbClr val="DFE6EE"/>
                </a:solidFill>
                <a:latin typeface="Courier New"/>
              </a:rPr>
              <a:t> </a:t>
            </a:r>
          </a:p>
          <a:p>
            <a:pPr algn="l">
              <a:lnSpc>
                <a:spcPct val="105000"/>
              </a:lnSpc>
            </a:pPr>
            <a:r>
              <a:rPr sz="1500" b="0">
                <a:solidFill>
                  <a:srgbClr val="8A96A8"/>
                </a:solidFill>
                <a:latin typeface="Courier New"/>
              </a:rPr>
              <a:t>&gt; </a:t>
            </a:r>
            <a:r>
              <a:rPr sz="1500" b="0">
                <a:solidFill>
                  <a:srgbClr val="5FA8D3"/>
                </a:solidFill>
                <a:latin typeface="Courier New"/>
              </a:rPr>
              <a:t>/investigar ¿Qué controles de exoesqueletos de tobillo reducen</a:t>
            </a:r>
          </a:p>
          <a:p>
            <a:pPr algn="l">
              <a:lnSpc>
                <a:spcPct val="105000"/>
              </a:lnSpc>
            </a:pPr>
            <a:r>
              <a:rPr sz="1500" b="0">
                <a:solidFill>
                  <a:srgbClr val="8A96A8"/>
                </a:solidFill>
                <a:latin typeface="Courier New"/>
              </a:rPr>
              <a:t>  </a:t>
            </a:r>
            <a:r>
              <a:rPr sz="1500" b="0">
                <a:solidFill>
                  <a:srgbClr val="5FA8D3"/>
                </a:solidFill>
                <a:latin typeface="Courier New"/>
              </a:rPr>
              <a:t>el costo metabólico al caminar, y con qué evidencia?</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Sin código</a:t>
            </a:r>
          </a:p>
          <a:p>
            <a:pPr algn="l">
              <a:spcAft>
                <a:spcPts val="600"/>
              </a:spcAft>
            </a:pPr>
            <a:r>
              <a:rPr sz="1800" b="0">
                <a:solidFill>
                  <a:srgbClr val="4A4F57"/>
                </a:solidFill>
                <a:latin typeface="Arial"/>
              </a:rPr>
              <a:t>seis archivos .md y un settings.json</a:t>
            </a:r>
          </a:p>
          <a:p>
            <a:pPr algn="l">
              <a:spcAft>
                <a:spcPts val="600"/>
              </a:spcAft>
            </a:pPr>
            <a:r>
              <a:rPr sz="2100" b="1">
                <a:solidFill>
                  <a:srgbClr val="A8600A"/>
                </a:solidFill>
                <a:latin typeface="Arial"/>
              </a:rPr>
              <a:t>Copia en pequeño</a:t>
            </a:r>
          </a:p>
          <a:p>
            <a:pPr algn="l">
              <a:spcAft>
                <a:spcPts val="600"/>
              </a:spcAft>
            </a:pPr>
            <a:r>
              <a:rPr sz="1800" b="0">
                <a:solidFill>
                  <a:srgbClr val="4A4F57"/>
                </a:solidFill>
                <a:latin typeface="Arial"/>
              </a:rPr>
              <a:t>de la arquitectura de la diapositiva 31</a:t>
            </a:r>
          </a:p>
          <a:p>
            <a:pPr algn="l">
              <a:spcAft>
                <a:spcPts val="600"/>
              </a:spcAft>
            </a:pPr>
            <a:r>
              <a:rPr sz="2100" b="1">
                <a:solidFill>
                  <a:srgbClr val="A8600A"/>
                </a:solidFill>
                <a:latin typeface="Arial"/>
              </a:rPr>
              <a:t>Antes de confiar</a:t>
            </a:r>
          </a:p>
          <a:p>
            <a:pPr algn="l">
              <a:spcAft>
                <a:spcPts val="600"/>
              </a:spcAft>
            </a:pPr>
            <a:r>
              <a:rPr sz="1800" b="0">
                <a:solidFill>
                  <a:srgbClr val="4A4F57"/>
                </a:solidFill>
                <a:latin typeface="Arial"/>
              </a:rPr>
              <a:t>corre 10 preguntas de prueba y audita al juez</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52 · github.com/jdmartinev/ai-for-research · demo-exo-deep-research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5 · LÍMITES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Hasta el juez necesita un juez: hay que medirlo contra expertos</a:t>
            </a:r>
          </a:p>
        </p:txBody>
      </p:sp>
      <p:sp>
        <p:nvSpPr>
          <p:cNvPr id="4" name="TextBox 3"/>
          <p:cNvSpPr txBox="1"/>
          <p:nvPr/>
        </p:nvSpPr>
        <p:spPr>
          <a:xfrm>
            <a:off x="1600200" y="3611880"/>
            <a:ext cx="15087600" cy="457200"/>
          </a:xfrm>
          <a:prstGeom prst="rect">
            <a:avLst/>
          </a:prstGeom>
          <a:noFill/>
        </p:spPr>
        <p:txBody>
          <a:bodyPr wrap="square" lIns="0" rIns="0" tIns="0" bIns="0" anchor="t">
            <a:spAutoFit/>
          </a:bodyPr>
          <a:lstStyle/>
          <a:p>
            <a:pPr algn="l"/>
            <a:r>
              <a:rPr sz="2200" b="1">
                <a:solidFill>
                  <a:srgbClr val="4A4F57"/>
                </a:solidFill>
                <a:latin typeface="Arial"/>
              </a:rPr>
              <a:t>¿Con qué frecuencia cada juez coincide con la respuesta que prefieren los expertos?</a:t>
            </a:r>
          </a:p>
        </p:txBody>
      </p:sp>
      <p:cxnSp>
        <p:nvCxnSpPr>
          <p:cNvPr id="5" name="Connector 4"/>
          <p:cNvCxnSpPr/>
          <p:nvPr/>
        </p:nvCxnSpPr>
        <p:spPr>
          <a:xfrm>
            <a:off x="1600200" y="425196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600200" y="4480560"/>
            <a:ext cx="4663440" cy="1066800"/>
          </a:xfrm>
          <a:prstGeom prst="rect">
            <a:avLst/>
          </a:prstGeom>
          <a:noFill/>
        </p:spPr>
        <p:txBody>
          <a:bodyPr wrap="square" lIns="0" rIns="0" tIns="0" bIns="0" anchor="t">
            <a:spAutoFit/>
          </a:bodyPr>
          <a:lstStyle/>
          <a:p>
            <a:pPr algn="l">
              <a:lnSpc>
                <a:spcPct val="90000"/>
              </a:lnSpc>
            </a:pPr>
            <a:r>
              <a:rPr sz="8000" b="1">
                <a:solidFill>
                  <a:srgbClr val="757070"/>
                </a:solidFill>
                <a:latin typeface="Arial"/>
              </a:rPr>
              <a:t>58%</a:t>
            </a:r>
          </a:p>
        </p:txBody>
      </p:sp>
      <p:sp>
        <p:nvSpPr>
          <p:cNvPr id="7" name="TextBox 6"/>
          <p:cNvSpPr txBox="1"/>
          <p:nvPr/>
        </p:nvSpPr>
        <p:spPr>
          <a:xfrm>
            <a:off x="1600200" y="5638800"/>
            <a:ext cx="4663440" cy="1371600"/>
          </a:xfrm>
          <a:prstGeom prst="rect">
            <a:avLst/>
          </a:prstGeom>
          <a:noFill/>
        </p:spPr>
        <p:txBody>
          <a:bodyPr wrap="square" lIns="0" rIns="0" tIns="0" bIns="0" anchor="t">
            <a:spAutoFit/>
          </a:bodyPr>
          <a:lstStyle/>
          <a:p>
            <a:pPr algn="l"/>
            <a:r>
              <a:rPr sz="2000" b="0">
                <a:solidFill>
                  <a:srgbClr val="4A4F57"/>
                </a:solidFill>
                <a:latin typeface="Arial"/>
              </a:rPr>
              <a:t>Una métrica de similitud (ROUGE). El azar da 50%.</a:t>
            </a:r>
          </a:p>
        </p:txBody>
      </p:sp>
      <p:cxnSp>
        <p:nvCxnSpPr>
          <p:cNvPr id="8" name="Connector 7"/>
          <p:cNvCxnSpPr/>
          <p:nvPr/>
        </p:nvCxnSpPr>
        <p:spPr>
          <a:xfrm>
            <a:off x="6812280" y="4251960"/>
            <a:ext cx="466344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12280" y="4480560"/>
            <a:ext cx="4663440" cy="1066800"/>
          </a:xfrm>
          <a:prstGeom prst="rect">
            <a:avLst/>
          </a:prstGeom>
          <a:noFill/>
        </p:spPr>
        <p:txBody>
          <a:bodyPr wrap="square" lIns="0" rIns="0" tIns="0" bIns="0" anchor="t">
            <a:spAutoFit/>
          </a:bodyPr>
          <a:lstStyle/>
          <a:p>
            <a:pPr algn="l">
              <a:lnSpc>
                <a:spcPct val="90000"/>
              </a:lnSpc>
            </a:pPr>
            <a:r>
              <a:rPr sz="8000" b="1">
                <a:solidFill>
                  <a:srgbClr val="A8600A"/>
                </a:solidFill>
                <a:latin typeface="Arial"/>
              </a:rPr>
              <a:t>74%</a:t>
            </a:r>
          </a:p>
        </p:txBody>
      </p:sp>
      <p:sp>
        <p:nvSpPr>
          <p:cNvPr id="10" name="TextBox 9"/>
          <p:cNvSpPr txBox="1"/>
          <p:nvPr/>
        </p:nvSpPr>
        <p:spPr>
          <a:xfrm>
            <a:off x="6812280" y="5638800"/>
            <a:ext cx="4663440" cy="1371600"/>
          </a:xfrm>
          <a:prstGeom prst="rect">
            <a:avLst/>
          </a:prstGeom>
          <a:noFill/>
        </p:spPr>
        <p:txBody>
          <a:bodyPr wrap="square" lIns="0" rIns="0" tIns="0" bIns="0" anchor="t">
            <a:spAutoFit/>
          </a:bodyPr>
          <a:lstStyle/>
          <a:p>
            <a:pPr algn="l"/>
            <a:r>
              <a:rPr sz="2000" b="0">
                <a:solidFill>
                  <a:srgbClr val="4A4F57"/>
                </a:solidFill>
                <a:latin typeface="Arial"/>
              </a:rPr>
              <a:t>Un LLM como juez, guiado por rúbricas.</a:t>
            </a:r>
          </a:p>
        </p:txBody>
      </p:sp>
      <p:cxnSp>
        <p:nvCxnSpPr>
          <p:cNvPr id="11" name="Connector 10"/>
          <p:cNvCxnSpPr/>
          <p:nvPr/>
        </p:nvCxnSpPr>
        <p:spPr>
          <a:xfrm>
            <a:off x="12024360" y="425196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2024360" y="4480560"/>
            <a:ext cx="4663440" cy="1066800"/>
          </a:xfrm>
          <a:prstGeom prst="rect">
            <a:avLst/>
          </a:prstGeom>
          <a:noFill/>
        </p:spPr>
        <p:txBody>
          <a:bodyPr wrap="square" lIns="0" rIns="0" tIns="0" bIns="0" anchor="t">
            <a:spAutoFit/>
          </a:bodyPr>
          <a:lstStyle/>
          <a:p>
            <a:pPr algn="l">
              <a:lnSpc>
                <a:spcPct val="90000"/>
              </a:lnSpc>
            </a:pPr>
            <a:r>
              <a:rPr sz="8000" b="1">
                <a:solidFill>
                  <a:srgbClr val="073763"/>
                </a:solidFill>
                <a:latin typeface="Arial"/>
              </a:rPr>
              <a:t>84%</a:t>
            </a:r>
          </a:p>
        </p:txBody>
      </p:sp>
      <p:sp>
        <p:nvSpPr>
          <p:cNvPr id="13" name="TextBox 12"/>
          <p:cNvSpPr txBox="1"/>
          <p:nvPr/>
        </p:nvSpPr>
        <p:spPr>
          <a:xfrm>
            <a:off x="12024360" y="5638800"/>
            <a:ext cx="4663440" cy="1371600"/>
          </a:xfrm>
          <a:prstGeom prst="rect">
            <a:avLst/>
          </a:prstGeom>
          <a:noFill/>
        </p:spPr>
        <p:txBody>
          <a:bodyPr wrap="square" lIns="0" rIns="0" tIns="0" bIns="0" anchor="t">
            <a:spAutoFit/>
          </a:bodyPr>
          <a:lstStyle/>
          <a:p>
            <a:pPr algn="l"/>
            <a:r>
              <a:rPr sz="2000" b="0">
                <a:solidFill>
                  <a:srgbClr val="4A4F57"/>
                </a:solidFill>
                <a:latin typeface="Arial"/>
              </a:rPr>
              <a:t>Dos expertos entre sí: el techo realista.</a:t>
            </a:r>
          </a:p>
        </p:txBody>
      </p:sp>
      <p:sp>
        <p:nvSpPr>
          <p:cNvPr id="14" name="Rounded Rectangle 13"/>
          <p:cNvSpPr/>
          <p:nvPr/>
        </p:nvSpPr>
        <p:spPr>
          <a:xfrm>
            <a:off x="1600200" y="7223760"/>
            <a:ext cx="11887200" cy="868680"/>
          </a:xfrm>
          <a:prstGeom prst="roundRect">
            <a:avLst>
              <a:gd name="adj" fmla="val 10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874519" y="7223760"/>
            <a:ext cx="11338560" cy="868680"/>
          </a:xfrm>
          <a:prstGeom prst="rect">
            <a:avLst/>
          </a:prstGeom>
          <a:noFill/>
        </p:spPr>
        <p:txBody>
          <a:bodyPr wrap="square" lIns="0" rIns="0" tIns="0" bIns="0" anchor="ctr">
            <a:spAutoFit/>
          </a:bodyPr>
          <a:lstStyle/>
          <a:p>
            <a:pPr algn="l"/>
            <a:r>
              <a:rPr sz="1800" b="0">
                <a:solidFill>
                  <a:srgbClr val="8A3B26"/>
                </a:solidFill>
                <a:latin typeface="Arial"/>
              </a:rPr>
              <a:t>Y la rúbrica también falla: el 11% de los criterios generados por un modelo, sin fuentes, eran vacíos, erróneos o poco claros. Audita al juez antes de confiar en él.</a:t>
            </a:r>
          </a:p>
        </p:txBody>
      </p:sp>
      <p:sp>
        <p:nvSpPr>
          <p:cNvPr id="16" name="TextBox 15"/>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53 · Xu et al. (ACL 2023) · Li et al. (TACL 2026), ResearchQA · vía Asai (2026), CMU 11-768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5 · LÍMITES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Todos los ciclos fallan igual: con un juez débil o fácil de engañar</a:t>
            </a:r>
          </a:p>
        </p:txBody>
      </p:sp>
      <p:sp>
        <p:nvSpPr>
          <p:cNvPr id="4" name="Rounded Rectangle 3"/>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Cómo se rompe</a:t>
            </a:r>
          </a:p>
          <a:p>
            <a:pPr algn="l">
              <a:spcAft>
                <a:spcPts val="800"/>
              </a:spcAft>
            </a:pPr>
            <a:r>
              <a:rPr sz="2100" b="0">
                <a:solidFill>
                  <a:srgbClr val="4A4F57"/>
                </a:solidFill>
                <a:latin typeface="Arial"/>
              </a:rPr>
              <a:t>•  Sin juez: citas inventadas</a:t>
            </a:r>
          </a:p>
          <a:p>
            <a:pPr algn="l">
              <a:spcAft>
                <a:spcPts val="800"/>
              </a:spcAft>
            </a:pPr>
            <a:r>
              <a:rPr sz="2100" b="0">
                <a:solidFill>
                  <a:srgbClr val="4A4F57"/>
                </a:solidFill>
                <a:latin typeface="Arial"/>
              </a:rPr>
              <a:t>•  Juez engañado: reward hacking</a:t>
            </a:r>
          </a:p>
          <a:p>
            <a:pPr algn="l">
              <a:spcAft>
                <a:spcPts val="800"/>
              </a:spcAft>
            </a:pPr>
            <a:r>
              <a:rPr sz="2100" b="0">
                <a:solidFill>
                  <a:srgbClr val="4A4F57"/>
                </a:solidFill>
                <a:latin typeface="Arial"/>
              </a:rPr>
              <a:t>•  Juez con fuga: datos de prueba en el entrenamiento</a:t>
            </a:r>
          </a:p>
          <a:p>
            <a:pPr algn="l">
              <a:spcAft>
                <a:spcPts val="800"/>
              </a:spcAft>
            </a:pPr>
            <a:r>
              <a:rPr sz="2100" b="0">
                <a:solidFill>
                  <a:srgbClr val="4A4F57"/>
                </a:solidFill>
                <a:latin typeface="Arial"/>
              </a:rPr>
              <a:t>•  Entrada envenenada: prompt injection</a:t>
            </a:r>
          </a:p>
        </p:txBody>
      </p:sp>
      <p:sp>
        <p:nvSpPr>
          <p:cNvPr id="6" name="Rounded Rectangle 5"/>
          <p:cNvSpPr/>
          <p:nvPr/>
        </p:nvSpPr>
        <p:spPr>
          <a:xfrm>
            <a:off x="9326880" y="3886200"/>
            <a:ext cx="7360920" cy="356616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Cuatro checks que ayudan</a:t>
            </a:r>
          </a:p>
          <a:p>
            <a:pPr algn="l">
              <a:spcAft>
                <a:spcPts val="800"/>
              </a:spcAft>
            </a:pPr>
            <a:r>
              <a:rPr sz="2100" b="0">
                <a:solidFill>
                  <a:srgbClr val="4A4F57"/>
                </a:solidFill>
                <a:latin typeface="Arial"/>
              </a:rPr>
              <a:t>•  Un agente nuevo ataca los cambios</a:t>
            </a:r>
          </a:p>
          <a:p>
            <a:pPr algn="l">
              <a:spcAft>
                <a:spcPts val="800"/>
              </a:spcAft>
            </a:pPr>
            <a:r>
              <a:rPr sz="2100" b="0">
                <a:solidFill>
                  <a:srgbClr val="4A4F57"/>
                </a:solidFill>
                <a:latin typeface="Arial"/>
              </a:rPr>
              <a:t>•  Un modelo de otro laboratorio lo revisa</a:t>
            </a:r>
          </a:p>
          <a:p>
            <a:pPr algn="l">
              <a:spcAft>
                <a:spcPts val="800"/>
              </a:spcAft>
            </a:pPr>
            <a:r>
              <a:rPr sz="2100" b="0">
                <a:solidFill>
                  <a:srgbClr val="4A4F57"/>
                </a:solidFill>
                <a:latin typeface="Arial"/>
              </a:rPr>
              <a:t>•  El agente te hace preguntas sobre el cambio</a:t>
            </a:r>
          </a:p>
          <a:p>
            <a:pPr algn="l">
              <a:spcAft>
                <a:spcPts val="800"/>
              </a:spcAft>
            </a:pPr>
            <a:r>
              <a:rPr sz="2100" b="0">
                <a:solidFill>
                  <a:srgbClr val="4A4F57"/>
                </a:solidFill>
                <a:latin typeface="Arial"/>
              </a:rPr>
              <a:t>•  Tú reimplementas el resultado principal</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54 · Checks adaptados de Bäckman (2026) · Asai et al. (2026), OpenScholar, Nature · Dell'Acqua et al. (2026), Organization Science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563624" y="2788920"/>
            <a:ext cx="9144000" cy="365760"/>
          </a:xfrm>
          <a:prstGeom prst="rect">
            <a:avLst/>
          </a:prstGeom>
          <a:noFill/>
        </p:spPr>
        <p:txBody>
          <a:bodyPr wrap="square" lIns="0" rIns="0" tIns="0" bIns="0" anchor="t">
            <a:spAutoFit/>
          </a:bodyPr>
          <a:lstStyle/>
          <a:p>
            <a:pPr algn="l"/>
            <a:r>
              <a:rPr sz="1500" b="1">
                <a:solidFill>
                  <a:srgbClr val="CADCFC"/>
                </a:solidFill>
                <a:latin typeface="Arial"/>
              </a:rPr>
              <a:t>PARTE 5 · EL LUNES EN TU LABORATORIO</a:t>
            </a:r>
          </a:p>
        </p:txBody>
      </p:sp>
      <p:sp>
        <p:nvSpPr>
          <p:cNvPr id="3" name="TextBox 2"/>
          <p:cNvSpPr txBox="1"/>
          <p:nvPr/>
        </p:nvSpPr>
        <p:spPr>
          <a:xfrm>
            <a:off x="1563624" y="3291840"/>
            <a:ext cx="11155680" cy="2103120"/>
          </a:xfrm>
          <a:prstGeom prst="rect">
            <a:avLst/>
          </a:prstGeom>
          <a:noFill/>
        </p:spPr>
        <p:txBody>
          <a:bodyPr wrap="square" lIns="0" rIns="0" tIns="0" bIns="0" anchor="t">
            <a:spAutoFit/>
          </a:bodyPr>
          <a:lstStyle/>
          <a:p>
            <a:pPr algn="l">
              <a:lnSpc>
                <a:spcPct val="95000"/>
              </a:lnSpc>
            </a:pPr>
            <a:r>
              <a:rPr sz="5200" b="1">
                <a:solidFill>
                  <a:srgbClr val="FFFFFF"/>
                </a:solidFill>
                <a:latin typeface="Arial"/>
              </a:rPr>
              <a:t>El modelo corre el ciclo. Tú decides qué cuenta como mejor.</a:t>
            </a:r>
          </a:p>
        </p:txBody>
      </p:sp>
      <p:cxnSp>
        <p:nvCxnSpPr>
          <p:cNvPr id="4" name="Connector 3"/>
          <p:cNvCxnSpPr/>
          <p:nvPr/>
        </p:nvCxnSpPr>
        <p:spPr>
          <a:xfrm>
            <a:off x="156362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563624" y="5532120"/>
            <a:ext cx="4480560" cy="1371600"/>
          </a:xfrm>
          <a:prstGeom prst="rect">
            <a:avLst/>
          </a:prstGeom>
          <a:noFill/>
        </p:spPr>
        <p:txBody>
          <a:bodyPr wrap="square" lIns="0" rIns="0" tIns="0" bIns="0" anchor="t">
            <a:spAutoFit/>
          </a:bodyPr>
          <a:lstStyle/>
          <a:p>
            <a:pPr algn="l">
              <a:spcAft>
                <a:spcPts val="600"/>
              </a:spcAft>
            </a:pPr>
            <a:r>
              <a:rPr sz="2500" b="1">
                <a:solidFill>
                  <a:srgbClr val="F2A541"/>
                </a:solidFill>
                <a:latin typeface="Arial"/>
              </a:rPr>
              <a:t>1 · Contexto</a:t>
            </a:r>
          </a:p>
          <a:p>
            <a:pPr algn="l">
              <a:spcAft>
                <a:spcPts val="600"/>
              </a:spcAft>
            </a:pPr>
            <a:r>
              <a:rPr sz="2000" b="0">
                <a:solidFill>
                  <a:srgbClr val="FFFFFF"/>
                </a:solidFill>
                <a:latin typeface="Arial"/>
              </a:rPr>
              <a:t>Un CLAUDE.md con tu campo y tus reglas, y tus propios papers como contexto</a:t>
            </a:r>
          </a:p>
        </p:txBody>
      </p:sp>
      <p:cxnSp>
        <p:nvCxnSpPr>
          <p:cNvPr id="6" name="Connector 5"/>
          <p:cNvCxnSpPr/>
          <p:nvPr/>
        </p:nvCxnSpPr>
        <p:spPr>
          <a:xfrm>
            <a:off x="640994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9944" y="5532120"/>
            <a:ext cx="4480560" cy="1371600"/>
          </a:xfrm>
          <a:prstGeom prst="rect">
            <a:avLst/>
          </a:prstGeom>
          <a:noFill/>
        </p:spPr>
        <p:txBody>
          <a:bodyPr wrap="square" lIns="0" rIns="0" tIns="0" bIns="0" anchor="t">
            <a:spAutoFit/>
          </a:bodyPr>
          <a:lstStyle/>
          <a:p>
            <a:pPr algn="l">
              <a:spcAft>
                <a:spcPts val="600"/>
              </a:spcAft>
            </a:pPr>
            <a:r>
              <a:rPr sz="2500" b="1">
                <a:solidFill>
                  <a:srgbClr val="F2A541"/>
                </a:solidFill>
                <a:latin typeface="Arial"/>
              </a:rPr>
              <a:t>2 · Skills</a:t>
            </a:r>
          </a:p>
          <a:p>
            <a:pPr algn="l">
              <a:spcAft>
                <a:spcPts val="600"/>
              </a:spcAft>
            </a:pPr>
            <a:r>
              <a:rPr sz="2000" b="0">
                <a:solidFill>
                  <a:srgbClr val="FFFFFF"/>
                </a:solidFill>
                <a:latin typeface="Arial"/>
              </a:rPr>
              <a:t>Empaqueta lo que repites; empieza por /review-paper sobre tu próximo borrador</a:t>
            </a:r>
          </a:p>
        </p:txBody>
      </p:sp>
      <p:cxnSp>
        <p:nvCxnSpPr>
          <p:cNvPr id="8" name="Connector 7"/>
          <p:cNvCxnSpPr/>
          <p:nvPr/>
        </p:nvCxnSpPr>
        <p:spPr>
          <a:xfrm>
            <a:off x="1125626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56264" y="5532120"/>
            <a:ext cx="4480560" cy="1371600"/>
          </a:xfrm>
          <a:prstGeom prst="rect">
            <a:avLst/>
          </a:prstGeom>
          <a:noFill/>
        </p:spPr>
        <p:txBody>
          <a:bodyPr wrap="square" lIns="0" rIns="0" tIns="0" bIns="0" anchor="t">
            <a:spAutoFit/>
          </a:bodyPr>
          <a:lstStyle/>
          <a:p>
            <a:pPr algn="l">
              <a:spcAft>
                <a:spcPts val="600"/>
              </a:spcAft>
            </a:pPr>
            <a:r>
              <a:rPr sz="2500" b="1">
                <a:solidFill>
                  <a:srgbClr val="F2A541"/>
                </a:solidFill>
                <a:latin typeface="Arial"/>
              </a:rPr>
              <a:t>3 · Ciclos</a:t>
            </a:r>
          </a:p>
          <a:p>
            <a:pPr algn="l">
              <a:spcAft>
                <a:spcPts val="600"/>
              </a:spcAft>
            </a:pPr>
            <a:r>
              <a:rPr sz="2000" b="0">
                <a:solidFill>
                  <a:srgbClr val="FFFFFF"/>
                </a:solidFill>
                <a:latin typeface="Arial"/>
              </a:rPr>
              <a:t>Ciclos autónomos solo donde tengas una métrica barata y honesta</a:t>
            </a:r>
          </a:p>
        </p:txBody>
      </p:sp>
      <p:sp>
        <p:nvSpPr>
          <p:cNvPr id="10" name="TextBox 9"/>
          <p:cNvSpPr txBox="1"/>
          <p:nvPr/>
        </p:nvSpPr>
        <p:spPr>
          <a:xfrm>
            <a:off x="1563624" y="7205472"/>
            <a:ext cx="10972800" cy="365760"/>
          </a:xfrm>
          <a:prstGeom prst="rect">
            <a:avLst/>
          </a:prstGeom>
          <a:noFill/>
        </p:spPr>
        <p:txBody>
          <a:bodyPr wrap="square" lIns="0" rIns="0" tIns="0" bIns="0" anchor="t">
            <a:spAutoFit/>
          </a:bodyPr>
          <a:lstStyle/>
          <a:p>
            <a:pPr algn="l"/>
            <a:r>
              <a:rPr sz="1600" b="0">
                <a:solidFill>
                  <a:srgbClr val="CADCFC"/>
                </a:solidFill>
                <a:latin typeface="Arial"/>
              </a:rPr>
              <a:t>55 · Gracias · Diapositivas, fuentes y demo: github.com/jdmartinev/ai-for-research</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